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8" r:id="rId2"/>
    <p:sldId id="325" r:id="rId3"/>
    <p:sldId id="339" r:id="rId4"/>
    <p:sldId id="307" r:id="rId5"/>
    <p:sldId id="308" r:id="rId6"/>
    <p:sldId id="324" r:id="rId7"/>
    <p:sldId id="338" r:id="rId8"/>
    <p:sldId id="322" r:id="rId9"/>
    <p:sldId id="336" r:id="rId10"/>
    <p:sldId id="309" r:id="rId11"/>
    <p:sldId id="310" r:id="rId12"/>
    <p:sldId id="326" r:id="rId13"/>
    <p:sldId id="340" r:id="rId14"/>
    <p:sldId id="333" r:id="rId15"/>
    <p:sldId id="346" r:id="rId16"/>
    <p:sldId id="329" r:id="rId17"/>
    <p:sldId id="342" r:id="rId18"/>
    <p:sldId id="311" r:id="rId19"/>
    <p:sldId id="312" r:id="rId20"/>
    <p:sldId id="334" r:id="rId21"/>
    <p:sldId id="347" r:id="rId22"/>
    <p:sldId id="313" r:id="rId23"/>
    <p:sldId id="314" r:id="rId24"/>
    <p:sldId id="327" r:id="rId25"/>
    <p:sldId id="343" r:id="rId26"/>
    <p:sldId id="328" r:id="rId27"/>
    <p:sldId id="341" r:id="rId28"/>
    <p:sldId id="315" r:id="rId29"/>
    <p:sldId id="316" r:id="rId30"/>
    <p:sldId id="323" r:id="rId31"/>
    <p:sldId id="337" r:id="rId32"/>
    <p:sldId id="330" r:id="rId33"/>
    <p:sldId id="344" r:id="rId34"/>
    <p:sldId id="331" r:id="rId35"/>
    <p:sldId id="345" r:id="rId36"/>
    <p:sldId id="320" r:id="rId37"/>
    <p:sldId id="321" r:id="rId38"/>
    <p:sldId id="335" r:id="rId39"/>
    <p:sldId id="348" r:id="rId40"/>
    <p:sldId id="317" r:id="rId41"/>
    <p:sldId id="318" r:id="rId42"/>
    <p:sldId id="31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0808"/>
    <a:srgbClr val="181818"/>
    <a:srgbClr val="212121"/>
    <a:srgbClr val="0A0A0A"/>
    <a:srgbClr val="000000"/>
    <a:srgbClr val="D9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A220EE-ED1F-4DBA-98A4-FBE62A725004}">
  <a:tblStyle styleId="{FFA220EE-ED1F-4DBA-98A4-FBE62A725004}" styleName="Hyla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100000"/>
            </a:schemeClr>
          </a:solidFill>
        </a:fill>
      </a:tcStyle>
    </a:wholeTbl>
    <a:band1H>
      <a:tcStyle>
        <a:tcBdr/>
        <a:fill>
          <a:solidFill>
            <a:schemeClr val="accent5">
              <a:tint val="10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6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535" autoAdjust="0"/>
  </p:normalViewPr>
  <p:slideViewPr>
    <p:cSldViewPr showGuides="1">
      <p:cViewPr varScale="1">
        <p:scale>
          <a:sx n="93" d="100"/>
          <a:sy n="93" d="100"/>
        </p:scale>
        <p:origin x="121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4133-B5B0-4351-8158-4F0E5EB1E2B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F7F9-57EC-49CF-9FCD-2B781E4B4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10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E5FA-8BE0-C119-5B4D-9C273710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670C0-B669-51DC-17AF-1D20E4AE0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8332F-61E2-5000-7A2C-E46867008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692A1-CAC7-34B2-DDD6-E1021DB82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95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=“script.js”&gt;&lt;/script&gt;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82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0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A0AA-EC7A-64FF-74CD-BCE8ACC32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56B06-C433-D848-7EF4-11C8C82F9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62A00-B923-3AF6-AD28-02B4B39CC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06A21-63D0-3E62-2C36-938C343CD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4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88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1070-CA8E-9EC8-FC7C-20CEE3CE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9B5D9-62A0-53C4-CCB0-669F1D808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F30CE-CD46-8FE5-8A22-086569A6E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8A749-DDB5-6BB2-C538-FBDFFA71C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30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24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FEEB-8B78-96CF-A36A-076A561C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7DE75-793F-F6D7-413D-1FEC2A46B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F77E1-0449-83C9-DF0D-BCD6DAA18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9A4F2-6FE9-D2A4-53D8-C9A559C66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66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37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A043-752C-34A5-A663-87820B3D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6B60F-F515-7C0D-F3D7-E040B78FB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E6DA7-6F9E-7688-D54E-7352E831A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4EF4B-0FBD-C899-8BC4-9C5CE13BAE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25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30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FEFC9-4489-3455-D2AC-9B67B91E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5F4B1-76E1-860E-F092-227FF9209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A9826-A964-F3B1-A27F-5AE4F3621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5CA5F-060F-6E58-30DD-63660B278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16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‘2018’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8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43CB8-C84B-6DC0-47E1-FE720217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7FF77-B291-B964-D75E-2817A5659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999A1-1436-415B-D46F-B37390284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43938-0F78-E631-C559-714853366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46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Need:</a:t>
            </a:r>
          </a:p>
          <a:p>
            <a:pPr marL="171450" indent="-171450">
              <a:buFontTx/>
              <a:buChar char="-"/>
            </a:pPr>
            <a:r>
              <a:rPr lang="en-US" b="1" baseline="0" dirty="0" err="1"/>
              <a:t>onclick</a:t>
            </a:r>
            <a:r>
              <a:rPr lang="en-US" b="0" baseline="0" dirty="0"/>
              <a:t> attribute name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Equals sign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Double quotes</a:t>
            </a:r>
          </a:p>
          <a:p>
            <a:pPr marL="171450" indent="-171450">
              <a:buFontTx/>
              <a:buChar char="-"/>
            </a:pPr>
            <a:r>
              <a:rPr lang="en-US" b="1" baseline="0" dirty="0" err="1"/>
              <a:t>SendMessage</a:t>
            </a:r>
            <a:r>
              <a:rPr lang="en-US" b="0" baseline="0" dirty="0"/>
              <a:t> function name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Parentheses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End double quotes</a:t>
            </a:r>
          </a:p>
          <a:p>
            <a:pPr marL="171450" indent="-171450">
              <a:buFontTx/>
              <a:buChar char="-"/>
            </a:pPr>
            <a:endParaRPr lang="en-US" b="0" baseline="0" dirty="0"/>
          </a:p>
          <a:p>
            <a:pPr marL="0" indent="0">
              <a:buFontTx/>
              <a:buNone/>
            </a:pPr>
            <a:r>
              <a:rPr lang="en-US" b="0" baseline="0" dirty="0"/>
              <a:t>Also note the other parts of the button:</a:t>
            </a:r>
          </a:p>
          <a:p>
            <a:pPr marL="171450" indent="-171450">
              <a:buFontTx/>
              <a:buChar char="-"/>
            </a:pPr>
            <a:r>
              <a:rPr lang="en-US" b="1" baseline="0" dirty="0"/>
              <a:t>button</a:t>
            </a:r>
            <a:r>
              <a:rPr lang="en-US" b="0" baseline="0" dirty="0"/>
              <a:t> tag (opening and closing)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Button text (“Click me!”)</a:t>
            </a:r>
            <a:endParaRPr lang="en-US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7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09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357E-8258-42D9-EE08-04ECB4E5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6D4C9-9144-A44E-514E-40A0D5637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81B57-CF18-D803-4C77-95BB3AB80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68A95-55F5-FFC0-A82E-E7A375119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88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06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A9B5-80C4-C2D4-D730-E5768D70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5A0E1-BE68-D757-819C-585C08110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3333B-6170-A05D-CC53-0B47ABF20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B270F-7AE7-7B16-AB58-8359CA6CC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1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258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548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2C9D1-B67C-96D5-B305-57651656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98B1C-A0E4-BCE9-CF17-9655EB7AC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7390F-2EEB-94A8-2045-4F32854C5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49EB3-EACA-945F-F0C4-976AEDB25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04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779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F7465-DE86-5960-850F-6D8E276A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6B6C9-63FF-7718-B5E2-901603C77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EE130-8C60-93FF-16CF-6B7773B03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669CF-91B0-933B-1C60-EB5AA8D19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472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066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443F-7BD1-F19C-0BE0-3BFE62178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C9060-05C4-F9B3-6B31-17819B704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D693F-C496-0171-95F8-99103B419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56027-2D31-B200-1131-2DADE630C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191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68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F3A9-439F-F07C-AFE4-E3F7BC6D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B76B0-A77C-D69A-2788-2AA8D7959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66B74-7063-B3EB-1964-E10BE687F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6F0DF-4528-21AA-AB92-554676DB59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081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necessary, the first to</a:t>
            </a:r>
            <a:r>
              <a:rPr lang="en-US" baseline="0" dirty="0"/>
              <a:t> answer the tie-breaker question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9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33982278"/>
      </p:ext>
    </p:extLst>
  </p:cSld>
  <p:clrMapOvr>
    <a:masterClrMapping/>
  </p:clrMapOvr>
  <p:transition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9525000" y="0"/>
            <a:ext cx="2667000" cy="68580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92362659"/>
      </p:ext>
    </p:extLst>
  </p:cSld>
  <p:clrMapOvr>
    <a:masterClrMapping/>
  </p:clrMapOvr>
  <p:transition>
    <p:fad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9525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bg1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446050400"/>
      </p:ext>
    </p:extLst>
  </p:cSld>
  <p:clrMapOvr>
    <a:masterClrMapping/>
  </p:clrMapOvr>
  <p:transition>
    <p:fad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062162"/>
            <a:ext cx="3429000" cy="2738438"/>
          </a:xfrm>
        </p:spPr>
        <p:txBody>
          <a:bodyPr anchor="ctr">
            <a:normAutofit/>
          </a:bodyPr>
          <a:lstStyle>
            <a:lvl1pPr algn="ctr">
              <a:defRPr sz="4000" baseline="0"/>
            </a:lvl1pPr>
          </a:lstStyle>
          <a:p>
            <a:r>
              <a:rPr lang="en-US" dirty="0"/>
              <a:t>Type “Agenda”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24401" y="2062162"/>
            <a:ext cx="7086599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267200" y="2062162"/>
            <a:ext cx="0" cy="2738438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3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" y="690562"/>
            <a:ext cx="8229600" cy="4110038"/>
          </a:xfrm>
        </p:spPr>
        <p:txBody>
          <a:bodyPr tIns="0" anchor="ctr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Notable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59798" y="4983109"/>
            <a:ext cx="2922402" cy="523220"/>
          </a:xfrm>
          <a:solidFill>
            <a:schemeClr val="tx2"/>
          </a:solidFill>
        </p:spPr>
        <p:txBody>
          <a:bodyPr wrap="none" lIns="91440" tIns="45720" rIns="91440" bIns="45720" anchor="ctr">
            <a:spAutoFit/>
          </a:bodyPr>
          <a:lstStyle>
            <a:lvl1pPr marL="112713" indent="0" algn="r">
              <a:buFont typeface="Wingdings" panose="05000000000000000000" pitchFamily="2" charset="2"/>
              <a:buNone/>
              <a:defRPr sz="2800" b="1" spc="3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– Attribution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Freeform 11"/>
          <p:cNvSpPr>
            <a:spLocks noChangeAspect="1"/>
          </p:cNvSpPr>
          <p:nvPr userDrawn="1"/>
        </p:nvSpPr>
        <p:spPr bwMode="auto">
          <a:xfrm>
            <a:off x="380995" y="685800"/>
            <a:ext cx="1055590" cy="914400"/>
          </a:xfrm>
          <a:custGeom>
            <a:avLst/>
            <a:gdLst>
              <a:gd name="connsiteX0" fmla="*/ 831476 w 923645"/>
              <a:gd name="connsiteY0" fmla="*/ 0 h 800100"/>
              <a:gd name="connsiteX1" fmla="*/ 923645 w 923645"/>
              <a:gd name="connsiteY1" fmla="*/ 174531 h 800100"/>
              <a:gd name="connsiteX2" fmla="*/ 767743 w 923645"/>
              <a:gd name="connsiteY2" fmla="*/ 279937 h 800100"/>
              <a:gd name="connsiteX3" fmla="*/ 719698 w 923645"/>
              <a:gd name="connsiteY3" fmla="*/ 403972 h 800100"/>
              <a:gd name="connsiteX4" fmla="*/ 923645 w 923645"/>
              <a:gd name="connsiteY4" fmla="*/ 403972 h 800100"/>
              <a:gd name="connsiteX5" fmla="*/ 923645 w 923645"/>
              <a:gd name="connsiteY5" fmla="*/ 800100 h 800100"/>
              <a:gd name="connsiteX6" fmla="*/ 497121 w 923645"/>
              <a:gd name="connsiteY6" fmla="*/ 800100 h 800100"/>
              <a:gd name="connsiteX7" fmla="*/ 497121 w 923645"/>
              <a:gd name="connsiteY7" fmla="*/ 471628 h 800100"/>
              <a:gd name="connsiteX8" fmla="*/ 572621 w 923645"/>
              <a:gd name="connsiteY8" fmla="*/ 185317 h 800100"/>
              <a:gd name="connsiteX9" fmla="*/ 831476 w 923645"/>
              <a:gd name="connsiteY9" fmla="*/ 0 h 800100"/>
              <a:gd name="connsiteX10" fmla="*/ 334356 w 923645"/>
              <a:gd name="connsiteY10" fmla="*/ 0 h 800100"/>
              <a:gd name="connsiteX11" fmla="*/ 426524 w 923645"/>
              <a:gd name="connsiteY11" fmla="*/ 174531 h 800100"/>
              <a:gd name="connsiteX12" fmla="*/ 270622 w 923645"/>
              <a:gd name="connsiteY12" fmla="*/ 279937 h 800100"/>
              <a:gd name="connsiteX13" fmla="*/ 222577 w 923645"/>
              <a:gd name="connsiteY13" fmla="*/ 403972 h 800100"/>
              <a:gd name="connsiteX14" fmla="*/ 426524 w 923645"/>
              <a:gd name="connsiteY14" fmla="*/ 403972 h 800100"/>
              <a:gd name="connsiteX15" fmla="*/ 426524 w 923645"/>
              <a:gd name="connsiteY15" fmla="*/ 800100 h 800100"/>
              <a:gd name="connsiteX16" fmla="*/ 0 w 923645"/>
              <a:gd name="connsiteY16" fmla="*/ 800100 h 800100"/>
              <a:gd name="connsiteX17" fmla="*/ 0 w 923645"/>
              <a:gd name="connsiteY17" fmla="*/ 471628 h 800100"/>
              <a:gd name="connsiteX18" fmla="*/ 75499 w 923645"/>
              <a:gd name="connsiteY18" fmla="*/ 185317 h 800100"/>
              <a:gd name="connsiteX19" fmla="*/ 334356 w 923645"/>
              <a:gd name="connsiteY19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3645" h="800100">
                <a:moveTo>
                  <a:pt x="831476" y="0"/>
                </a:moveTo>
                <a:lnTo>
                  <a:pt x="923645" y="174531"/>
                </a:lnTo>
                <a:cubicBezTo>
                  <a:pt x="848472" y="209830"/>
                  <a:pt x="796505" y="244966"/>
                  <a:pt x="767743" y="279937"/>
                </a:cubicBezTo>
                <a:cubicBezTo>
                  <a:pt x="738982" y="314909"/>
                  <a:pt x="722966" y="356254"/>
                  <a:pt x="719698" y="403972"/>
                </a:cubicBezTo>
                <a:lnTo>
                  <a:pt x="923645" y="403972"/>
                </a:lnTo>
                <a:lnTo>
                  <a:pt x="923645" y="800100"/>
                </a:lnTo>
                <a:lnTo>
                  <a:pt x="497121" y="800100"/>
                </a:lnTo>
                <a:lnTo>
                  <a:pt x="497121" y="471628"/>
                </a:lnTo>
                <a:cubicBezTo>
                  <a:pt x="497121" y="350697"/>
                  <a:pt x="522288" y="255261"/>
                  <a:pt x="572621" y="185317"/>
                </a:cubicBezTo>
                <a:cubicBezTo>
                  <a:pt x="622954" y="115374"/>
                  <a:pt x="709239" y="53601"/>
                  <a:pt x="831476" y="0"/>
                </a:cubicBezTo>
                <a:close/>
                <a:moveTo>
                  <a:pt x="334356" y="0"/>
                </a:moveTo>
                <a:lnTo>
                  <a:pt x="426524" y="174531"/>
                </a:lnTo>
                <a:cubicBezTo>
                  <a:pt x="351351" y="209830"/>
                  <a:pt x="299384" y="244966"/>
                  <a:pt x="270622" y="279937"/>
                </a:cubicBezTo>
                <a:cubicBezTo>
                  <a:pt x="241860" y="314909"/>
                  <a:pt x="225845" y="356254"/>
                  <a:pt x="222577" y="403972"/>
                </a:cubicBezTo>
                <a:lnTo>
                  <a:pt x="426524" y="403972"/>
                </a:lnTo>
                <a:lnTo>
                  <a:pt x="426524" y="800100"/>
                </a:lnTo>
                <a:lnTo>
                  <a:pt x="0" y="800100"/>
                </a:lnTo>
                <a:lnTo>
                  <a:pt x="0" y="471628"/>
                </a:lnTo>
                <a:cubicBezTo>
                  <a:pt x="0" y="350697"/>
                  <a:pt x="25167" y="255261"/>
                  <a:pt x="75499" y="185317"/>
                </a:cubicBezTo>
                <a:cubicBezTo>
                  <a:pt x="125833" y="115374"/>
                  <a:pt x="212118" y="53601"/>
                  <a:pt x="3343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Freeform 12"/>
          <p:cNvSpPr>
            <a:spLocks noChangeAspect="1"/>
          </p:cNvSpPr>
          <p:nvPr userDrawn="1"/>
        </p:nvSpPr>
        <p:spPr bwMode="auto">
          <a:xfrm>
            <a:off x="10363200" y="3886200"/>
            <a:ext cx="1055590" cy="914400"/>
          </a:xfrm>
          <a:custGeom>
            <a:avLst/>
            <a:gdLst>
              <a:gd name="connsiteX0" fmla="*/ 752200 w 1397580"/>
              <a:gd name="connsiteY0" fmla="*/ 0 h 1210643"/>
              <a:gd name="connsiteX1" fmla="*/ 1397580 w 1397580"/>
              <a:gd name="connsiteY1" fmla="*/ 0 h 1210643"/>
              <a:gd name="connsiteX2" fmla="*/ 1397580 w 1397580"/>
              <a:gd name="connsiteY2" fmla="*/ 497016 h 1210643"/>
              <a:gd name="connsiteX3" fmla="*/ 1283340 w 1397580"/>
              <a:gd name="connsiteY3" fmla="*/ 930978 h 1210643"/>
              <a:gd name="connsiteX4" fmla="*/ 893145 w 1397580"/>
              <a:gd name="connsiteY4" fmla="*/ 1210643 h 1210643"/>
              <a:gd name="connsiteX5" fmla="*/ 752200 w 1397580"/>
              <a:gd name="connsiteY5" fmla="*/ 946556 h 1210643"/>
              <a:gd name="connsiteX6" fmla="*/ 988839 w 1397580"/>
              <a:gd name="connsiteY6" fmla="*/ 787066 h 1210643"/>
              <a:gd name="connsiteX7" fmla="*/ 1060796 w 1397580"/>
              <a:gd name="connsiteY7" fmla="*/ 599387 h 1210643"/>
              <a:gd name="connsiteX8" fmla="*/ 752200 w 1397580"/>
              <a:gd name="connsiteY8" fmla="*/ 599387 h 1210643"/>
              <a:gd name="connsiteX9" fmla="*/ 0 w 1397580"/>
              <a:gd name="connsiteY9" fmla="*/ 0 h 1210643"/>
              <a:gd name="connsiteX10" fmla="*/ 645379 w 1397580"/>
              <a:gd name="connsiteY10" fmla="*/ 0 h 1210643"/>
              <a:gd name="connsiteX11" fmla="*/ 645379 w 1397580"/>
              <a:gd name="connsiteY11" fmla="*/ 497016 h 1210643"/>
              <a:gd name="connsiteX12" fmla="*/ 531140 w 1397580"/>
              <a:gd name="connsiteY12" fmla="*/ 930978 h 1210643"/>
              <a:gd name="connsiteX13" fmla="*/ 140945 w 1397580"/>
              <a:gd name="connsiteY13" fmla="*/ 1210643 h 1210643"/>
              <a:gd name="connsiteX14" fmla="*/ 0 w 1397580"/>
              <a:gd name="connsiteY14" fmla="*/ 946556 h 1210643"/>
              <a:gd name="connsiteX15" fmla="*/ 236639 w 1397580"/>
              <a:gd name="connsiteY15" fmla="*/ 787066 h 1210643"/>
              <a:gd name="connsiteX16" fmla="*/ 308595 w 1397580"/>
              <a:gd name="connsiteY16" fmla="*/ 599387 h 1210643"/>
              <a:gd name="connsiteX17" fmla="*/ 0 w 1397580"/>
              <a:gd name="connsiteY17" fmla="*/ 599387 h 121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97580" h="1210643">
                <a:moveTo>
                  <a:pt x="752200" y="0"/>
                </a:moveTo>
                <a:lnTo>
                  <a:pt x="1397580" y="0"/>
                </a:lnTo>
                <a:lnTo>
                  <a:pt x="1397580" y="497016"/>
                </a:lnTo>
                <a:cubicBezTo>
                  <a:pt x="1397580" y="679998"/>
                  <a:pt x="1359500" y="824652"/>
                  <a:pt x="1283340" y="930978"/>
                </a:cubicBezTo>
                <a:cubicBezTo>
                  <a:pt x="1207181" y="1037306"/>
                  <a:pt x="1077116" y="1130527"/>
                  <a:pt x="893145" y="1210643"/>
                </a:cubicBezTo>
                <a:lnTo>
                  <a:pt x="752200" y="946556"/>
                </a:lnTo>
                <a:cubicBezTo>
                  <a:pt x="866935" y="893146"/>
                  <a:pt x="945814" y="839983"/>
                  <a:pt x="988839" y="787066"/>
                </a:cubicBezTo>
                <a:cubicBezTo>
                  <a:pt x="1031865" y="734150"/>
                  <a:pt x="1055850" y="671590"/>
                  <a:pt x="1060796" y="599387"/>
                </a:cubicBezTo>
                <a:lnTo>
                  <a:pt x="752200" y="599387"/>
                </a:lnTo>
                <a:close/>
                <a:moveTo>
                  <a:pt x="0" y="0"/>
                </a:moveTo>
                <a:lnTo>
                  <a:pt x="645379" y="0"/>
                </a:lnTo>
                <a:lnTo>
                  <a:pt x="645379" y="497016"/>
                </a:lnTo>
                <a:cubicBezTo>
                  <a:pt x="645379" y="679998"/>
                  <a:pt x="607299" y="824652"/>
                  <a:pt x="531140" y="930978"/>
                </a:cubicBezTo>
                <a:cubicBezTo>
                  <a:pt x="454980" y="1037306"/>
                  <a:pt x="324915" y="1130527"/>
                  <a:pt x="140945" y="1210643"/>
                </a:cubicBezTo>
                <a:lnTo>
                  <a:pt x="0" y="946556"/>
                </a:lnTo>
                <a:cubicBezTo>
                  <a:pt x="114734" y="893146"/>
                  <a:pt x="193614" y="839983"/>
                  <a:pt x="236639" y="787066"/>
                </a:cubicBezTo>
                <a:cubicBezTo>
                  <a:pt x="279664" y="734150"/>
                  <a:pt x="303650" y="671590"/>
                  <a:pt x="308595" y="599387"/>
                </a:cubicBezTo>
                <a:lnTo>
                  <a:pt x="0" y="599387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14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29E-186A-46A5-8C20-9D17D84F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2BAF-5F1C-4995-AC68-7251935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817B-0075-4442-8FC5-6345A42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0350-B5AC-4494-8F19-E116B952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30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8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11811000" y="0"/>
            <a:ext cx="381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64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9144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02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5181600" cy="68580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2162"/>
            <a:ext cx="4572000" cy="2738438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2062162"/>
            <a:ext cx="6400800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4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75844" y="274320"/>
            <a:ext cx="11640312" cy="6309360"/>
          </a:xfrm>
          <a:solidFill>
            <a:schemeClr val="accent5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3400"/>
            <a:ext cx="10972800" cy="1828800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9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 anchor="ctr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10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486401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143000"/>
            <a:ext cx="54864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57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143000"/>
            <a:ext cx="36576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534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54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27432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678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424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5486400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54864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028701"/>
            <a:ext cx="5486398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1600202"/>
            <a:ext cx="5486399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717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2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534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534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950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66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66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22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22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7800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0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959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894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a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98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772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Medi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29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84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969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ri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967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Second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65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Tertiary">
    <p:bg>
      <p:bgPr>
        <a:solidFill>
          <a:srgbClr val="0058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486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Gradient">
    <p:bg>
      <p:bgPr>
        <a:gradFill flip="none" rotWithShape="1">
          <a:gsLst>
            <a:gs pos="0">
              <a:schemeClr val="accent2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718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4445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imated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12">
            <a:extLst>
              <a:ext uri="{FF2B5EF4-FFF2-40B4-BE49-F238E27FC236}">
                <a16:creationId xmlns:a16="http://schemas.microsoft.com/office/drawing/2014/main" id="{5DD5D4CC-621C-41F8-8ABA-55DAA028ECBB}"/>
              </a:ext>
            </a:extLst>
          </p:cNvPr>
          <p:cNvSpPr/>
          <p:nvPr userDrawn="1"/>
        </p:nvSpPr>
        <p:spPr>
          <a:xfrm rot="10800000">
            <a:off x="4724400" y="4191000"/>
            <a:ext cx="2743200" cy="609600"/>
          </a:xfrm>
          <a:prstGeom prst="trapezoid">
            <a:avLst>
              <a:gd name="adj" fmla="val 1174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" name="Group 1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3199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79028 L 5.55112E-17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7007 L 0 0.044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4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000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>
            <a:spLocks noEditPoints="1"/>
          </p:cNvSpPr>
          <p:nvPr userDrawn="1"/>
        </p:nvSpPr>
        <p:spPr bwMode="auto">
          <a:xfrm>
            <a:off x="5155469" y="3117914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100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97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gradFill flip="none" rotWithShape="1">
            <a:gsLst>
              <a:gs pos="1000">
                <a:srgbClr val="53BD4E"/>
              </a:gs>
              <a:gs pos="100000">
                <a:srgbClr val="00C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2" name="Freeform 21"/>
          <p:cNvSpPr/>
          <p:nvPr userDrawn="1"/>
        </p:nvSpPr>
        <p:spPr bwMode="auto">
          <a:xfrm flipV="1">
            <a:off x="3757578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Freeform 22"/>
          <p:cNvSpPr/>
          <p:nvPr userDrawn="1"/>
        </p:nvSpPr>
        <p:spPr bwMode="auto">
          <a:xfrm flipH="1" flipV="1">
            <a:off x="6502400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solidFill>
            <a:srgbClr val="565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267200" y="4800600"/>
            <a:ext cx="3657600" cy="2057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6" name="Freeform 25"/>
          <p:cNvSpPr/>
          <p:nvPr userDrawn="1"/>
        </p:nvSpPr>
        <p:spPr bwMode="auto">
          <a:xfrm flipH="1">
            <a:off x="7010400" y="3824258"/>
            <a:ext cx="914400" cy="27432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Freeform 26"/>
          <p:cNvSpPr/>
          <p:nvPr userDrawn="1"/>
        </p:nvSpPr>
        <p:spPr bwMode="auto">
          <a:xfrm>
            <a:off x="4267200" y="3824258"/>
            <a:ext cx="914400" cy="2743200"/>
          </a:xfrm>
          <a:custGeom>
            <a:avLst/>
            <a:gdLst>
              <a:gd name="connsiteX0" fmla="*/ 0 w 914400"/>
              <a:gd name="connsiteY0" fmla="*/ 0 h 2743200"/>
              <a:gd name="connsiteX1" fmla="*/ 457200 w 914400"/>
              <a:gd name="connsiteY1" fmla="*/ 0 h 2743200"/>
              <a:gd name="connsiteX2" fmla="*/ 914400 w 914400"/>
              <a:gd name="connsiteY2" fmla="*/ 2743200 h 2743200"/>
              <a:gd name="connsiteX3" fmla="*/ 457200 w 914400"/>
              <a:gd name="connsiteY3" fmla="*/ 2743200 h 2743200"/>
              <a:gd name="connsiteX4" fmla="*/ 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457200" y="0"/>
                </a:lnTo>
                <a:lnTo>
                  <a:pt x="914400" y="2743200"/>
                </a:lnTo>
                <a:lnTo>
                  <a:pt x="4572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Freeform 21"/>
          <p:cNvSpPr>
            <a:spLocks noEditPoints="1"/>
          </p:cNvSpPr>
          <p:nvPr userDrawn="1"/>
        </p:nvSpPr>
        <p:spPr bwMode="auto">
          <a:xfrm>
            <a:off x="5155469" y="3117458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4572000"/>
            <a:ext cx="7315200" cy="457200"/>
          </a:xfrm>
        </p:spPr>
        <p:txBody>
          <a:bodyPr>
            <a:noAutofit/>
          </a:bodyPr>
          <a:lstStyle>
            <a:lvl1pPr marL="5715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800100" indent="0" algn="ctr">
              <a:buNone/>
              <a:defRPr sz="1800">
                <a:solidFill>
                  <a:schemeClr val="bg1"/>
                </a:solidFill>
              </a:defRPr>
            </a:lvl3pPr>
            <a:lvl4pPr marL="1198563" indent="0" algn="ctr">
              <a:buNone/>
              <a:defRPr sz="1600">
                <a:solidFill>
                  <a:schemeClr val="bg1"/>
                </a:solidFill>
              </a:defRPr>
            </a:lvl4pPr>
            <a:lvl5pPr marL="1604962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&lt;Call to action&gt;</a:t>
            </a:r>
          </a:p>
        </p:txBody>
      </p:sp>
    </p:spTree>
    <p:extLst>
      <p:ext uri="{BB962C8B-B14F-4D97-AF65-F5344CB8AC3E}">
        <p14:creationId xmlns:p14="http://schemas.microsoft.com/office/powerpoint/2010/main" val="158574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7" presetClass="exit" presetSubtype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70000" decel="2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4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 0.01667 " pathEditMode="relative" rAng="0" ptsTypes="AA">
                                      <p:cBhvr>
                                        <p:cTn id="40" dur="1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3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Motion origin="layout" path="M 0 1.85185E-6 L 0 0.1 " pathEditMode="relative" rAng="0" ptsTypes="AA">
                                      <p:cBhvr>
                                        <p:cTn id="63" dur="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764 L 5.55112E-17 0.14236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764 L 0 0.14236 " pathEditMode="relative" rAng="0" ptsTypes="AA">
                                      <p:cBhvr>
                                        <p:cTn id="81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3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3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am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75844" y="274320"/>
            <a:ext cx="11640312" cy="6309360"/>
          </a:xfrm>
          <a:prstGeom prst="rect">
            <a:avLst/>
          </a:prstGeom>
          <a:noFill/>
          <a:ln w="57150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0051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1118-6541-467B-AB71-EAB04611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97EB-ED75-4EDB-8F10-F21465C7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686800" cy="525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B1A47-1029-4EF2-AB59-A978C590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143000"/>
            <a:ext cx="2514600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8143-0EE0-4783-89E1-5EA55EC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BB4D3-DC82-4F22-84F1-DA3E8B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4EFE-6E2A-4694-BE6D-C4EB3FA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5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049-244A-43A9-88AF-6787D32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E15E2-4FEA-40B8-945D-0B65E7AB7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24200" y="1143000"/>
            <a:ext cx="8686800" cy="5257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C6DC-B05C-4067-BC75-5292D1CF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2514599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517C-C18A-4977-84E8-E92783D4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D6DB1-8D60-4505-A190-4A11920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A32F-FDE5-4A2A-A5AF-32CCAB7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028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D5C-A5D8-4D18-92D3-1790284F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0A79-549C-47E8-92BE-BDE73DBB4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1E6-4801-4B57-BCF5-7A95712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F66-4096-4B53-BDE2-48B9294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E22-CE81-47A2-9C57-58EADEE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A0692-27FF-492F-82F1-7C5A96123CBF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7376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E3BAA-4353-4449-B9AC-D52594A6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96400" y="228600"/>
            <a:ext cx="25146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1CD9-D44A-45C2-A358-22F8C311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86868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038-654A-4C00-8E40-A96929AE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B0D3-C000-4D4E-BCB4-E950A3FD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687-6661-4CCF-9D72-C63BAC7E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F799F-F405-43CF-BB9D-38C9E6354058}"/>
              </a:ext>
            </a:extLst>
          </p:cNvPr>
          <p:cNvCxnSpPr>
            <a:cxnSpLocks/>
          </p:cNvCxnSpPr>
          <p:nvPr userDrawn="1"/>
        </p:nvCxnSpPr>
        <p:spPr>
          <a:xfrm>
            <a:off x="9182100" y="228600"/>
            <a:ext cx="0" cy="6400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  <a:tileRect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717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76144-3494-48F5-912E-6FE667D2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  <a:prstGeom prst="rect">
            <a:avLst/>
          </a:prstGeom>
        </p:spPr>
        <p:txBody>
          <a:bodyPr vert="horz" lIns="0" tIns="4572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797A-0E14-474C-848E-06912870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17E-6DDA-4383-B366-A0FA149DB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629400"/>
            <a:ext cx="13716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200A-1E68-4329-B3DC-2AB4387C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629401"/>
            <a:ext cx="77724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512A-0CCA-42A8-A940-F6DF060CC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9400" y="6629400"/>
            <a:ext cx="1371600" cy="114299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83" r:id="rId4"/>
    <p:sldLayoutId id="2147483684" r:id="rId5"/>
    <p:sldLayoutId id="2147483654" r:id="rId6"/>
    <p:sldLayoutId id="2147483650" r:id="rId7"/>
    <p:sldLayoutId id="2147483663" r:id="rId8"/>
    <p:sldLayoutId id="2147483662" r:id="rId9"/>
    <p:sldLayoutId id="2147483651" r:id="rId10"/>
    <p:sldLayoutId id="2147483664" r:id="rId11"/>
    <p:sldLayoutId id="2147483665" r:id="rId12"/>
    <p:sldLayoutId id="2147483652" r:id="rId13"/>
    <p:sldLayoutId id="2147483666" r:id="rId14"/>
    <p:sldLayoutId id="2147483667" r:id="rId15"/>
    <p:sldLayoutId id="2147483653" r:id="rId16"/>
    <p:sldLayoutId id="2147483668" r:id="rId17"/>
    <p:sldLayoutId id="2147483669" r:id="rId18"/>
    <p:sldLayoutId id="2147483655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1" r:id="rId32"/>
    <p:sldLayoutId id="2147483685" r:id="rId33"/>
    <p:sldLayoutId id="2147483656" r:id="rId34"/>
    <p:sldLayoutId id="2147483657" r:id="rId35"/>
    <p:sldLayoutId id="2147483658" r:id="rId36"/>
    <p:sldLayoutId id="2147483659" r:id="rId3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125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99" y="228600"/>
            <a:ext cx="8801101" cy="2743200"/>
          </a:xfrm>
        </p:spPr>
        <p:txBody>
          <a:bodyPr>
            <a:noAutofit/>
          </a:bodyPr>
          <a:lstStyle/>
          <a:p>
            <a:r>
              <a:rPr lang="en-US" sz="6600" dirty="0"/>
              <a:t>Review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5859489" cy="553998"/>
          </a:xfrm>
        </p:spPr>
        <p:txBody>
          <a:bodyPr/>
          <a:lstStyle/>
          <a:p>
            <a:r>
              <a:rPr lang="en-US"/>
              <a:t>HTO: Website Development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9880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6600" dirty="0"/>
              <a:t>-40042</a:t>
            </a:r>
          </a:p>
        </p:txBody>
      </p:sp>
    </p:spTree>
    <p:extLst>
      <p:ext uri="{BB962C8B-B14F-4D97-AF65-F5344CB8AC3E}">
        <p14:creationId xmlns:p14="http://schemas.microsoft.com/office/powerpoint/2010/main" val="281817970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8F4E-1BFE-5362-DE7E-35C4B9CA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BCF5-46D9-18A2-908C-BEFFCDD7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2A442-54E2-2C68-A419-E2917F581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Number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312927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1303020"/>
          </a:xfrm>
        </p:spPr>
        <p:txBody>
          <a:bodyPr/>
          <a:lstStyle/>
          <a:p>
            <a:r>
              <a:rPr lang="en-US" dirty="0"/>
              <a:t>Write the correct </a:t>
            </a:r>
            <a:r>
              <a:rPr lang="en-US" sz="4000" cap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en-US" dirty="0"/>
              <a:t> tag to include a </a:t>
            </a:r>
            <a:r>
              <a:rPr lang="en-US" dirty="0" err="1"/>
              <a:t>javascript</a:t>
            </a:r>
            <a:r>
              <a:rPr lang="en-US" dirty="0"/>
              <a:t> file named </a:t>
            </a:r>
            <a:r>
              <a:rPr lang="en-US" cap="none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script.js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4400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sz="4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4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808080"/>
                </a:solidFill>
                <a:latin typeface="Consolas" panose="020B0609020204030204" pitchFamily="49" charset="0"/>
              </a:rPr>
              <a:t>	// what would go here…</a:t>
            </a:r>
            <a:endParaRPr lang="en-US" sz="4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4400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sz="4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4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6213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7150" indent="0" algn="ctr">
              <a:buNone/>
            </a:pP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&lt;script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4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"script.js"</a:t>
            </a: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&gt;&lt;/script&gt;</a:t>
            </a:r>
            <a:endParaRPr 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89934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9600" dirty="0">
                <a:solidFill>
                  <a:srgbClr val="A31515"/>
                </a:solidFill>
                <a:latin typeface="Consolas" panose="020B0609020204030204" pitchFamily="49" charset="0"/>
              </a:rPr>
              <a:t>"Despicable Me"</a:t>
            </a:r>
            <a:endParaRPr lang="en-US" sz="9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55237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EC66B-1FAD-19FD-5F81-4E1A2A26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8E4B-22AB-C94F-BD09-37150B09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81EE-CEA7-15E2-E03A-A8E2A64C0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String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81735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6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0595916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DA1EB-ADA5-C050-0B3A-8F84D0E7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7CC8-9327-CE7E-FD3C-729CB7320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13521-3CE6-849F-4732-BB5E0E013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Number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568765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/>
          <a:lstStyle/>
          <a:p>
            <a:r>
              <a:rPr lang="en-US" dirty="0"/>
              <a:t>What do buttons </a:t>
            </a:r>
            <a:r>
              <a:rPr lang="en-US" i="1" dirty="0"/>
              <a:t>call</a:t>
            </a:r>
            <a:r>
              <a:rPr lang="en-US" dirty="0"/>
              <a:t> when they are clicked?</a:t>
            </a:r>
          </a:p>
        </p:txBody>
      </p:sp>
    </p:spTree>
    <p:extLst>
      <p:ext uri="{BB962C8B-B14F-4D97-AF65-F5344CB8AC3E}">
        <p14:creationId xmlns:p14="http://schemas.microsoft.com/office/powerpoint/2010/main" val="23698057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7150" indent="0" algn="ctr">
              <a:buNone/>
            </a:pPr>
            <a:r>
              <a:rPr lang="en-US" sz="6600" dirty="0"/>
              <a:t>Functions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0704031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9600" dirty="0">
                <a:solidFill>
                  <a:srgbClr val="A31515"/>
                </a:solidFill>
                <a:latin typeface="Consolas" panose="020B0609020204030204" pitchFamily="49" charset="0"/>
              </a:rPr>
              <a:t>"PI"</a:t>
            </a:r>
            <a:endParaRPr lang="en-US" sz="9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61563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09B5-4C16-EF18-F778-3470DF1A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E8AC-ACC5-3AA6-BA88-50C2A43C8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D59C-1DDC-5A03-22DD-FB312841B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String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677166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value of the variable </a:t>
            </a:r>
            <a:r>
              <a:rPr lang="en-US" sz="4000" cap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0" y="1143000"/>
            <a:ext cx="9486900" cy="5257800"/>
          </a:xfrm>
        </p:spPr>
        <p:txBody>
          <a:bodyPr anchor="ctr"/>
          <a:lstStyle/>
          <a:p>
            <a:pPr marL="57150" indent="0">
              <a:buNone/>
            </a:pPr>
            <a:r>
              <a:rPr lang="en-US" sz="80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8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80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57150" indent="0">
              <a:buNone/>
            </a:pPr>
            <a:r>
              <a:rPr lang="en-US" sz="8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8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80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9953888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CCC7-6D31-C650-6776-D58C6F7D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1796-D4E5-822D-88F6-BFE6D721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0FAA9-291A-E511-E7AF-60B7E2CDC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120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432155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9600" dirty="0">
                <a:solidFill>
                  <a:srgbClr val="A31515"/>
                </a:solidFill>
                <a:latin typeface="Consolas" panose="020B0609020204030204" pitchFamily="49" charset="0"/>
              </a:rPr>
              <a:t>"10 / 2"</a:t>
            </a:r>
            <a:endParaRPr lang="en-US" sz="9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986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9F62B-719B-B846-368E-1B4C07F8F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1627-5981-BD5F-CF44-1A8949CD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34B22-842F-88A4-5DDF-031EEA80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String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636881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keyword is needed to define  a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800" dirty="0" err="1">
                <a:solidFill>
                  <a:srgbClr val="000000"/>
                </a:solidFill>
                <a:latin typeface="Consolas" panose="020B0609020204030204" pitchFamily="49" charset="0"/>
              </a:rPr>
              <a:t>doSomething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57150" indent="0">
              <a:buNone/>
            </a:pP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    alert(</a:t>
            </a:r>
            <a:r>
              <a:rPr lang="en-US" sz="4800" dirty="0">
                <a:solidFill>
                  <a:srgbClr val="A31515"/>
                </a:solidFill>
                <a:latin typeface="Consolas" panose="020B0609020204030204" pitchFamily="49" charset="0"/>
              </a:rPr>
              <a:t>"JS Code"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57150" indent="0">
              <a:buNone/>
            </a:pP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B3A8D-2836-4E61-A3DF-D5696FA1E1E8}"/>
              </a:ext>
            </a:extLst>
          </p:cNvPr>
          <p:cNvSpPr/>
          <p:nvPr/>
        </p:nvSpPr>
        <p:spPr bwMode="auto">
          <a:xfrm>
            <a:off x="381000" y="2514600"/>
            <a:ext cx="2857500" cy="800100"/>
          </a:xfrm>
          <a:prstGeom prst="rect">
            <a:avLst/>
          </a:prstGeom>
          <a:solidFill>
            <a:srgbClr val="7030A0"/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E95EBE"/>
                </a:solidFill>
                <a:ea typeface="Segoe UI" pitchFamily="34" charset="0"/>
                <a:cs typeface="Segoe UI" pitchFamily="34" charset="0"/>
              </a:rPr>
              <a:t>????????????????????????????</a:t>
            </a:r>
          </a:p>
        </p:txBody>
      </p:sp>
    </p:spTree>
    <p:extLst>
      <p:ext uri="{BB962C8B-B14F-4D97-AF65-F5344CB8AC3E}">
        <p14:creationId xmlns:p14="http://schemas.microsoft.com/office/powerpoint/2010/main" val="20507461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800" dirty="0" err="1">
                <a:solidFill>
                  <a:srgbClr val="000000"/>
                </a:solidFill>
                <a:latin typeface="Consolas" panose="020B0609020204030204" pitchFamily="49" charset="0"/>
              </a:rPr>
              <a:t>doSomething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57150" indent="0">
              <a:buNone/>
            </a:pP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    alert(</a:t>
            </a:r>
            <a:r>
              <a:rPr lang="en-US" sz="4800" dirty="0">
                <a:solidFill>
                  <a:srgbClr val="A31515"/>
                </a:solidFill>
                <a:latin typeface="Consolas" panose="020B0609020204030204" pitchFamily="49" charset="0"/>
              </a:rPr>
              <a:t>"JS Code"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57150" indent="0">
              <a:buNone/>
            </a:pP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094799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value of the variable </a:t>
            </a:r>
            <a:r>
              <a:rPr lang="en-US" sz="4000" cap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0" y="1143000"/>
            <a:ext cx="9486900" cy="5257800"/>
          </a:xfrm>
        </p:spPr>
        <p:txBody>
          <a:bodyPr anchor="ctr"/>
          <a:lstStyle/>
          <a:p>
            <a:pPr marL="57150" indent="0">
              <a:buNone/>
            </a:pPr>
            <a:r>
              <a:rPr lang="en-US" sz="80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8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8000" dirty="0">
                <a:solidFill>
                  <a:srgbClr val="A31515"/>
                </a:solidFill>
                <a:latin typeface="Consolas" panose="020B0609020204030204" pitchFamily="49" charset="0"/>
              </a:rPr>
              <a:t>"20"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57150" indent="0">
              <a:buNone/>
            </a:pPr>
            <a:r>
              <a:rPr lang="en-US" sz="8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8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80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5831665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1ACEC-D890-2F3C-9D34-0B9905A1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956C-DC42-3B34-13FE-A7A2125C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B41C-FE6C-4CFB-1884-1D3988475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“2018”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748445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1417320"/>
          </a:xfrm>
        </p:spPr>
        <p:txBody>
          <a:bodyPr/>
          <a:lstStyle/>
          <a:p>
            <a:r>
              <a:rPr lang="en-US" dirty="0"/>
              <a:t>Write the proper attribute to call a function named </a:t>
            </a:r>
            <a:r>
              <a:rPr lang="en-US" sz="4000" cap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SendMessage</a:t>
            </a:r>
            <a:r>
              <a:rPr lang="en-US" dirty="0"/>
              <a:t> when a button is clicked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2743200"/>
            <a:ext cx="11430000" cy="1028700"/>
          </a:xfrm>
        </p:spPr>
        <p:txBody>
          <a:bodyPr/>
          <a:lstStyle/>
          <a:p>
            <a:pPr marL="57150" indent="0" algn="ctr">
              <a:buNone/>
            </a:pPr>
            <a:r>
              <a:rPr lang="en-US" sz="48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800" dirty="0">
                <a:solidFill>
                  <a:srgbClr val="CD3131"/>
                </a:solidFill>
                <a:latin typeface="Consolas" panose="020B0609020204030204" pitchFamily="49" charset="0"/>
              </a:rPr>
              <a:t>… </a:t>
            </a:r>
            <a:r>
              <a:rPr lang="en-US" sz="48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Click Me!</a:t>
            </a:r>
            <a:r>
              <a:rPr lang="en-US" sz="48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4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3695700" y="2628900"/>
            <a:ext cx="914400" cy="1257300"/>
          </a:xfrm>
          <a:prstGeom prst="rect">
            <a:avLst/>
          </a:prstGeom>
          <a:solidFill>
            <a:schemeClr val="accent1">
              <a:alpha val="27000"/>
            </a:schemeClr>
          </a:solidFill>
          <a:ln w="31750">
            <a:solidFill>
              <a:schemeClr val="accent1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95637" y="4023852"/>
            <a:ext cx="2714526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1"/>
                </a:solidFill>
              </a:rPr>
              <a:t>What goes here?</a:t>
            </a:r>
          </a:p>
        </p:txBody>
      </p:sp>
    </p:spTree>
    <p:extLst>
      <p:ext uri="{BB962C8B-B14F-4D97-AF65-F5344CB8AC3E}">
        <p14:creationId xmlns:p14="http://schemas.microsoft.com/office/powerpoint/2010/main" val="87610395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3200" dirty="0" err="1">
                <a:solidFill>
                  <a:srgbClr val="0000FF"/>
                </a:solidFill>
                <a:latin typeface="Consolas" panose="020B0609020204030204" pitchFamily="49" charset="0"/>
              </a:rPr>
              <a:t>SendMessage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()"</a:t>
            </a: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Click Me!</a:t>
            </a: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</a:p>
          <a:p>
            <a:pPr marL="57150" indent="0" algn="ctr"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209800" y="2857500"/>
            <a:ext cx="5257800" cy="1257300"/>
          </a:xfrm>
          <a:prstGeom prst="rect">
            <a:avLst/>
          </a:prstGeom>
          <a:solidFill>
            <a:schemeClr val="accent1">
              <a:alpha val="27000"/>
            </a:schemeClr>
          </a:solidFill>
          <a:ln w="31750">
            <a:solidFill>
              <a:schemeClr val="accent1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03504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6600" dirty="0"/>
              <a:t>9 + 6</a:t>
            </a:r>
          </a:p>
        </p:txBody>
      </p:sp>
    </p:spTree>
    <p:extLst>
      <p:ext uri="{BB962C8B-B14F-4D97-AF65-F5344CB8AC3E}">
        <p14:creationId xmlns:p14="http://schemas.microsoft.com/office/powerpoint/2010/main" val="285465362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0CFAC-2EE9-C4C0-FF87-52843BC6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41F8-F34D-37FD-B6FD-4625FD02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5CB91-033D-F8C3-644E-743F65D80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Number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475168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9600" dirty="0">
                <a:solidFill>
                  <a:srgbClr val="A31515"/>
                </a:solidFill>
                <a:latin typeface="Consolas" panose="020B0609020204030204" pitchFamily="49" charset="0"/>
              </a:rPr>
              <a:t>"Seventy-five"</a:t>
            </a:r>
            <a:endParaRPr lang="en-US" sz="9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6623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1AD6-4191-E294-A69E-5A1FA38F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61667-4158-BDF2-E70A-8723F7B4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66D25-E4E0-BD70-7A4A-B1E0B6EBB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String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749922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1417320"/>
          </a:xfrm>
        </p:spPr>
        <p:txBody>
          <a:bodyPr/>
          <a:lstStyle/>
          <a:p>
            <a:r>
              <a:rPr lang="en-US" dirty="0"/>
              <a:t>Define a function named </a:t>
            </a:r>
            <a:r>
              <a:rPr lang="en-US" sz="4000" cap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SendMessage</a:t>
            </a:r>
            <a:r>
              <a:rPr lang="en-US" dirty="0"/>
              <a:t> that displays a message to the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200400"/>
            <a:ext cx="11430000" cy="3200400"/>
          </a:xfrm>
        </p:spPr>
        <p:txBody>
          <a:bodyPr/>
          <a:lstStyle/>
          <a:p>
            <a:pPr marL="57150" indent="0" algn="ctr">
              <a:buNone/>
            </a:pP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3200" dirty="0" err="1">
                <a:solidFill>
                  <a:srgbClr val="0000FF"/>
                </a:solidFill>
                <a:latin typeface="Consolas" panose="020B0609020204030204" pitchFamily="49" charset="0"/>
              </a:rPr>
              <a:t>SendMessage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()"</a:t>
            </a: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Click Me!</a:t>
            </a: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4306824" y="2857500"/>
            <a:ext cx="2514600" cy="1257300"/>
          </a:xfrm>
          <a:prstGeom prst="rect">
            <a:avLst/>
          </a:prstGeom>
          <a:solidFill>
            <a:schemeClr val="accent1">
              <a:alpha val="27000"/>
            </a:schemeClr>
          </a:solidFill>
          <a:ln w="31750">
            <a:solidFill>
              <a:schemeClr val="accent1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69804" y="4178881"/>
            <a:ext cx="2988639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1"/>
                </a:solidFill>
              </a:rPr>
              <a:t>Define this function</a:t>
            </a:r>
          </a:p>
        </p:txBody>
      </p:sp>
    </p:spTree>
    <p:extLst>
      <p:ext uri="{BB962C8B-B14F-4D97-AF65-F5344CB8AC3E}">
        <p14:creationId xmlns:p14="http://schemas.microsoft.com/office/powerpoint/2010/main" val="425436433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7150" indent="0">
              <a:buNone/>
            </a:pP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SendMessage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57150" indent="0">
              <a:buNone/>
            </a:pP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   alert(</a:t>
            </a:r>
            <a:r>
              <a:rPr lang="en-US" sz="4400" dirty="0">
                <a:solidFill>
                  <a:srgbClr val="A31515"/>
                </a:solidFill>
                <a:latin typeface="Consolas" panose="020B0609020204030204" pitchFamily="49" charset="0"/>
              </a:rPr>
              <a:t>"Message"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57150" indent="0">
              <a:buNone/>
            </a:pP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36795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6600" dirty="0"/>
              <a:t>12.2</a:t>
            </a:r>
          </a:p>
        </p:txBody>
      </p:sp>
    </p:spTree>
    <p:extLst>
      <p:ext uri="{BB962C8B-B14F-4D97-AF65-F5344CB8AC3E}">
        <p14:creationId xmlns:p14="http://schemas.microsoft.com/office/powerpoint/2010/main" val="86940136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2B0A9-8F5E-F39E-4B36-682BAD39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F163-DCB9-699E-3549-3782FA18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CD4D4-8013-E75E-F764-BE0CC034F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Number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2599539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143000"/>
            <a:ext cx="10515600" cy="5257800"/>
          </a:xfrm>
        </p:spPr>
        <p:txBody>
          <a:bodyPr anchor="ctr">
            <a:normAutofit/>
          </a:bodyPr>
          <a:lstStyle/>
          <a:p>
            <a:pPr marL="57150" indent="0">
              <a:buNone/>
            </a:pPr>
            <a:r>
              <a:rPr lang="en-US" sz="9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96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9600" dirty="0">
                <a:solidFill>
                  <a:srgbClr val="A31515"/>
                </a:solidFill>
                <a:latin typeface="Consolas" panose="020B0609020204030204" pitchFamily="49" charset="0"/>
              </a:rPr>
              <a:t>"20"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57150" indent="0">
              <a:buNone/>
            </a:pPr>
            <a:r>
              <a:rPr lang="en-US" sz="9600" dirty="0">
                <a:solidFill>
                  <a:srgbClr val="267F99"/>
                </a:solidFill>
                <a:latin typeface="Consolas" panose="020B0609020204030204" pitchFamily="49" charset="0"/>
              </a:rPr>
              <a:t>Number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6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9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295400" y="3771900"/>
            <a:ext cx="6057900" cy="182880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15323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B0CBA-EB36-6B73-45F3-E40C3F3D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3803-C565-74F7-C347-4435EF7E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94C04-A3D6-7AAB-631C-3634FBF64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Number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920604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143000"/>
            <a:ext cx="10515600" cy="5257800"/>
          </a:xfrm>
        </p:spPr>
        <p:txBody>
          <a:bodyPr anchor="ctr">
            <a:normAutofit/>
          </a:bodyPr>
          <a:lstStyle/>
          <a:p>
            <a:pPr marL="57150" indent="0">
              <a:buNone/>
            </a:pPr>
            <a:r>
              <a:rPr lang="en-US" sz="9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96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9600" dirty="0">
                <a:solidFill>
                  <a:srgbClr val="A31515"/>
                </a:solidFill>
                <a:latin typeface="Consolas" panose="020B0609020204030204" pitchFamily="49" charset="0"/>
              </a:rPr>
              <a:t>"20"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57150" indent="0">
              <a:buNone/>
            </a:pPr>
            <a:r>
              <a:rPr lang="en-US" sz="96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9600" dirty="0">
                <a:solidFill>
                  <a:srgbClr val="098658"/>
                </a:solidFill>
                <a:latin typeface="Consolas" panose="020B0609020204030204" pitchFamily="49" charset="0"/>
              </a:rPr>
              <a:t>100000</a:t>
            </a:r>
            <a:r>
              <a:rPr lang="en-US" sz="9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9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295400" y="3771900"/>
            <a:ext cx="6858000" cy="182880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39388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65C15-F3E2-CD58-BD0E-6654C62F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13A6-2D70-DAC9-0815-7C937AB1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E05D-8422-546B-FA7F-559C82C8F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 dirty="0">
                <a:solidFill>
                  <a:schemeClr val="accent2"/>
                </a:solidFill>
                <a:latin typeface="+mj-lt"/>
              </a:rPr>
              <a:t>String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0940519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5300" y="1257300"/>
            <a:ext cx="10545194" cy="3850285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solidFill>
                  <a:schemeClr val="bg1"/>
                </a:solidFill>
              </a:rPr>
              <a:t>Create a </a:t>
            </a:r>
            <a:r>
              <a:rPr lang="en-US" sz="6000" i="1" dirty="0">
                <a:solidFill>
                  <a:schemeClr val="bg1"/>
                </a:solidFill>
              </a:rPr>
              <a:t>button</a:t>
            </a:r>
            <a:r>
              <a:rPr lang="en-US" sz="6000" dirty="0">
                <a:solidFill>
                  <a:schemeClr val="bg1"/>
                </a:solidFill>
              </a:rPr>
              <a:t> in HTML that: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6000" dirty="0">
                <a:solidFill>
                  <a:schemeClr val="bg1"/>
                </a:solidFill>
              </a:rPr>
              <a:t>Has text “</a:t>
            </a:r>
            <a:r>
              <a:rPr lang="en-US" sz="6000" b="1" dirty="0">
                <a:solidFill>
                  <a:schemeClr val="bg1"/>
                </a:solidFill>
              </a:rPr>
              <a:t>Fun</a:t>
            </a:r>
            <a:r>
              <a:rPr lang="en-US" sz="6000" dirty="0">
                <a:solidFill>
                  <a:schemeClr val="bg1"/>
                </a:solidFill>
              </a:rPr>
              <a:t>”</a:t>
            </a:r>
          </a:p>
          <a:p>
            <a:pPr marL="857250" indent="-8572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6000" dirty="0">
                <a:solidFill>
                  <a:schemeClr val="bg1"/>
                </a:solidFill>
              </a:rPr>
              <a:t>Calls a </a:t>
            </a:r>
            <a:r>
              <a:rPr lang="en-US" sz="6000" i="1" dirty="0">
                <a:solidFill>
                  <a:schemeClr val="bg1"/>
                </a:solidFill>
              </a:rPr>
              <a:t>function</a:t>
            </a:r>
            <a:r>
              <a:rPr lang="en-US" sz="6000" dirty="0">
                <a:solidFill>
                  <a:schemeClr val="bg1"/>
                </a:solidFill>
              </a:rPr>
              <a:t> named </a:t>
            </a:r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fun</a:t>
            </a:r>
          </a:p>
        </p:txBody>
      </p:sp>
    </p:spTree>
    <p:extLst>
      <p:ext uri="{BB962C8B-B14F-4D97-AF65-F5344CB8AC3E}">
        <p14:creationId xmlns:p14="http://schemas.microsoft.com/office/powerpoint/2010/main" val="3879963464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7150" indent="0" algn="ctr">
              <a:buNone/>
            </a:pP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400" dirty="0" err="1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"fun()"</a:t>
            </a: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Fun</a:t>
            </a: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830900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value of the variable </a:t>
            </a:r>
            <a:r>
              <a:rPr lang="en-US" sz="4000" cap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0" y="1143000"/>
            <a:ext cx="9486900" cy="5257800"/>
          </a:xfrm>
        </p:spPr>
        <p:txBody>
          <a:bodyPr anchor="ctr"/>
          <a:lstStyle/>
          <a:p>
            <a:pPr marL="57150" indent="0">
              <a:buNone/>
            </a:pPr>
            <a:r>
              <a:rPr lang="en-US" sz="80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8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 = </a:t>
            </a:r>
            <a:r>
              <a:rPr lang="en-US" sz="80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endParaRPr lang="en-US" sz="8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8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80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 / </a:t>
            </a:r>
            <a:r>
              <a:rPr lang="en-US" sz="8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8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220707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84041-0BAE-A4E6-5F47-08BA6972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2ECB-B73C-D601-BF6C-72B0B8C8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3D6A4-477E-06E5-35B3-DC755B26C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7150" indent="0" algn="ctr">
              <a:buNone/>
            </a:pPr>
            <a:r>
              <a:rPr lang="en-US" sz="11500" b="1">
                <a:solidFill>
                  <a:schemeClr val="accent2"/>
                </a:solidFill>
                <a:latin typeface="+mj-lt"/>
              </a:rPr>
              <a:t>9.</a:t>
            </a:r>
            <a:r>
              <a:rPr lang="en-US" sz="11500" b="1" dirty="0">
                <a:solidFill>
                  <a:schemeClr val="accent2"/>
                </a:solidFill>
                <a:latin typeface="+mj-lt"/>
              </a:rPr>
              <a:t>5</a:t>
            </a:r>
            <a:endParaRPr lang="en-US" sz="72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6381622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73518"/>
            <a:ext cx="10972800" cy="710964"/>
          </a:xfrm>
        </p:spPr>
        <p:txBody>
          <a:bodyPr/>
          <a:lstStyle/>
          <a:p>
            <a:r>
              <a:rPr lang="en-US" dirty="0"/>
              <a:t>Tie-breaker</a:t>
            </a:r>
          </a:p>
        </p:txBody>
      </p:sp>
    </p:spTree>
    <p:extLst>
      <p:ext uri="{BB962C8B-B14F-4D97-AF65-F5344CB8AC3E}">
        <p14:creationId xmlns:p14="http://schemas.microsoft.com/office/powerpoint/2010/main" val="24583326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the user see if they click?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43100"/>
            <a:ext cx="7429500" cy="3657600"/>
          </a:xfrm>
          <a:solidFill>
            <a:schemeClr val="accent2">
              <a:alpha val="9000"/>
            </a:schemeClr>
          </a:solidFill>
          <a:ln w="412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pPr marL="5715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 index.html file --&gt;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&lt;head&gt;&lt;/head&gt;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"go()"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Go!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53400" y="2743200"/>
            <a:ext cx="3825406" cy="1772793"/>
          </a:xfrm>
          <a:prstGeom prst="rect">
            <a:avLst/>
          </a:prstGeom>
          <a:solidFill>
            <a:srgbClr val="FF0000">
              <a:alpha val="9000"/>
            </a:srgbClr>
          </a:solidFill>
          <a:ln w="34925">
            <a:solidFill>
              <a:srgbClr val="FF0000"/>
            </a:solidFill>
          </a:ln>
        </p:spPr>
        <p:txBody>
          <a:bodyPr wrap="none" lIns="182880" tIns="146304" rIns="182880" bIns="146304" rtlCol="0">
            <a:spAutoFit/>
          </a:bodyPr>
          <a:lstStyle/>
          <a:p>
            <a:pPr marL="5715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 script.js file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go(){</a:t>
            </a:r>
          </a:p>
          <a:p>
            <a:pPr marL="5715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alert(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"Hello!"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5715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415476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7150" indent="0" algn="ctr">
              <a:buNone/>
            </a:pPr>
            <a:r>
              <a:rPr lang="en-US" sz="4400" dirty="0"/>
              <a:t>Nothing! Always remember to include the script file in the HTML 🙂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71749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yland 2019">
  <a:themeElements>
    <a:clrScheme name="Hyland">
      <a:dk1>
        <a:srgbClr val="56565A"/>
      </a:dk1>
      <a:lt1>
        <a:srgbClr val="FFFFFF"/>
      </a:lt1>
      <a:dk2>
        <a:srgbClr val="56565A"/>
      </a:dk2>
      <a:lt2>
        <a:srgbClr val="EFEFF0"/>
      </a:lt2>
      <a:accent1>
        <a:srgbClr val="54C8E8"/>
      </a:accent1>
      <a:accent2>
        <a:srgbClr val="6ABF4B"/>
      </a:accent2>
      <a:accent3>
        <a:srgbClr val="98989A"/>
      </a:accent3>
      <a:accent4>
        <a:srgbClr val="C8C8C8"/>
      </a:accent4>
      <a:accent5>
        <a:srgbClr val="EFEFF0"/>
      </a:accent5>
      <a:accent6>
        <a:srgbClr val="FFFFFF"/>
      </a:accent6>
      <a:hlink>
        <a:srgbClr val="6ABF4B"/>
      </a:hlink>
      <a:folHlink>
        <a:srgbClr val="6ABF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yland">
      <a:fillStyleLst>
        <a:solidFill>
          <a:schemeClr val="phClr"/>
        </a:solidFill>
        <a:solidFill>
          <a:schemeClr val="phClr">
            <a:satMod val="180000"/>
            <a:tint val="40000"/>
          </a:schemeClr>
        </a:solidFill>
        <a:solidFill>
          <a:schemeClr val="phClr">
            <a:shade val="40000"/>
          </a:schemeClr>
        </a:solidFill>
      </a:fillStyleLst>
      <a:lnStyleLst>
        <a:ln>
          <a:solidFill>
            <a:schemeClr val="phClr"/>
          </a:solidFill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</a:ln>
        <a:ln>
          <a:solidFill>
            <a:schemeClr val="phClr"/>
          </a:solidFill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 bwMode="auto">
        <a:solidFill>
          <a:schemeClr val="accent5"/>
        </a:solidFill>
        <a:ln w="1270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>
          <a:miter lim="800000"/>
          <a:headEnd type="none"/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custClrLst>
    <a:custClr name="Hyland Green">
      <a:srgbClr val="6ABF4B"/>
    </a:custClr>
    <a:custClr name="Technology Blue">
      <a:srgbClr val="00586F"/>
    </a:custClr>
    <a:custClr name="Bright Blue">
      <a:srgbClr val="54C8E8"/>
    </a:custClr>
    <a:custClr name="Light Blue">
      <a:srgbClr val="96DAEA"/>
    </a:custClr>
    <a:custClr name="Pink">
      <a:srgbClr val="E95EBE"/>
    </a:custClr>
    <a:custClr name="Dark Gray">
      <a:srgbClr val="56565A"/>
    </a:custClr>
    <a:custClr name="Medium Gray">
      <a:srgbClr val="98989A"/>
    </a:custClr>
    <a:custClr name="Light Gray">
      <a:srgbClr val="C8C8C8"/>
    </a:custClr>
    <a:custClr name="Pale Gray">
      <a:srgbClr val="EFEFF0"/>
    </a:custClr>
    <a:custClr name="White">
      <a:srgbClr val="FFFFFF"/>
    </a:custClr>
    <a:custClr name="Orange">
      <a:srgbClr val="FF8300"/>
    </a:custClr>
    <a:custClr name="Purple">
      <a:srgbClr val="624B78"/>
    </a:custClr>
    <a:custClr name="Yellow">
      <a:srgbClr val="FFB71B"/>
    </a:custClr>
    <a:custClr name="Dark Blue">
      <a:srgbClr val="00303C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556</Words>
  <Application>Microsoft Office PowerPoint</Application>
  <PresentationFormat>Widescreen</PresentationFormat>
  <Paragraphs>169</Paragraphs>
  <Slides>42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Black</vt:lpstr>
      <vt:lpstr>Calibri</vt:lpstr>
      <vt:lpstr>Consolas</vt:lpstr>
      <vt:lpstr>Segoe UI</vt:lpstr>
      <vt:lpstr>Wingdings</vt:lpstr>
      <vt:lpstr>Hyland 2019</vt:lpstr>
      <vt:lpstr>Review Game</vt:lpstr>
      <vt:lpstr>What’s the data type?</vt:lpstr>
      <vt:lpstr>Answer</vt:lpstr>
      <vt:lpstr>Write the correct script tag to include a javascript file named script.js</vt:lpstr>
      <vt:lpstr>Answer</vt:lpstr>
      <vt:lpstr>What’s the data type?</vt:lpstr>
      <vt:lpstr>Answer</vt:lpstr>
      <vt:lpstr>What’s the data type?</vt:lpstr>
      <vt:lpstr>Answer</vt:lpstr>
      <vt:lpstr>What do buttons call when they are clicked?</vt:lpstr>
      <vt:lpstr>Answer</vt:lpstr>
      <vt:lpstr>What’s the data type?</vt:lpstr>
      <vt:lpstr>Answer</vt:lpstr>
      <vt:lpstr>What is the value of the variable x?</vt:lpstr>
      <vt:lpstr>Answer</vt:lpstr>
      <vt:lpstr>What’s the data type?</vt:lpstr>
      <vt:lpstr>Answer</vt:lpstr>
      <vt:lpstr>What keyword is needed to define  a function?</vt:lpstr>
      <vt:lpstr>Answer</vt:lpstr>
      <vt:lpstr>What is the value of the variable x?</vt:lpstr>
      <vt:lpstr>Answer</vt:lpstr>
      <vt:lpstr>Write the proper attribute to call a function named SendMessage when a button is clicked</vt:lpstr>
      <vt:lpstr>Answer</vt:lpstr>
      <vt:lpstr>What’s the data type?</vt:lpstr>
      <vt:lpstr>Answer</vt:lpstr>
      <vt:lpstr>What’s the data type?</vt:lpstr>
      <vt:lpstr>Answer</vt:lpstr>
      <vt:lpstr>Define a function named SendMessage that displays a message to the user</vt:lpstr>
      <vt:lpstr>Answer</vt:lpstr>
      <vt:lpstr>What’s the data type?</vt:lpstr>
      <vt:lpstr>Answer</vt:lpstr>
      <vt:lpstr>What’s the data type?</vt:lpstr>
      <vt:lpstr>Answer</vt:lpstr>
      <vt:lpstr>What’s the data type?</vt:lpstr>
      <vt:lpstr>Answer</vt:lpstr>
      <vt:lpstr>PowerPoint Presentation</vt:lpstr>
      <vt:lpstr>Answer</vt:lpstr>
      <vt:lpstr>What is the value of the variable x?</vt:lpstr>
      <vt:lpstr>Answer</vt:lpstr>
      <vt:lpstr>Tie-breaker</vt:lpstr>
      <vt:lpstr>What will the user see if they click?</vt:lpstr>
      <vt:lpstr>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Turner</dc:creator>
  <cp:lastModifiedBy>Joseph Maxwell</cp:lastModifiedBy>
  <cp:revision>90</cp:revision>
  <dcterms:created xsi:type="dcterms:W3CDTF">2019-03-11T04:04:09Z</dcterms:created>
  <dcterms:modified xsi:type="dcterms:W3CDTF">2026-06-08T18:33:57Z</dcterms:modified>
</cp:coreProperties>
</file>