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0"/>
  </p:notesMasterIdLst>
  <p:sldIdLst>
    <p:sldId id="256" r:id="rId2"/>
    <p:sldId id="328" r:id="rId3"/>
    <p:sldId id="323" r:id="rId4"/>
    <p:sldId id="319" r:id="rId5"/>
    <p:sldId id="324" r:id="rId6"/>
    <p:sldId id="320" r:id="rId7"/>
    <p:sldId id="325" r:id="rId8"/>
    <p:sldId id="305" r:id="rId9"/>
    <p:sldId id="326" r:id="rId10"/>
    <p:sldId id="321" r:id="rId11"/>
    <p:sldId id="327" r:id="rId12"/>
    <p:sldId id="322" r:id="rId13"/>
    <p:sldId id="307" r:id="rId14"/>
    <p:sldId id="308" r:id="rId15"/>
    <p:sldId id="309" r:id="rId16"/>
    <p:sldId id="310" r:id="rId17"/>
    <p:sldId id="311" r:id="rId18"/>
    <p:sldId id="279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Krona One" panose="020B0604020202020204" charset="0"/>
      <p:regular r:id="rId25"/>
    </p:embeddedFont>
    <p:embeddedFont>
      <p:font typeface="Miriam Libre" panose="00000500000000000000" pitchFamily="2" charset="-79"/>
      <p:regular r:id="rId26"/>
      <p:bold r:id="rId27"/>
    </p:embeddedFont>
    <p:embeddedFont>
      <p:font typeface="Roboto Condensed Light" panose="02000000000000000000" pitchFamily="2" charset="0"/>
      <p:regular r:id="rId28"/>
      <p:italic r:id="rId29"/>
    </p:embeddedFont>
    <p:embeddedFont>
      <p:font typeface="Segoe UI" panose="020B0502040204020203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069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https://replit.com/@HylandOutreach</a:t>
            </a:r>
            <a:r>
              <a:rPr lang="en-US"/>
              <a:t>/BasicElementsExample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08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</a:t>
            </a:r>
            <a:r>
              <a:rPr lang="en-US" baseline="0" dirty="0"/>
              <a:t> what </a:t>
            </a:r>
            <a:r>
              <a:rPr lang="en-US" b="1" baseline="0" dirty="0" err="1"/>
              <a:t>href</a:t>
            </a:r>
            <a:r>
              <a:rPr lang="en-US" baseline="0" dirty="0"/>
              <a:t> does – it tells the link where to go when clicked!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28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</a:t>
            </a:r>
            <a:r>
              <a:rPr lang="en-US" baseline="0" dirty="0"/>
              <a:t> each part of the attribute syntax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7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these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85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the </a:t>
            </a:r>
            <a:r>
              <a:rPr lang="en-US" dirty="0" err="1"/>
              <a:t>Repl</a:t>
            </a:r>
            <a:r>
              <a:rPr lang="en-US" dirty="0"/>
              <a:t> to show attributes in action. Uncomment the commented lines of code to display</a:t>
            </a:r>
            <a:r>
              <a:rPr lang="en-US" baseline="0" dirty="0"/>
              <a:t> them. You should be able to use </a:t>
            </a:r>
            <a:r>
              <a:rPr lang="en-US" b="1" baseline="0" dirty="0"/>
              <a:t>Ctrl</a:t>
            </a:r>
            <a:r>
              <a:rPr lang="en-US" baseline="0" dirty="0"/>
              <a:t>+</a:t>
            </a:r>
            <a:r>
              <a:rPr lang="en-US" b="1" baseline="0" dirty="0"/>
              <a:t>/</a:t>
            </a:r>
            <a:r>
              <a:rPr lang="en-US" baseline="0" dirty="0"/>
              <a:t> to comment and uncomment code in </a:t>
            </a:r>
            <a:r>
              <a:rPr lang="en-US" baseline="0" dirty="0" err="1"/>
              <a:t>Repl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25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37160"/>
            <a:ext cx="8572500" cy="6858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011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561425" y="622625"/>
            <a:ext cx="4010100" cy="4063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775983" y="3746300"/>
            <a:ext cx="3957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85700" y="540000"/>
            <a:ext cx="4010100" cy="4063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712075" y="3663675"/>
            <a:ext cx="39462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85700" y="539375"/>
            <a:ext cx="40101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5403825" y="3806375"/>
            <a:ext cx="2562600" cy="6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787800" y="622625"/>
            <a:ext cx="39462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712075" y="540000"/>
            <a:ext cx="39462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712075" y="539375"/>
            <a:ext cx="39462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946375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132300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318225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ctrTitle"/>
          </p:nvPr>
        </p:nvSpPr>
        <p:spPr>
          <a:xfrm>
            <a:off x="4946375" y="1706075"/>
            <a:ext cx="3477600" cy="7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3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title" idx="2" hasCustomPrompt="1"/>
          </p:nvPr>
        </p:nvSpPr>
        <p:spPr>
          <a:xfrm>
            <a:off x="1001400" y="1749150"/>
            <a:ext cx="278790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38439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699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1" r:id="rId3"/>
    <p:sldLayoutId id="2147483672" r:id="rId4"/>
    <p:sldLayoutId id="2147483673" r:id="rId5"/>
    <p:sldLayoutId id="2147483674" r:id="rId6"/>
    <p:sldLayoutId id="2147483679" r:id="rId7"/>
    <p:sldLayoutId id="2147483680" r:id="rId8"/>
    <p:sldLayoutId id="214748368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mxtdvL1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Lhodz46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HTML</a:t>
            </a:r>
            <a:br>
              <a:rPr lang="en" sz="5400" dirty="0"/>
            </a:br>
            <a:r>
              <a:rPr lang="en" sz="6600" dirty="0">
                <a:highlight>
                  <a:schemeClr val="accent3"/>
                </a:highlight>
              </a:rPr>
              <a:t>Elements</a:t>
            </a:r>
            <a:endParaRPr sz="2000" dirty="0">
              <a:highlight>
                <a:schemeClr val="accent3"/>
              </a:highlight>
            </a:endParaRPr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HTO: Website Development</a:t>
            </a:r>
            <a:endParaRPr lang="en-US"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iodic-table-of-elements · GitHub Topics · GitHub">
            <a:extLst>
              <a:ext uri="{FF2B5EF4-FFF2-40B4-BE49-F238E27FC236}">
                <a16:creationId xmlns:a16="http://schemas.microsoft.com/office/drawing/2014/main" id="{C2517508-AB52-A9AA-151D-69727559A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4" b="1"/>
          <a:stretch>
            <a:fillRect/>
          </a:stretch>
        </p:blipFill>
        <p:spPr bwMode="auto">
          <a:xfrm>
            <a:off x="177228" y="219749"/>
            <a:ext cx="4571981" cy="25717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8629F4-154C-9058-BDD3-C5515E673E65}"/>
              </a:ext>
            </a:extLst>
          </p:cNvPr>
          <p:cNvSpPr txBox="1"/>
          <p:nvPr/>
        </p:nvSpPr>
        <p:spPr>
          <a:xfrm>
            <a:off x="177227" y="2571780"/>
            <a:ext cx="4571981" cy="257172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The chemical elements make up our entire universe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D0C0D7-0F36-05CF-34B8-B8EC4ABD33A1}"/>
              </a:ext>
            </a:extLst>
          </p:cNvPr>
          <p:cNvSpPr/>
          <p:nvPr/>
        </p:nvSpPr>
        <p:spPr>
          <a:xfrm>
            <a:off x="5394271" y="219749"/>
            <a:ext cx="3572501" cy="2571740"/>
          </a:xfrm>
          <a:prstGeom prst="rect">
            <a:avLst/>
          </a:prstGeom>
          <a:solidFill>
            <a:srgbClr val="240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&lt;p&gt;Fire&lt;/p&gt;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&lt;p&gt;Water&lt;/p&gt;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&lt;p&gt;Earth&lt;/p&gt;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&lt;p&gt;Air&lt;/p&gt;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A86A1-58EA-8690-29F9-F5695DE31BAD}"/>
              </a:ext>
            </a:extLst>
          </p:cNvPr>
          <p:cNvSpPr txBox="1"/>
          <p:nvPr/>
        </p:nvSpPr>
        <p:spPr>
          <a:xfrm>
            <a:off x="5394271" y="3005460"/>
            <a:ext cx="3572500" cy="191829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3600" dirty="0">
                <a:solidFill>
                  <a:srgbClr val="24069D"/>
                </a:solidFill>
              </a:rPr>
              <a:t>HTML elements make up a website</a:t>
            </a:r>
          </a:p>
        </p:txBody>
      </p:sp>
    </p:spTree>
    <p:extLst>
      <p:ext uri="{BB962C8B-B14F-4D97-AF65-F5344CB8AC3E}">
        <p14:creationId xmlns:p14="http://schemas.microsoft.com/office/powerpoint/2010/main" val="93329227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24852B-234A-0E2C-D790-30CFBBEE89A1}"/>
              </a:ext>
            </a:extLst>
          </p:cNvPr>
          <p:cNvSpPr txBox="1"/>
          <p:nvPr/>
        </p:nvSpPr>
        <p:spPr>
          <a:xfrm>
            <a:off x="504265" y="457201"/>
            <a:ext cx="76754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Krona One" panose="020B0604020202020204" charset="0"/>
              </a:rPr>
              <a:t>The Fundamental Elements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45632-B413-935D-DC82-85FFFAA660E7}"/>
              </a:ext>
            </a:extLst>
          </p:cNvPr>
          <p:cNvSpPr txBox="1"/>
          <p:nvPr/>
        </p:nvSpPr>
        <p:spPr>
          <a:xfrm>
            <a:off x="625289" y="1405218"/>
            <a:ext cx="34021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</a:rPr>
              <a:t>&lt;html&gt;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&lt;body&gt;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  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&lt;..stuff..&gt; </a:t>
            </a:r>
            <a:endParaRPr lang="en-US" sz="36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latin typeface="Consolas" panose="020B0609020204030204" pitchFamily="49" charset="0"/>
              </a:rPr>
              <a:t>  &lt;/body&gt;</a:t>
            </a:r>
          </a:p>
          <a:p>
            <a:r>
              <a:rPr lang="en-US" sz="3600">
                <a:latin typeface="Consolas" panose="020B0609020204030204" pitchFamily="49" charset="0"/>
              </a:rPr>
              <a:t>&lt;/html</a:t>
            </a:r>
            <a:r>
              <a:rPr lang="en-US" sz="3600" dirty="0">
                <a:latin typeface="Consolas" panose="020B0609020204030204" pitchFamily="49" charset="0"/>
              </a:rPr>
              <a:t>&gt;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FECE5D-C54A-0FDB-55E3-5D52355EB517}"/>
              </a:ext>
            </a:extLst>
          </p:cNvPr>
          <p:cNvCxnSpPr/>
          <p:nvPr/>
        </p:nvCxnSpPr>
        <p:spPr>
          <a:xfrm>
            <a:off x="2312894" y="1741394"/>
            <a:ext cx="17145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92A3F4-2122-4283-B297-751E925337CB}"/>
              </a:ext>
            </a:extLst>
          </p:cNvPr>
          <p:cNvCxnSpPr/>
          <p:nvPr/>
        </p:nvCxnSpPr>
        <p:spPr>
          <a:xfrm>
            <a:off x="2823882" y="2306171"/>
            <a:ext cx="20708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293593-F517-EED7-DF13-2BBF8A5D37B6}"/>
              </a:ext>
            </a:extLst>
          </p:cNvPr>
          <p:cNvCxnSpPr/>
          <p:nvPr/>
        </p:nvCxnSpPr>
        <p:spPr>
          <a:xfrm>
            <a:off x="3751729" y="2877671"/>
            <a:ext cx="18220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82A284-F739-7AD3-9745-02B4B7099EC4}"/>
              </a:ext>
            </a:extLst>
          </p:cNvPr>
          <p:cNvSpPr txBox="1"/>
          <p:nvPr/>
        </p:nvSpPr>
        <p:spPr>
          <a:xfrm>
            <a:off x="4027395" y="1550006"/>
            <a:ext cx="4491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iriam Libre" panose="00000500000000000000" pitchFamily="2" charset="-79"/>
                <a:cs typeface="Miriam Libre" panose="00000500000000000000" pitchFamily="2" charset="-79"/>
              </a:rPr>
              <a:t>“Root” element - contains entire document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EC6EFF-7935-96B9-5B53-3E9365A52294}"/>
              </a:ext>
            </a:extLst>
          </p:cNvPr>
          <p:cNvSpPr txBox="1"/>
          <p:nvPr/>
        </p:nvSpPr>
        <p:spPr>
          <a:xfrm>
            <a:off x="4982135" y="2121505"/>
            <a:ext cx="2649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iriam Libre" panose="00000500000000000000" pitchFamily="2" charset="-79"/>
                <a:cs typeface="Miriam Libre" panose="00000500000000000000" pitchFamily="2" charset="-79"/>
              </a:rPr>
              <a:t>HTML content element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A66B9-8B31-F92F-17CF-CACD5739B42F}"/>
              </a:ext>
            </a:extLst>
          </p:cNvPr>
          <p:cNvSpPr txBox="1"/>
          <p:nvPr/>
        </p:nvSpPr>
        <p:spPr>
          <a:xfrm>
            <a:off x="5658971" y="2686280"/>
            <a:ext cx="2731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iriam Libre" panose="00000500000000000000" pitchFamily="2" charset="-79"/>
                <a:cs typeface="Miriam Libre" panose="00000500000000000000" pitchFamily="2" charset="-79"/>
              </a:rPr>
              <a:t>Everything that is visible!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C1921F-6671-3934-3AE0-042EF1986F89}"/>
              </a:ext>
            </a:extLst>
          </p:cNvPr>
          <p:cNvSpPr/>
          <p:nvPr/>
        </p:nvSpPr>
        <p:spPr>
          <a:xfrm>
            <a:off x="4027395" y="3381937"/>
            <a:ext cx="4202205" cy="88560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Miriam Libre" panose="00000500000000000000" pitchFamily="2" charset="-79"/>
                <a:cs typeface="Miriam Libre" panose="00000500000000000000" pitchFamily="2" charset="-79"/>
              </a:rPr>
              <a:t>The code will work without these… but you should add them anyway!</a:t>
            </a:r>
          </a:p>
        </p:txBody>
      </p:sp>
    </p:spTree>
    <p:extLst>
      <p:ext uri="{BB962C8B-B14F-4D97-AF65-F5344CB8AC3E}">
        <p14:creationId xmlns:p14="http://schemas.microsoft.com/office/powerpoint/2010/main" val="401235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7E17FD-13CD-DF44-26D9-56818BDD0162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Header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070784"/>
            <a:ext cx="8572500" cy="1222144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Used for page headings or titles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There are six header elements –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h1</a:t>
            </a:r>
            <a:r>
              <a:rPr lang="en-US" sz="2400" dirty="0">
                <a:solidFill>
                  <a:schemeClr val="bg1"/>
                </a:solidFill>
              </a:rPr>
              <a:t> through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1" y="2571750"/>
            <a:ext cx="7621958" cy="1578894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This is the biggest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h6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This is the smallest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h6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36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Aft>
                <a:spcPts val="450"/>
              </a:spcAft>
            </a:pPr>
            <a:endParaRPr lang="en-US" sz="18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5890759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7E17FD-13CD-DF44-26D9-56818BDD0162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Header Elements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504C91-F92E-0E55-B0E8-34720775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40" y="1436603"/>
            <a:ext cx="8138319" cy="227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1477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E3FFA3-15BD-3901-E2F8-25B2099C9B53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Paragraph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9" y="1136072"/>
            <a:ext cx="7704000" cy="1269757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Displays common text on the page</a:t>
            </a:r>
          </a:p>
          <a:p>
            <a:pPr lvl="1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The content does not have to be multiple sentences</a:t>
            </a: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Each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&lt;p&gt;&lt;/p&gt;</a:t>
            </a:r>
            <a:r>
              <a:rPr lang="en-US" sz="2000" dirty="0">
                <a:solidFill>
                  <a:schemeClr val="bg1"/>
                </a:solidFill>
              </a:rPr>
              <a:t> creates a new line under it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4383" y="2975264"/>
            <a:ext cx="7875233" cy="775597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This will appear normal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600" b="1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36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5199107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E3FFA3-15BD-3901-E2F8-25B2099C9B53}"/>
              </a:ext>
            </a:extLst>
          </p:cNvPr>
          <p:cNvSpPr/>
          <p:nvPr/>
        </p:nvSpPr>
        <p:spPr>
          <a:xfrm>
            <a:off x="285749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Paragraph Element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30F80-71B3-5938-01B5-81717C8F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10" y="1699649"/>
            <a:ext cx="8356978" cy="148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5833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E8C6AD-BD43-04CA-D8C8-389B386D3285}"/>
              </a:ext>
            </a:extLst>
          </p:cNvPr>
          <p:cNvSpPr/>
          <p:nvPr/>
        </p:nvSpPr>
        <p:spPr>
          <a:xfrm>
            <a:off x="285750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Hyperlink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1" y="1152475"/>
            <a:ext cx="8572500" cy="1549161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Used to create a link to another page</a:t>
            </a: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Set the </a:t>
            </a:r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href</a:t>
            </a:r>
            <a:r>
              <a:rPr lang="en-US" sz="2000" dirty="0">
                <a:solidFill>
                  <a:schemeClr val="bg1"/>
                </a:solidFill>
              </a:rPr>
              <a:t> to a URL</a:t>
            </a: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The text of the link goes in between the opening and closing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298" y="3257550"/>
            <a:ext cx="8529258" cy="683264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3000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30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30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en-US" sz="30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3000" b="1" dirty="0">
                <a:solidFill>
                  <a:srgbClr val="CE9178"/>
                </a:solidFill>
                <a:latin typeface="Consolas" panose="020B0609020204030204" pitchFamily="49" charset="0"/>
              </a:rPr>
              <a:t>"https://google.com"</a:t>
            </a:r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Google</a:t>
            </a:r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3000" b="1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3000" b="1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30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667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E8C6AD-BD43-04CA-D8C8-389B386D3285}"/>
              </a:ext>
            </a:extLst>
          </p:cNvPr>
          <p:cNvSpPr/>
          <p:nvPr/>
        </p:nvSpPr>
        <p:spPr>
          <a:xfrm>
            <a:off x="292202" y="1014162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Hyperlink Element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4C29BE-4D75-9678-9CDA-8B6D2359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8365D0-7274-9339-3C8E-0C360410D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78" y="2023033"/>
            <a:ext cx="8062022" cy="141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418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DE89CA-A60D-1CBA-419F-E45ECDC38EAE}"/>
              </a:ext>
            </a:extLst>
          </p:cNvPr>
          <p:cNvSpPr/>
          <p:nvPr/>
        </p:nvSpPr>
        <p:spPr>
          <a:xfrm>
            <a:off x="303784" y="822960"/>
            <a:ext cx="8572500" cy="3839095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Image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857250"/>
            <a:ext cx="8572500" cy="1800225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Used to display an image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Set the 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chemeClr val="bg1"/>
                </a:solidFill>
              </a:rPr>
              <a:t> to a URL</a:t>
            </a:r>
          </a:p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1"/>
                </a:solidFill>
              </a:rPr>
              <a:t>This element has no closing tag – it is </a:t>
            </a:r>
            <a:r>
              <a:rPr lang="en-US" sz="2400" b="1" i="1" dirty="0">
                <a:solidFill>
                  <a:schemeClr val="bg1"/>
                </a:solidFill>
              </a:rPr>
              <a:t>self-closing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494" y="3257550"/>
            <a:ext cx="8861080" cy="637097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r>
              <a:rPr lang="en-US" sz="2700" b="1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7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img</a:t>
            </a:r>
            <a:r>
              <a:rPr lang="en-US" sz="27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700" b="1" dirty="0" err="1">
                <a:solidFill>
                  <a:srgbClr val="9CDCFE"/>
                </a:solidFill>
                <a:latin typeface="Consolas" panose="020B0609020204030204" pitchFamily="49" charset="0"/>
              </a:rPr>
              <a:t>src</a:t>
            </a:r>
            <a:r>
              <a:rPr lang="en-US" sz="27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700" b="1" dirty="0">
                <a:solidFill>
                  <a:srgbClr val="CE9178"/>
                </a:solidFill>
                <a:latin typeface="Consolas" panose="020B0609020204030204" pitchFamily="49" charset="0"/>
              </a:rPr>
              <a:t>"https://i.imgur.com/GfT5Z9R.png"</a:t>
            </a:r>
            <a:r>
              <a:rPr lang="en-US" sz="27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700" b="1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US" sz="27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4151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45A1-788D-79E8-5CFC-B30C7407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Image Element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0EFF6-C771-F22E-7094-EE536E73E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9CF40-F384-27DD-1F49-CE5A4300E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4" y="1018958"/>
            <a:ext cx="8354591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9914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000" b="1" dirty="0">
                <a:solidFill>
                  <a:schemeClr val="tx1"/>
                </a:solidFill>
                <a:highlight>
                  <a:srgbClr val="C0C0C0"/>
                </a:highlight>
                <a:hlinkClick r:id="rId3"/>
              </a:rPr>
              <a:t>https://jsfiddle.net/mxtdvL10/</a:t>
            </a:r>
            <a:r>
              <a:rPr lang="en-US" sz="2000" b="1" dirty="0">
                <a:solidFill>
                  <a:schemeClr val="tx1"/>
                </a:solidFill>
                <a:highlight>
                  <a:srgbClr val="C0C0C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1068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7C52EB69-F063-EF3D-540C-8306D4D06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3685308"/>
            <a:ext cx="3920837" cy="928255"/>
          </a:xfrm>
        </p:spPr>
        <p:txBody>
          <a:bodyPr anchor="ctr"/>
          <a:lstStyle/>
          <a:p>
            <a:pPr algn="l"/>
            <a:r>
              <a:rPr lang="en-US" b="0" i="1" dirty="0">
                <a:solidFill>
                  <a:schemeClr val="tx1"/>
                </a:solidFill>
                <a:effectLst/>
                <a:latin typeface="Miriam Libre" panose="00000500000000000000" pitchFamily="2" charset="-79"/>
                <a:cs typeface="Miriam Libre" panose="00000500000000000000" pitchFamily="2" charset="-79"/>
              </a:rPr>
              <a:t>Qualities or features regarded as a characteristic or inherent part of someone or something.</a:t>
            </a:r>
            <a:endParaRPr lang="en-US" i="1" dirty="0">
              <a:solidFill>
                <a:schemeClr val="tx1"/>
              </a:solidFill>
              <a:latin typeface="Miriam Libre" panose="00000500000000000000" pitchFamily="2" charset="-79"/>
              <a:cs typeface="Miriam Libre" panose="00000500000000000000" pitchFamily="2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2"/>
          </p:nvPr>
        </p:nvSpPr>
        <p:spPr>
          <a:xfrm>
            <a:off x="4786745" y="1658457"/>
            <a:ext cx="3803073" cy="1645200"/>
          </a:xfrm>
        </p:spPr>
        <p:txBody>
          <a:bodyPr/>
          <a:lstStyle/>
          <a:p>
            <a:r>
              <a:rPr lang="en-US" sz="4000" dirty="0"/>
              <a:t>Attributes</a:t>
            </a:r>
          </a:p>
        </p:txBody>
      </p:sp>
      <p:pic>
        <p:nvPicPr>
          <p:cNvPr id="1030" name="Picture 6" descr="Image result for rpg attribut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70"/>
          <a:stretch/>
        </p:blipFill>
        <p:spPr bwMode="auto">
          <a:xfrm>
            <a:off x="122928" y="470405"/>
            <a:ext cx="4449072" cy="43094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23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4E0396-480B-2654-6D06-5725DE75E089}"/>
              </a:ext>
            </a:extLst>
          </p:cNvPr>
          <p:cNvSpPr/>
          <p:nvPr/>
        </p:nvSpPr>
        <p:spPr bwMode="auto">
          <a:xfrm>
            <a:off x="473222" y="1303505"/>
            <a:ext cx="8137378" cy="3394969"/>
          </a:xfrm>
          <a:prstGeom prst="rect">
            <a:avLst/>
          </a:prstGeom>
          <a:solidFill>
            <a:srgbClr val="000000"/>
          </a:solidFill>
          <a:ln w="41275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Attribute Example: </a:t>
            </a:r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</a:rPr>
              <a:t>&lt;a&gt;</a:t>
            </a:r>
            <a:endParaRPr 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0" y="1700707"/>
            <a:ext cx="9144000" cy="620170"/>
          </a:xfrm>
        </p:spPr>
        <p:txBody>
          <a:bodyPr>
            <a:normAutofit/>
          </a:bodyPr>
          <a:lstStyle/>
          <a:p>
            <a:pPr marL="42863" indent="0" algn="ctr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"http://wikipedia.org/"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Wikipedia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03268" y="1725413"/>
            <a:ext cx="4837314" cy="514350"/>
          </a:xfrm>
          <a:prstGeom prst="rect">
            <a:avLst/>
          </a:prstGeom>
          <a:solidFill>
            <a:srgbClr val="FFFF00">
              <a:alpha val="29020"/>
            </a:srgbClr>
          </a:solidFill>
          <a:ln w="41275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2718079"/>
            <a:ext cx="4511998" cy="620170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2400" b="1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Q: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What does the </a:t>
            </a:r>
            <a:r>
              <a:rPr lang="en-US" sz="2800" dirty="0" err="1">
                <a:solidFill>
                  <a:srgbClr val="9CDCFE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href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036" y="3338249"/>
            <a:ext cx="7785800" cy="951030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2400" b="1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A: 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The </a:t>
            </a:r>
            <a:r>
              <a:rPr lang="en-US" sz="2800" dirty="0" err="1">
                <a:solidFill>
                  <a:srgbClr val="9CDCFE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href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</a:t>
            </a:r>
            <a:r>
              <a:rPr lang="en-US" sz="2400" i="1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attribute</a:t>
            </a:r>
            <a:r>
              <a:rPr lang="en-US" sz="2400" dirty="0">
                <a:solidFill>
                  <a:schemeClr val="accent6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 specifies the destination URL for the link</a:t>
            </a:r>
          </a:p>
        </p:txBody>
      </p:sp>
    </p:spTree>
    <p:extLst>
      <p:ext uri="{BB962C8B-B14F-4D97-AF65-F5344CB8AC3E}">
        <p14:creationId xmlns:p14="http://schemas.microsoft.com/office/powerpoint/2010/main" val="288920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Attributes?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95745" y="1351850"/>
            <a:ext cx="7987145" cy="3251700"/>
          </a:xfrm>
        </p:spPr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2000" dirty="0"/>
              <a:t>Attributes add extra information to HTML elements</a:t>
            </a:r>
          </a:p>
          <a:p>
            <a:pPr marL="609600" lvl="1" indent="0">
              <a:buNone/>
            </a:pPr>
            <a:r>
              <a:rPr lang="en-US" sz="1800" dirty="0"/>
              <a:t>They allow developers to customize the behavior of elements</a:t>
            </a:r>
          </a:p>
          <a:p>
            <a:pPr marL="609600" lvl="1" indent="0">
              <a:buNone/>
            </a:pPr>
            <a:endParaRPr lang="en-US" sz="1800" dirty="0"/>
          </a:p>
          <a:p>
            <a:pPr marL="152400" indent="0">
              <a:buNone/>
            </a:pPr>
            <a:r>
              <a:rPr lang="en-US" sz="2000" dirty="0"/>
              <a:t>Attributes go inside of the </a:t>
            </a:r>
            <a:r>
              <a:rPr lang="en-US" sz="2000" i="1" dirty="0"/>
              <a:t>opening tag</a:t>
            </a:r>
            <a:r>
              <a:rPr lang="en-US" sz="2000" dirty="0"/>
              <a:t> of an HTML element</a:t>
            </a:r>
          </a:p>
          <a:p>
            <a:pPr marL="42863" indent="0">
              <a:buNone/>
            </a:pPr>
            <a:endParaRPr lang="en-US" dirty="0"/>
          </a:p>
          <a:p>
            <a:pPr marL="42863" indent="0" algn="ctr">
              <a:buNone/>
            </a:pP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&lt;a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4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"file.html"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52400" indent="0">
              <a:buNone/>
            </a:pPr>
            <a:endParaRPr lang="en-US" sz="1800" dirty="0"/>
          </a:p>
          <a:p>
            <a:pPr marL="152400" indent="0">
              <a:buNone/>
            </a:pPr>
            <a:endParaRPr lang="en-US" sz="1800" dirty="0"/>
          </a:p>
          <a:p>
            <a:pPr marL="152400" indent="0">
              <a:buNone/>
            </a:pPr>
            <a:r>
              <a:rPr lang="en-US" sz="2000" dirty="0"/>
              <a:t>Attribute name, equals sign, quotation marks, attribute value</a:t>
            </a:r>
          </a:p>
          <a:p>
            <a:pPr marL="42863" indent="0">
              <a:buNone/>
            </a:pPr>
            <a:endParaRPr lang="en-US" dirty="0"/>
          </a:p>
          <a:p>
            <a:endParaRPr lang="en-US" dirty="0"/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8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2863" indent="0" algn="ctr">
              <a:buNone/>
            </a:pP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36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"dog.png"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3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</a:p>
          <a:p>
            <a:pPr lvl="0">
              <a:buClr>
                <a:srgbClr val="98989A"/>
              </a:buClr>
            </a:pPr>
            <a:endParaRPr lang="en-US" dirty="0">
              <a:solidFill>
                <a:srgbClr val="56565A"/>
              </a:solidFill>
            </a:endParaRPr>
          </a:p>
          <a:p>
            <a:pPr marL="42863" indent="0">
              <a:buClr>
                <a:srgbClr val="98989A"/>
              </a:buClr>
              <a:buNone/>
            </a:pPr>
            <a:r>
              <a:rPr lang="en-US" sz="3000" dirty="0">
                <a:solidFill>
                  <a:srgbClr val="56565A"/>
                </a:solidFill>
              </a:rPr>
              <a:t>What is the </a:t>
            </a:r>
            <a:r>
              <a:rPr lang="en-US" sz="3000" i="1" dirty="0">
                <a:solidFill>
                  <a:srgbClr val="56565A"/>
                </a:solidFill>
              </a:rPr>
              <a:t>attribute name</a:t>
            </a:r>
            <a:r>
              <a:rPr lang="en-US" sz="3000" dirty="0">
                <a:solidFill>
                  <a:srgbClr val="56565A"/>
                </a:solidFill>
              </a:rPr>
              <a:t>?</a:t>
            </a:r>
          </a:p>
          <a:p>
            <a:pPr marL="42863" indent="0">
              <a:buClr>
                <a:srgbClr val="98989A"/>
              </a:buClr>
              <a:buNone/>
            </a:pPr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endParaRPr lang="en-US" sz="3600" dirty="0">
              <a:solidFill>
                <a:srgbClr val="56565A"/>
              </a:solidFill>
            </a:endParaRPr>
          </a:p>
          <a:p>
            <a:pPr marL="42863" indent="0">
              <a:buClr>
                <a:srgbClr val="98989A"/>
              </a:buClr>
              <a:buNone/>
            </a:pPr>
            <a:endParaRPr lang="en-US" sz="1400" dirty="0">
              <a:solidFill>
                <a:srgbClr val="56565A"/>
              </a:solidFill>
            </a:endParaRPr>
          </a:p>
          <a:p>
            <a:pPr marL="42863" indent="0">
              <a:buClr>
                <a:srgbClr val="98989A"/>
              </a:buClr>
              <a:buNone/>
            </a:pPr>
            <a:r>
              <a:rPr lang="en-US" sz="3000" dirty="0">
                <a:solidFill>
                  <a:srgbClr val="56565A"/>
                </a:solidFill>
              </a:rPr>
              <a:t>What is the </a:t>
            </a:r>
            <a:r>
              <a:rPr lang="en-US" sz="3000" i="1" dirty="0">
                <a:solidFill>
                  <a:srgbClr val="56565A"/>
                </a:solidFill>
              </a:rPr>
              <a:t>attribute value</a:t>
            </a:r>
            <a:r>
              <a:rPr lang="en-US" sz="3000" dirty="0">
                <a:solidFill>
                  <a:srgbClr val="56565A"/>
                </a:solidFill>
              </a:rPr>
              <a:t>?</a:t>
            </a:r>
          </a:p>
          <a:p>
            <a:pPr marL="42863" indent="0">
              <a:buClr>
                <a:srgbClr val="98989A"/>
              </a:buClr>
              <a:buNone/>
            </a:pP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dog.png</a:t>
            </a:r>
            <a:endParaRPr lang="en-US" sz="3600" dirty="0">
              <a:solidFill>
                <a:srgbClr val="56565A"/>
              </a:solidFill>
            </a:endParaRPr>
          </a:p>
          <a:p>
            <a:pPr marL="42863" indent="0" algn="ctr">
              <a:buNone/>
            </a:pPr>
            <a:endParaRPr lang="en-US" sz="3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42863" indent="0" algn="ctr">
              <a:buNone/>
            </a:pP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3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Attributes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rm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https://jsfiddle.net/Lhodz460/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06886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511</Words>
  <Application>Microsoft Office PowerPoint</Application>
  <PresentationFormat>On-screen Show (16:9)</PresentationFormat>
  <Paragraphs>85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Miriam Libre</vt:lpstr>
      <vt:lpstr>Consolas</vt:lpstr>
      <vt:lpstr>Roboto Condensed Light</vt:lpstr>
      <vt:lpstr>Arial</vt:lpstr>
      <vt:lpstr>Segoe UI</vt:lpstr>
      <vt:lpstr>Krona One</vt:lpstr>
      <vt:lpstr>Blue Grid Interface &amp; Sticky Notes Company Profile by Slidesgo</vt:lpstr>
      <vt:lpstr>HTML Elements</vt:lpstr>
      <vt:lpstr>PowerPoint Presentation</vt:lpstr>
      <vt:lpstr>PowerPoint Presentation</vt:lpstr>
      <vt:lpstr>Header Elements</vt:lpstr>
      <vt:lpstr>Header Elements</vt:lpstr>
      <vt:lpstr>The Paragraph Element</vt:lpstr>
      <vt:lpstr>The Paragraph Element</vt:lpstr>
      <vt:lpstr>The Hyperlink Element</vt:lpstr>
      <vt:lpstr>The Hyperlink Element</vt:lpstr>
      <vt:lpstr>The Image Element</vt:lpstr>
      <vt:lpstr>The Image Element</vt:lpstr>
      <vt:lpstr>Example</vt:lpstr>
      <vt:lpstr>Attributes</vt:lpstr>
      <vt:lpstr>Attribute Example: &lt;a&gt;</vt:lpstr>
      <vt:lpstr>What Are Attributes?</vt:lpstr>
      <vt:lpstr>Mini-Quiz</vt:lpstr>
      <vt:lpstr>Attributes Examples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12</cp:revision>
  <dcterms:modified xsi:type="dcterms:W3CDTF">2026-06-08T18:34:47Z</dcterms:modified>
</cp:coreProperties>
</file>