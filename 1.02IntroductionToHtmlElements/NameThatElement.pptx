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9" r:id="rId12"/>
    <p:sldId id="330" r:id="rId13"/>
    <p:sldId id="331" r:id="rId14"/>
    <p:sldId id="332" r:id="rId15"/>
    <p:sldId id="328" r:id="rId16"/>
    <p:sldId id="333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Krona One" panose="020B0604020202020204" charset="0"/>
      <p:regular r:id="rId23"/>
    </p:embeddedFont>
    <p:embeddedFont>
      <p:font typeface="Miriam Libre" panose="00000500000000000000" pitchFamily="2" charset="-79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37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Paragraph</a:t>
            </a:r>
            <a:r>
              <a:rPr lang="en-US" baseline="0" dirty="0"/>
              <a:t> element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7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element</a:t>
            </a:r>
            <a:r>
              <a:rPr lang="en-US" baseline="0" dirty="0"/>
              <a:t> AND anchor element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70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Paragraph element AND anchor element AND image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72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HTML element</a:t>
            </a:r>
            <a:r>
              <a:rPr lang="en-US" baseline="0" dirty="0"/>
              <a:t> - </a:t>
            </a:r>
            <a:r>
              <a:rPr lang="en-US" dirty="0"/>
              <a:t>Ask students what is wrong with this tag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96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 element AND header element AND paragraph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11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element – also </a:t>
            </a:r>
            <a:r>
              <a:rPr lang="en-US" dirty="0" err="1"/>
              <a:t>stackoverflow</a:t>
            </a:r>
            <a:r>
              <a:rPr lang="en-US" dirty="0"/>
              <a:t> is a</a:t>
            </a:r>
            <a:r>
              <a:rPr lang="en-US" baseline="0" dirty="0"/>
              <a:t> helpful 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37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element and image</a:t>
            </a:r>
            <a:r>
              <a:rPr lang="en-US" baseline="0" dirty="0"/>
              <a:t> element – the image will be a clickable link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9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headers</a:t>
            </a:r>
            <a:r>
              <a:rPr lang="en-US" baseline="0" dirty="0"/>
              <a:t> – ask which one is the largest and which is the smallest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24C2-27EB-90DB-35E2-A5F74105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36715-2D14-7432-032B-8B3EC9E7F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B1048-3DB6-097D-9861-152DB8609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4ECAA-5652-4BC9-0BD6-19B9AD840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96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04872-6218-26F7-939A-76C7FE0A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37713-78C3-02BD-13F4-58008A461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59520-D004-0276-223E-1B6F45BB2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E03BA-3798-0CC7-E836-4EBD07B33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96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0058B-4CCF-E039-E9C8-9D4822D7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BC709-E20B-23C2-54EC-91EE535D5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90DE4-1B53-A17C-4519-E4B6D12DE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F6582-9AED-5BEF-1FAB-60922B696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10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9B0E-4779-2604-6CB8-BA074C09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8724D-2102-4BE5-D833-FA5F0B08F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907D1-3CAF-DC4A-22A4-8B7D4BD3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0BFAC-23C0-D50A-5C8A-BC3144F04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93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entire HTML document: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baseline="0" dirty="0"/>
              <a:t>HTML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Body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Header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Paragraph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Anchor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Image element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56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319B-CD0F-5014-8F75-C6707D86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9B13A-911B-D771-2ECD-C49D0270E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2CEF9-0B3C-164B-DBE7-5169320AC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entire HTML document: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baseline="0" dirty="0"/>
              <a:t>HTML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Body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Header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Paragraph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Anchor element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Image element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9F993-DE2F-5A56-9CE8-096916C63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72" r:id="rId4"/>
    <p:sldLayoutId id="2147483673" r:id="rId5"/>
    <p:sldLayoutId id="214748367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Name! That! Element!</a:t>
            </a:r>
            <a:endParaRPr sz="60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52525"/>
            <a:ext cx="7702550" cy="3416300"/>
          </a:xfrm>
        </p:spPr>
        <p:txBody>
          <a:bodyPr anchor="ctr"/>
          <a:lstStyle/>
          <a:p>
            <a:pPr marL="42863" indent="0" algn="ctr">
              <a:buNone/>
            </a:pPr>
            <a:r>
              <a:rPr lang="en-US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&lt;body&gt;&lt;/body&gt;</a:t>
            </a:r>
            <a:endParaRPr lang="en-US" sz="5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20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52525"/>
            <a:ext cx="7702550" cy="3416300"/>
          </a:xfrm>
        </p:spPr>
        <p:txBody>
          <a:bodyPr anchor="ctr"/>
          <a:lstStyle/>
          <a:p>
            <a:pPr marL="42863" indent="0" algn="ctr">
              <a:buNone/>
            </a:pPr>
            <a:r>
              <a:rPr lang="en-US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5400" dirty="0">
                <a:solidFill>
                  <a:srgbClr val="000000"/>
                </a:solidFill>
                <a:latin typeface="Consolas" panose="020B0609020204030204" pitchFamily="49" charset="0"/>
              </a:rPr>
              <a:t>Hello!</a:t>
            </a:r>
            <a:r>
              <a:rPr lang="en-US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5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10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96636" y="1152525"/>
            <a:ext cx="7994072" cy="3416300"/>
          </a:xfrm>
        </p:spPr>
        <p:txBody>
          <a:bodyPr anchor="ctr"/>
          <a:lstStyle/>
          <a:p>
            <a:pPr marL="42863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&lt;h2&gt;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"http://google.com/"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Google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&lt;/h2&gt;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2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12618" y="1159452"/>
            <a:ext cx="8167256" cy="3416300"/>
          </a:xfrm>
        </p:spPr>
        <p:txBody>
          <a:bodyPr anchor="ctr"/>
          <a:lstStyle/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Here's one element:</a:t>
            </a: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"http://yahoo.com"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Yahoo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And here's another:</a:t>
            </a: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7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"http:/example.com/cat.png"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5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52525"/>
            <a:ext cx="7702550" cy="3416300"/>
          </a:xfrm>
        </p:spPr>
        <p:txBody>
          <a:bodyPr anchor="ctr"/>
          <a:lstStyle/>
          <a:p>
            <a:pPr marL="42863" indent="0" algn="ctr">
              <a:buNone/>
            </a:pPr>
            <a:r>
              <a:rPr lang="en-US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&lt;html&gt;&lt;/html</a:t>
            </a:r>
            <a:endParaRPr lang="en-US" sz="5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41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61109" y="1152525"/>
            <a:ext cx="8035635" cy="3416300"/>
          </a:xfrm>
        </p:spPr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Welcome!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Check out this HTML!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69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8817" y="1152525"/>
            <a:ext cx="7994073" cy="3416300"/>
          </a:xfrm>
        </p:spPr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"http://www.stackoverflow.com"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 cool site!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0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01782" y="1124816"/>
            <a:ext cx="8437417" cy="3416300"/>
          </a:xfrm>
        </p:spPr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"http://hyland.com"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7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"http://hyland.com/logo.png"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94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96635" y="1152525"/>
            <a:ext cx="7703999" cy="3416300"/>
          </a:xfrm>
        </p:spPr>
        <p:txBody>
          <a:bodyPr anchor="ctr"/>
          <a:lstStyle/>
          <a:p>
            <a:pPr marL="42863" indent="0" algn="ctr">
              <a:buNone/>
            </a:pPr>
            <a:r>
              <a:rPr lang="pt-BR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pt-BR" sz="5400" dirty="0">
                <a:solidFill>
                  <a:srgbClr val="000000"/>
                </a:solidFill>
                <a:latin typeface="Consolas" panose="020B0609020204030204" pitchFamily="49" charset="0"/>
              </a:rPr>
              <a:t>Welcome!</a:t>
            </a:r>
            <a:r>
              <a:rPr lang="pt-BR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pt-BR" sz="5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 algn="ctr">
              <a:buNone/>
            </a:pPr>
            <a:r>
              <a:rPr lang="pt-BR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&lt;h6&gt;</a:t>
            </a:r>
            <a:r>
              <a:rPr lang="pt-BR" sz="5400" dirty="0">
                <a:solidFill>
                  <a:srgbClr val="000000"/>
                </a:solidFill>
                <a:latin typeface="Consolas" panose="020B0609020204030204" pitchFamily="49" charset="0"/>
              </a:rPr>
              <a:t>Welcome!</a:t>
            </a:r>
            <a:r>
              <a:rPr lang="pt-BR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&lt;/h6&gt;</a:t>
            </a:r>
            <a:endParaRPr lang="pt-BR" sz="5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 algn="ctr">
              <a:buNone/>
            </a:pPr>
            <a:r>
              <a:rPr lang="pt-BR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&lt;h3&gt;</a:t>
            </a:r>
            <a:r>
              <a:rPr lang="pt-BR" sz="5400" dirty="0">
                <a:solidFill>
                  <a:srgbClr val="000000"/>
                </a:solidFill>
                <a:latin typeface="Consolas" panose="020B0609020204030204" pitchFamily="49" charset="0"/>
              </a:rPr>
              <a:t>Welcome!</a:t>
            </a:r>
            <a:r>
              <a:rPr lang="pt-BR" sz="5400" dirty="0">
                <a:solidFill>
                  <a:srgbClr val="800000"/>
                </a:solidFill>
                <a:latin typeface="Consolas" panose="020B0609020204030204" pitchFamily="49" charset="0"/>
              </a:rPr>
              <a:t>&lt;/h3&gt;</a:t>
            </a:r>
            <a:endParaRPr lang="pt-BR" sz="5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87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A4B8-47EC-563D-68F5-5E29521D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3341-ABAA-AAFD-CDEB-F0A9DD7A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B02A-FF08-CD4E-1A87-B8D1385E55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6635" y="1152525"/>
            <a:ext cx="7703999" cy="3416300"/>
          </a:xfrm>
        </p:spPr>
        <p:txBody>
          <a:bodyPr anchor="ctr"/>
          <a:lstStyle/>
          <a:p>
            <a:pPr marL="42863" indent="0" algn="ctr">
              <a:buNone/>
            </a:pPr>
            <a:r>
              <a:rPr lang="pt-BR" sz="4800" dirty="0">
                <a:solidFill>
                  <a:srgbClr val="800000"/>
                </a:solidFill>
                <a:latin typeface="Consolas" panose="020B0609020204030204" pitchFamily="49" charset="0"/>
              </a:rPr>
              <a:t>&lt;input </a:t>
            </a:r>
            <a:r>
              <a:rPr lang="pt-BR" sz="4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pt-BR" sz="4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pt-BR" sz="4800" dirty="0">
                <a:solidFill>
                  <a:srgbClr val="0000FF"/>
                </a:solidFill>
                <a:latin typeface="Consolas" panose="020B0609020204030204" pitchFamily="49" charset="0"/>
              </a:rPr>
              <a:t>"text"</a:t>
            </a:r>
            <a:r>
              <a:rPr lang="pt-BR" sz="4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pt-BR" sz="4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577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CB055-126B-7E36-76F8-D3A3A429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8691-1BFE-4996-31B2-AEF37F5C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A058-5ADD-4C8B-2E97-04F1B2EB3BC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6635" y="1152525"/>
            <a:ext cx="7703999" cy="3416300"/>
          </a:xfrm>
        </p:spPr>
        <p:txBody>
          <a:bodyPr anchor="ctr"/>
          <a:lstStyle/>
          <a:p>
            <a:pPr marL="42863" indent="0" algn="ctr">
              <a:buNone/>
            </a:pPr>
            <a:r>
              <a:rPr lang="pt-BR" sz="4800" dirty="0">
                <a:solidFill>
                  <a:srgbClr val="800000"/>
                </a:solidFill>
                <a:latin typeface="Consolas" panose="020B0609020204030204" pitchFamily="49" charset="0"/>
              </a:rPr>
              <a:t>&lt;input </a:t>
            </a:r>
            <a:r>
              <a:rPr lang="pt-BR" sz="4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pt-BR" sz="4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pt-BR" sz="4800" dirty="0">
                <a:solidFill>
                  <a:srgbClr val="0000FF"/>
                </a:solidFill>
                <a:latin typeface="Consolas" panose="020B0609020204030204" pitchFamily="49" charset="0"/>
              </a:rPr>
              <a:t>"range"</a:t>
            </a:r>
            <a:r>
              <a:rPr lang="pt-BR" sz="48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pt-BR" sz="4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80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AB91-A208-6F44-0DDD-91B3C12C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0D8A-2C5F-FF14-404C-8040EFA1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2B11A-D64E-9FF5-7894-0FE8830196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6635" y="1152525"/>
            <a:ext cx="7703999" cy="3416300"/>
          </a:xfrm>
        </p:spPr>
        <p:txBody>
          <a:bodyPr anchor="ctr"/>
          <a:lstStyle/>
          <a:p>
            <a:pPr marL="42863" indent="0">
              <a:buNone/>
            </a:pP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&lt;ul&gt;</a:t>
            </a:r>
          </a:p>
          <a:p>
            <a:pPr marL="42863" indent="0">
              <a:buNone/>
            </a:pP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	&lt;li&gt;</a:t>
            </a:r>
            <a:r>
              <a:rPr lang="pt-BR" sz="4000" dirty="0">
                <a:solidFill>
                  <a:schemeClr val="tx1"/>
                </a:solidFill>
                <a:latin typeface="Consolas" panose="020B0609020204030204" pitchFamily="49" charset="0"/>
              </a:rPr>
              <a:t>Sugar</a:t>
            </a: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pt-BR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	&lt;li&gt;</a:t>
            </a:r>
            <a:r>
              <a:rPr lang="pt-BR" sz="4000" dirty="0">
                <a:solidFill>
                  <a:schemeClr val="tx1"/>
                </a:solidFill>
                <a:latin typeface="Consolas" panose="020B0609020204030204" pitchFamily="49" charset="0"/>
              </a:rPr>
              <a:t>Milk</a:t>
            </a: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pt-BR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	&lt;li&gt;</a:t>
            </a:r>
            <a:r>
              <a:rPr lang="pt-BR" sz="4000" dirty="0">
                <a:solidFill>
                  <a:schemeClr val="tx1"/>
                </a:solidFill>
                <a:latin typeface="Consolas" panose="020B0609020204030204" pitchFamily="49" charset="0"/>
              </a:rPr>
              <a:t>Eggs</a:t>
            </a: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</a:p>
          <a:p>
            <a:pPr marL="42863" indent="0">
              <a:buNone/>
            </a:pPr>
            <a:r>
              <a:rPr lang="pt-BR" sz="4000" dirty="0">
                <a:solidFill>
                  <a:srgbClr val="800000"/>
                </a:solidFill>
                <a:latin typeface="Consolas" panose="020B0609020204030204" pitchFamily="49" charset="0"/>
              </a:rPr>
              <a:t>&lt;/ul&gt;</a:t>
            </a:r>
            <a:endParaRPr lang="pt-BR" sz="4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462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B8AB-855F-BA39-4512-3E9D03FF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10D8-FF3E-DF3F-1437-31BD26E6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92286-9647-744A-9754-850B508AD38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6635" y="1152525"/>
            <a:ext cx="7703999" cy="3416300"/>
          </a:xfrm>
        </p:spPr>
        <p:txBody>
          <a:bodyPr anchor="ctr"/>
          <a:lstStyle/>
          <a:p>
            <a:pPr marL="42863" indent="0">
              <a:buNone/>
            </a:pP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&lt;ol&gt;</a:t>
            </a:r>
          </a:p>
          <a:p>
            <a:pPr marL="42863" indent="0">
              <a:buNone/>
            </a:pP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	&lt;li&gt;</a:t>
            </a:r>
            <a:r>
              <a:rPr lang="pt-BR" sz="3200" dirty="0">
                <a:solidFill>
                  <a:schemeClr val="tx1"/>
                </a:solidFill>
                <a:latin typeface="Consolas" panose="020B0609020204030204" pitchFamily="49" charset="0"/>
              </a:rPr>
              <a:t>Combine Milk &amp; Sugar</a:t>
            </a: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	&lt;li&gt;</a:t>
            </a:r>
            <a:r>
              <a:rPr lang="pt-BR" sz="3200" dirty="0">
                <a:solidFill>
                  <a:schemeClr val="tx1"/>
                </a:solidFill>
                <a:latin typeface="Consolas" panose="020B0609020204030204" pitchFamily="49" charset="0"/>
              </a:rPr>
              <a:t>Stir</a:t>
            </a: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	&lt;li&gt;</a:t>
            </a:r>
            <a:r>
              <a:rPr lang="pt-BR" sz="3200" dirty="0">
                <a:solidFill>
                  <a:schemeClr val="tx1"/>
                </a:solidFill>
                <a:latin typeface="Consolas" panose="020B0609020204030204" pitchFamily="49" charset="0"/>
              </a:rPr>
              <a:t>Bake for 5 mins</a:t>
            </a: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</a:p>
          <a:p>
            <a:pPr marL="42863" indent="0">
              <a:buNone/>
            </a:pPr>
            <a:r>
              <a:rPr lang="pt-BR" sz="3200" dirty="0">
                <a:solidFill>
                  <a:srgbClr val="800000"/>
                </a:solidFill>
                <a:latin typeface="Consolas" panose="020B0609020204030204" pitchFamily="49" charset="0"/>
              </a:rPr>
              <a:t>&lt;/ol&gt;</a:t>
            </a:r>
            <a:endParaRPr lang="pt-B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3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1890" y="1152525"/>
            <a:ext cx="8104909" cy="3641148"/>
          </a:xfrm>
        </p:spPr>
        <p:txBody>
          <a:bodyPr anchor="ctr">
            <a:normAutofit/>
          </a:bodyPr>
          <a:lstStyle/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FORM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Submit this form Please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2700" dirty="0">
                <a:solidFill>
                  <a:schemeClr val="tx1"/>
                </a:solidFill>
                <a:latin typeface="Consolas" panose="020B0609020204030204" pitchFamily="49" charset="0"/>
              </a:rPr>
              <a:t>Name: 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&lt;input </a:t>
            </a:r>
            <a:r>
              <a:rPr lang="en-US" sz="27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27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"text"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&gt;&lt;/p&gt;</a:t>
            </a:r>
          </a:p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    &lt;input </a:t>
            </a:r>
            <a:r>
              <a:rPr lang="en-US" sz="27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27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"submit"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36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CCE8-FBBF-41A3-70BF-AF09B6BD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DC42-5992-3B96-6EE1-780C9086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D2C7-B4A7-98EE-87CC-E967F3BE1AB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1890" y="1152525"/>
            <a:ext cx="8104909" cy="3641148"/>
          </a:xfrm>
        </p:spPr>
        <p:txBody>
          <a:bodyPr anchor="ctr">
            <a:normAutofit fontScale="85000" lnSpcReduction="10000"/>
          </a:bodyPr>
          <a:lstStyle/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Hello, world!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Here's a cool website!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"http://youtube.com"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YouTube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&lt;/a&gt;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7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</a:rPr>
              <a:t>"http://example.com/smiley.png"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7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27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56976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536</Words>
  <Application>Microsoft Office PowerPoint</Application>
  <PresentationFormat>On-screen Show (16:9)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Miriam Libre</vt:lpstr>
      <vt:lpstr>Consolas</vt:lpstr>
      <vt:lpstr>Arial</vt:lpstr>
      <vt:lpstr>Krona One</vt:lpstr>
      <vt:lpstr>Blue Grid Interface &amp; Sticky Notes Company Profile by Slidesgo</vt:lpstr>
      <vt:lpstr>Name! That! Element!</vt:lpstr>
      <vt:lpstr>1</vt:lpstr>
      <vt:lpstr>2</vt:lpstr>
      <vt:lpstr>3</vt:lpstr>
      <vt:lpstr>4</vt:lpstr>
      <vt:lpstr>5</vt:lpstr>
      <vt:lpstr>6</vt:lpstr>
      <vt:lpstr>7</vt:lpstr>
      <vt:lpstr>8</vt:lpstr>
      <vt:lpstr>9</vt:lpstr>
      <vt:lpstr>10</vt:lpstr>
      <vt:lpstr>11</vt:lpstr>
      <vt:lpstr>12</vt:lpstr>
      <vt:lpstr>13</vt:lpstr>
      <vt:lpstr>14</vt:lpstr>
      <vt:lpstr>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7</cp:revision>
  <dcterms:modified xsi:type="dcterms:W3CDTF">2026-06-08T18:34:51Z</dcterms:modified>
</cp:coreProperties>
</file>