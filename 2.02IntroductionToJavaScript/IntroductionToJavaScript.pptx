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6" r:id="rId10"/>
    <p:sldId id="315" r:id="rId11"/>
    <p:sldId id="31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8F6"/>
    <a:srgbClr val="D9E3FF"/>
    <a:srgbClr val="080808"/>
    <a:srgbClr val="181818"/>
    <a:srgbClr val="212121"/>
    <a:srgbClr val="0A0A0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site to show</a:t>
            </a:r>
            <a:r>
              <a:rPr lang="en-US" baseline="0" dirty="0"/>
              <a:t> what the web was like before JavaScript. No interactivity – the internet used to be a lot of links going to websites – just a directory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01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Ask the students about their favorite websites,</a:t>
            </a:r>
            <a:r>
              <a:rPr lang="en-US" baseline="0" dirty="0"/>
              <a:t> and how they were interactive. These are some examples of things JavaScript can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27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there is an HTML file with a new HTML element… but a familiar attribute. The </a:t>
            </a:r>
            <a:r>
              <a:rPr lang="en-US" dirty="0" err="1"/>
              <a:t>src</a:t>
            </a:r>
            <a:r>
              <a:rPr lang="en-US" dirty="0"/>
              <a:t> points to another file…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script.js that has this one line of code. Like CSS, this is a new language, NOT HTML! It’s JavaScript!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So, what will happen when this page loads? Any guesses?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pop-up appears that says Hello World!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50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Unpack the important</a:t>
            </a:r>
            <a:r>
              <a:rPr lang="en-US" baseline="0" dirty="0"/>
              <a:t> parts of the JavaScript in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each part of the JavaScript statement. Explain that</a:t>
            </a:r>
            <a:r>
              <a:rPr lang="en-US" baseline="0" dirty="0"/>
              <a:t> for the code to work, it has to be </a:t>
            </a:r>
            <a:r>
              <a:rPr lang="en-US" b="1" i="1" baseline="0" dirty="0"/>
              <a:t>exactly</a:t>
            </a:r>
            <a:r>
              <a:rPr lang="en-US" b="0" i="0" baseline="0" dirty="0"/>
              <a:t> right.</a:t>
            </a:r>
          </a:p>
          <a:p>
            <a:endParaRPr lang="en-US" b="0" i="0" baseline="0" dirty="0"/>
          </a:p>
          <a:p>
            <a:r>
              <a:rPr lang="en-US" b="0" i="0" baseline="0" dirty="0"/>
              <a:t>This statement, when executed, will show the message in a small box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19961017235908/http:/www2.yahoo.com:8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Introduction to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5859489" cy="553998"/>
          </a:xfrm>
        </p:spPr>
        <p:txBody>
          <a:bodyPr/>
          <a:lstStyle/>
          <a:p>
            <a:r>
              <a:rPr lang="en-US"/>
              <a:t>HTO: Website Development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76323"/>
            <a:ext cx="10972800" cy="2705356"/>
          </a:xfrm>
        </p:spPr>
        <p:txBody>
          <a:bodyPr/>
          <a:lstStyle/>
          <a:p>
            <a:r>
              <a:rPr lang="en-US" cap="none" dirty="0"/>
              <a:t>JavaScript</a:t>
            </a:r>
            <a:r>
              <a:rPr lang="en-US" b="0" cap="none" dirty="0"/>
              <a:t> is the </a:t>
            </a:r>
            <a:r>
              <a:rPr lang="en-US" b="0" i="1" cap="none" dirty="0"/>
              <a:t>programming language </a:t>
            </a:r>
            <a:r>
              <a:rPr lang="en-US" b="0" cap="none" dirty="0"/>
              <a:t>of the web.</a:t>
            </a:r>
            <a:br>
              <a:rPr lang="en-US" b="0" cap="none" dirty="0"/>
            </a:br>
            <a:br>
              <a:rPr lang="en-US" b="0" cap="none" dirty="0"/>
            </a:br>
            <a:r>
              <a:rPr lang="en-US" b="0" cap="none" dirty="0"/>
              <a:t>It makes websites </a:t>
            </a:r>
            <a:r>
              <a:rPr lang="en-US" b="0" i="1" cap="none" dirty="0"/>
              <a:t>interactive</a:t>
            </a:r>
            <a:r>
              <a:rPr lang="en-US" b="0" cap="non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938185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world without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914900"/>
            <a:ext cx="11430000" cy="14859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4400" dirty="0">
                <a:hlinkClick r:id="rId3"/>
              </a:rPr>
              <a:t>https://web.archive.org/web/19961017235908/http://www2.yahoo.com:80/</a:t>
            </a:r>
            <a:endParaRPr lang="en-US" sz="4400" dirty="0"/>
          </a:p>
        </p:txBody>
      </p:sp>
      <p:pic>
        <p:nvPicPr>
          <p:cNvPr id="1026" name="Picture 2" descr="Image result for 90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54958"/>
            <a:ext cx="77724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88625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developers use </a:t>
            </a:r>
            <a:r>
              <a:rPr lang="en-US" dirty="0" err="1"/>
              <a:t>javascript</a:t>
            </a:r>
            <a:r>
              <a:rPr lang="en-US" dirty="0"/>
              <a:t>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Game Logic</a:t>
            </a:r>
          </a:p>
          <a:p>
            <a:r>
              <a:rPr lang="en-US" sz="4400" dirty="0"/>
              <a:t>Animations</a:t>
            </a:r>
          </a:p>
          <a:p>
            <a:r>
              <a:rPr lang="en-US" sz="4400" dirty="0"/>
              <a:t>Retrieving data</a:t>
            </a:r>
          </a:p>
          <a:p>
            <a:r>
              <a:rPr lang="en-US" sz="4400" dirty="0"/>
              <a:t>Sending data</a:t>
            </a:r>
          </a:p>
          <a:p>
            <a:r>
              <a:rPr lang="en-US" sz="4400" dirty="0"/>
              <a:t>Validating data</a:t>
            </a:r>
          </a:p>
          <a:p>
            <a:r>
              <a:rPr lang="en-US" sz="4400" dirty="0"/>
              <a:t>Updating HTML and CSS dynamically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2244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B4CCEC-FDAD-4D1E-8BB3-5A40A6735A1F}"/>
              </a:ext>
            </a:extLst>
          </p:cNvPr>
          <p:cNvSpPr/>
          <p:nvPr/>
        </p:nvSpPr>
        <p:spPr bwMode="auto">
          <a:xfrm>
            <a:off x="6292493" y="1353764"/>
            <a:ext cx="5518507" cy="18466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3FE4F1-F928-41BC-9225-613490A3C3C8}"/>
              </a:ext>
            </a:extLst>
          </p:cNvPr>
          <p:cNvSpPr/>
          <p:nvPr/>
        </p:nvSpPr>
        <p:spPr bwMode="auto">
          <a:xfrm>
            <a:off x="266700" y="1353764"/>
            <a:ext cx="5829300" cy="516133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JavaScript program –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43100"/>
            <a:ext cx="58293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800000">
                    <a:alpha val="50000"/>
                  </a:srgbClr>
                </a:solidFill>
                <a:latin typeface="Consolas" panose="020B06090202040302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>
                    <a:alpha val="50000"/>
                  </a:srgbClr>
                </a:solidFill>
                <a:latin typeface="Consolas" panose="020B0609020204030204" pitchFamily="49" charset="0"/>
              </a:rPr>
              <a:t>  &lt;head&gt;</a:t>
            </a:r>
          </a:p>
          <a:p>
            <a:pPr marL="57150" indent="0">
              <a:buNone/>
            </a:pPr>
            <a:r>
              <a:rPr lang="en-US" b="0" dirty="0">
                <a:solidFill>
                  <a:srgbClr val="800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"script.js"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57150" indent="0">
              <a:buNone/>
            </a:pP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00000">
                    <a:alpha val="50000"/>
                  </a:srgbClr>
                </a:solidFill>
                <a:latin typeface="Consolas" panose="020B0609020204030204" pitchFamily="49" charset="0"/>
              </a:rPr>
              <a:t>  &lt;/head&gt;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>
                    <a:alpha val="50000"/>
                  </a:srgbClr>
                </a:solidFill>
                <a:latin typeface="Consolas" panose="020B0609020204030204" pitchFamily="49" charset="0"/>
              </a:rPr>
              <a:t>  &lt;body&gt;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>
                    <a:alpha val="50000"/>
                  </a:srgbClr>
                </a:solidFill>
                <a:latin typeface="Consolas" panose="020B0609020204030204" pitchFamily="49" charset="0"/>
              </a:rPr>
              <a:t>  &lt;/body&gt;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>
                    <a:alpha val="50000"/>
                  </a:srgbClr>
                </a:solidFill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77F12-8B7E-466D-A493-D659916BBA69}"/>
              </a:ext>
            </a:extLst>
          </p:cNvPr>
          <p:cNvSpPr txBox="1"/>
          <p:nvPr/>
        </p:nvSpPr>
        <p:spPr>
          <a:xfrm>
            <a:off x="266700" y="1353764"/>
            <a:ext cx="190661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index.html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7B0F7-946A-4CFC-9C01-2C37E0660970}"/>
              </a:ext>
            </a:extLst>
          </p:cNvPr>
          <p:cNvSpPr txBox="1"/>
          <p:nvPr/>
        </p:nvSpPr>
        <p:spPr>
          <a:xfrm>
            <a:off x="6324600" y="2171700"/>
            <a:ext cx="53922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world!"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62BDC-4F73-48A3-8566-F73166FC0FFB}"/>
              </a:ext>
            </a:extLst>
          </p:cNvPr>
          <p:cNvSpPr txBox="1"/>
          <p:nvPr/>
        </p:nvSpPr>
        <p:spPr>
          <a:xfrm>
            <a:off x="6210300" y="1353764"/>
            <a:ext cx="154914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script.js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2CCF584-EF29-4529-B034-56AA8938EBE6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4957780" y="1777216"/>
            <a:ext cx="1362040" cy="1143000"/>
          </a:xfrm>
          <a:prstGeom prst="bentConnector2">
            <a:avLst/>
          </a:prstGeom>
          <a:ln w="76200"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A5D11BA-E33F-4420-B43A-E05EA6BD62DD}"/>
              </a:ext>
            </a:extLst>
          </p:cNvPr>
          <p:cNvSpPr/>
          <p:nvPr/>
        </p:nvSpPr>
        <p:spPr bwMode="auto">
          <a:xfrm>
            <a:off x="6292493" y="3429000"/>
            <a:ext cx="5518507" cy="30861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i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What happens when this page loads?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600" b="1" i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FFC000"/>
                </a:solidFill>
                <a:ea typeface="Segoe UI" pitchFamily="34" charset="0"/>
                <a:cs typeface="Segoe UI" pitchFamily="34" charset="0"/>
              </a:rPr>
              <a:t>Hello, world!</a:t>
            </a:r>
            <a:r>
              <a:rPr lang="en-US" sz="36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appears in a pop-up message</a:t>
            </a:r>
          </a:p>
        </p:txBody>
      </p:sp>
    </p:spTree>
    <p:extLst>
      <p:ext uri="{BB962C8B-B14F-4D97-AF65-F5344CB8AC3E}">
        <p14:creationId xmlns:p14="http://schemas.microsoft.com/office/powerpoint/2010/main" val="10677689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3" grpId="0" build="p"/>
      <p:bldP spid="4" grpId="0"/>
      <p:bldP spid="6" grpId="0"/>
      <p:bldP spid="7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the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3600" dirty="0"/>
              <a:t> element</a:t>
            </a:r>
          </a:p>
          <a:p>
            <a:pPr lvl="1"/>
            <a:r>
              <a:rPr lang="en-US" sz="3067" dirty="0">
                <a:solidFill>
                  <a:schemeClr val="tx2"/>
                </a:solidFill>
              </a:rPr>
              <a:t>This adds some JavaScript to the HTML page</a:t>
            </a:r>
          </a:p>
          <a:p>
            <a:pPr lvl="1"/>
            <a:endParaRPr lang="en-US" sz="3067" dirty="0"/>
          </a:p>
          <a:p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&lt;head&gt;&lt;/head&gt;</a:t>
            </a:r>
            <a:r>
              <a:rPr lang="en-US" sz="3600" dirty="0"/>
              <a:t> element</a:t>
            </a:r>
          </a:p>
          <a:p>
            <a:pPr lvl="1"/>
            <a:r>
              <a:rPr lang="en-US" sz="3067" dirty="0">
                <a:solidFill>
                  <a:schemeClr val="tx2"/>
                </a:solidFill>
              </a:rPr>
              <a:t>This is where the </a:t>
            </a:r>
            <a:r>
              <a:rPr lang="en-US" sz="3067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r>
              <a:rPr lang="en-US" sz="3067" dirty="0">
                <a:solidFill>
                  <a:srgbClr val="800000"/>
                </a:solidFill>
              </a:rPr>
              <a:t> </a:t>
            </a:r>
            <a:r>
              <a:rPr lang="en-US" sz="3067" dirty="0">
                <a:solidFill>
                  <a:schemeClr val="tx2"/>
                </a:solidFill>
              </a:rPr>
              <a:t>element goes</a:t>
            </a:r>
          </a:p>
          <a:p>
            <a:pPr lvl="1"/>
            <a:endParaRPr lang="en-US" sz="3067" dirty="0"/>
          </a:p>
          <a:p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sz="3600" dirty="0">
                <a:solidFill>
                  <a:srgbClr val="A31515"/>
                </a:solidFill>
                <a:latin typeface="Consolas" panose="020B0609020204030204" pitchFamily="49" charset="0"/>
              </a:rPr>
              <a:t>"Hello, world!"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3067" dirty="0">
                <a:solidFill>
                  <a:schemeClr val="tx2"/>
                </a:solidFill>
              </a:rPr>
              <a:t>This is an example of a </a:t>
            </a:r>
            <a:r>
              <a:rPr lang="en-US" sz="3067" i="1" dirty="0">
                <a:solidFill>
                  <a:schemeClr val="tx2"/>
                </a:solidFill>
              </a:rPr>
              <a:t>statement</a:t>
            </a:r>
            <a:r>
              <a:rPr lang="en-US" sz="3067" dirty="0">
                <a:solidFill>
                  <a:schemeClr val="tx2"/>
                </a:solidFill>
              </a:rPr>
              <a:t> in JavaScript. This one tells the computer to display a message of “Hello, world!”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92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the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"Hello, World!"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alert</a:t>
            </a:r>
            <a:r>
              <a:rPr lang="en-US" dirty="0"/>
              <a:t> keyword (must be lowercase)</a:t>
            </a:r>
          </a:p>
          <a:p>
            <a:r>
              <a:rPr lang="en-US" dirty="0"/>
              <a:t>Open parenthesis</a:t>
            </a:r>
          </a:p>
          <a:p>
            <a:r>
              <a:rPr lang="en-US" dirty="0"/>
              <a:t>Opening double quote</a:t>
            </a:r>
          </a:p>
          <a:p>
            <a:r>
              <a:rPr lang="en-US" dirty="0"/>
              <a:t>Message for the user</a:t>
            </a:r>
          </a:p>
          <a:p>
            <a:r>
              <a:rPr lang="en-US" dirty="0"/>
              <a:t>Closing double quote</a:t>
            </a:r>
          </a:p>
          <a:p>
            <a:r>
              <a:rPr lang="en-US" dirty="0"/>
              <a:t>Closing parenthesis</a:t>
            </a:r>
          </a:p>
          <a:p>
            <a:r>
              <a:rPr lang="en-US" dirty="0"/>
              <a:t>Semi-colon – every </a:t>
            </a:r>
            <a:r>
              <a:rPr lang="en-US" i="1" dirty="0"/>
              <a:t>statement</a:t>
            </a:r>
            <a:r>
              <a:rPr lang="en-US" dirty="0"/>
              <a:t> ends in a semi-colon</a:t>
            </a:r>
          </a:p>
          <a:p>
            <a:pPr marL="5715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314700"/>
            <a:ext cx="6257003" cy="18729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313198-B839-4138-B755-F6EDCF5F2811}"/>
              </a:ext>
            </a:extLst>
          </p:cNvPr>
          <p:cNvSpPr/>
          <p:nvPr/>
        </p:nvSpPr>
        <p:spPr bwMode="auto">
          <a:xfrm>
            <a:off x="6896100" y="1415738"/>
            <a:ext cx="4686300" cy="1371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Keywords</a:t>
            </a: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, or </a:t>
            </a:r>
            <a:r>
              <a:rPr lang="en-US" sz="2400" b="1" i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reserved words</a:t>
            </a: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, are pieces of text that have a special meaning in JavaScript</a:t>
            </a:r>
          </a:p>
        </p:txBody>
      </p:sp>
    </p:spTree>
    <p:extLst>
      <p:ext uri="{BB962C8B-B14F-4D97-AF65-F5344CB8AC3E}">
        <p14:creationId xmlns:p14="http://schemas.microsoft.com/office/powerpoint/2010/main" val="28665391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Mini-challenge: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1714500"/>
          </a:xfrm>
        </p:spPr>
        <p:txBody>
          <a:bodyPr anchor="ctr">
            <a:normAutofit/>
          </a:bodyPr>
          <a:lstStyle/>
          <a:p>
            <a:pPr marL="800100" indent="-742950">
              <a:buFont typeface="+mj-lt"/>
              <a:buAutoNum type="arabicPeriod"/>
            </a:pPr>
            <a:r>
              <a:rPr lang="en-US" sz="3200" dirty="0"/>
              <a:t>Go to 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jsfiddle.net</a:t>
            </a:r>
          </a:p>
          <a:p>
            <a:pPr marL="800100" indent="-742950">
              <a:buFont typeface="+mj-lt"/>
              <a:buAutoNum type="arabicPeriod"/>
            </a:pPr>
            <a:r>
              <a:rPr lang="en-US" sz="3200" dirty="0"/>
              <a:t>Click into the </a:t>
            </a:r>
            <a:r>
              <a:rPr lang="en-US" sz="3200" b="1" dirty="0"/>
              <a:t>JavaScript</a:t>
            </a:r>
            <a:r>
              <a:rPr lang="en-US" sz="3200" dirty="0"/>
              <a:t> section (bottom left)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0C3F2-339F-6F55-1458-488B76947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9022"/>
            <a:ext cx="12192000" cy="443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688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 algn="ctr">
              <a:buNone/>
            </a:pPr>
            <a:r>
              <a:rPr lang="en-US" sz="6000" dirty="0"/>
              <a:t>Write your own program that will say hello to you by name.</a:t>
            </a:r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For example, if your name were Drake, it should say “Hello, Drake!”</a:t>
            </a:r>
          </a:p>
        </p:txBody>
      </p:sp>
    </p:spTree>
    <p:extLst>
      <p:ext uri="{BB962C8B-B14F-4D97-AF65-F5344CB8AC3E}">
        <p14:creationId xmlns:p14="http://schemas.microsoft.com/office/powerpoint/2010/main" val="116485322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2480-6EC5-4F82-A8AF-E7F04F14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Hello, Drake!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51CC6-2030-45B1-873D-920D27F40FFC}"/>
              </a:ext>
            </a:extLst>
          </p:cNvPr>
          <p:cNvSpPr txBox="1"/>
          <p:nvPr/>
        </p:nvSpPr>
        <p:spPr>
          <a:xfrm>
            <a:off x="391668" y="2875002"/>
            <a:ext cx="11430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sz="6600" dirty="0">
                <a:solidFill>
                  <a:srgbClr val="A31515"/>
                </a:solidFill>
                <a:latin typeface="Consolas" panose="020B0609020204030204" pitchFamily="49" charset="0"/>
              </a:rPr>
              <a:t>"Hello, Drake!"</a:t>
            </a:r>
            <a:r>
              <a:rPr lang="en-US" sz="6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7011895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A791CB-AA68-4769-B673-C015ECF3D8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9203423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501</Words>
  <Application>Microsoft Office PowerPoint</Application>
  <PresentationFormat>Widescreen</PresentationFormat>
  <Paragraphs>72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Introduction to JavaScript</vt:lpstr>
      <vt:lpstr>JavaScript is the programming language of the web.  It makes websites interactive.</vt:lpstr>
      <vt:lpstr>A world without JavaScript</vt:lpstr>
      <vt:lpstr>What do developers use javascript for?</vt:lpstr>
      <vt:lpstr>A simple JavaScript program – in html</vt:lpstr>
      <vt:lpstr>Unpacking the example</vt:lpstr>
      <vt:lpstr>Unpacking the statement</vt:lpstr>
      <vt:lpstr>Mini-challenge: Setup</vt:lpstr>
      <vt:lpstr>Mini-challenge</vt:lpstr>
      <vt:lpstr>Hello, Drake!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87</cp:revision>
  <dcterms:created xsi:type="dcterms:W3CDTF">2019-03-11T04:04:09Z</dcterms:created>
  <dcterms:modified xsi:type="dcterms:W3CDTF">2026-06-08T18:33:49Z</dcterms:modified>
</cp:coreProperties>
</file>