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181818"/>
    <a:srgbClr val="212121"/>
    <a:srgbClr val="0A0A0A"/>
    <a:srgbClr val="000000"/>
    <a:srgbClr val="D9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FA220EE-ED1F-4DBA-98A4-FBE62A725004}">
  <a:tblStyle styleId="{FFA220EE-ED1F-4DBA-98A4-FBE62A725004}" styleName="Hyland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100000"/>
            </a:schemeClr>
          </a:solidFill>
        </a:fill>
      </a:tcStyle>
    </a:wholeTbl>
    <a:band1H>
      <a:tcStyle>
        <a:tcBdr/>
        <a:fill>
          <a:solidFill>
            <a:schemeClr val="accent5">
              <a:tint val="10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6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535" autoAdjust="0"/>
  </p:normalViewPr>
  <p:slideViewPr>
    <p:cSldViewPr showGuides="1">
      <p:cViewPr varScale="1">
        <p:scale>
          <a:sx n="93" d="100"/>
          <a:sy n="93" d="100"/>
        </p:scale>
        <p:origin x="121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14300" cy="1143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04133-B5B0-4351-8158-4F0E5EB1E2B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8F7F9-57EC-49CF-9FCD-2B781E4B4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 student to come up to the whiteboard</a:t>
            </a:r>
            <a:r>
              <a:rPr lang="en-US" baseline="0" dirty="0"/>
              <a:t> and write the JavaScript necessary to select the paragraph and store it in a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00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students the </a:t>
            </a:r>
            <a:r>
              <a:rPr lang="en-US" b="1" dirty="0" err="1"/>
              <a:t>textContent</a:t>
            </a:r>
            <a:r>
              <a:rPr lang="en-US" b="0" dirty="0"/>
              <a:t> property of an HTML</a:t>
            </a:r>
            <a:r>
              <a:rPr lang="en-US" b="0" baseline="0" dirty="0"/>
              <a:t> element stored in JavaScript. It is possible to update the content programmatically.</a:t>
            </a:r>
          </a:p>
          <a:p>
            <a:endParaRPr lang="en-US" b="0" baseline="0" dirty="0"/>
          </a:p>
          <a:p>
            <a:r>
              <a:rPr lang="en-US" b="0" baseline="0" dirty="0"/>
              <a:t>Note that the capitalization MUST be consistent – all lowercase except for the C in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40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</a:t>
            </a:r>
            <a:r>
              <a:rPr lang="en-US" dirty="0" err="1"/>
              <a:t>Repl</a:t>
            </a:r>
            <a:r>
              <a:rPr lang="en-US" dirty="0"/>
              <a:t>,</a:t>
            </a:r>
            <a:r>
              <a:rPr lang="en-US" baseline="0" dirty="0"/>
              <a:t> show how the text on an HTML page can be updated programmatically. Note that the important part is </a:t>
            </a:r>
            <a:r>
              <a:rPr lang="en-US" b="1" baseline="0" dirty="0"/>
              <a:t>.</a:t>
            </a:r>
            <a:r>
              <a:rPr lang="en-US" b="1" baseline="0" dirty="0" err="1"/>
              <a:t>textContent</a:t>
            </a:r>
            <a:r>
              <a:rPr lang="en-US" b="0" baseline="0" dirty="0"/>
              <a:t>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50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thing you can do with JavaScript is create completely new HTML elements</a:t>
            </a:r>
            <a:r>
              <a:rPr lang="en-US" baseline="0" dirty="0"/>
              <a:t> with </a:t>
            </a:r>
            <a:r>
              <a:rPr lang="en-US" b="1" baseline="0" dirty="0" err="1"/>
              <a:t>document.createElement</a:t>
            </a:r>
            <a:r>
              <a:rPr lang="en-US" b="0" baseline="0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Show</a:t>
            </a:r>
            <a:r>
              <a:rPr lang="en-US" baseline="0" dirty="0"/>
              <a:t> </a:t>
            </a:r>
            <a:r>
              <a:rPr lang="en-US" b="1" baseline="0" dirty="0" err="1"/>
              <a:t>document.createElement</a:t>
            </a:r>
            <a:r>
              <a:rPr lang="en-US" baseline="0" dirty="0"/>
              <a:t>. Explain that it creates a new HTML element just like you would do in an HTML file – but it is programmatic!</a:t>
            </a:r>
          </a:p>
          <a:p>
            <a:endParaRPr lang="en-US" baseline="0" dirty="0"/>
          </a:p>
          <a:p>
            <a:r>
              <a:rPr lang="en-US" baseline="0" dirty="0"/>
              <a:t>This creates an element in JavaScript, but it does not add it to the actual HTML document yet…</a:t>
            </a:r>
          </a:p>
          <a:p>
            <a:endParaRPr lang="en-US" baseline="0" dirty="0"/>
          </a:p>
          <a:p>
            <a:r>
              <a:rPr lang="en-US" baseline="0" dirty="0"/>
              <a:t>Ask the students what the HTML element would look like. It is </a:t>
            </a:r>
            <a:r>
              <a:rPr lang="en-US" b="1" baseline="0" dirty="0"/>
              <a:t>&lt;p&gt;New Paragraph!&lt;/p&gt;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33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</a:t>
            </a:r>
            <a:r>
              <a:rPr lang="en-US" baseline="0" dirty="0"/>
              <a:t> the students where they think the new element will appear on the HTML page – </a:t>
            </a:r>
            <a:r>
              <a:rPr lang="en-US" b="1" baseline="0" dirty="0"/>
              <a:t>Nowhere!</a:t>
            </a:r>
          </a:p>
          <a:p>
            <a:endParaRPr lang="en-US" b="1" baseline="0" dirty="0"/>
          </a:p>
          <a:p>
            <a:r>
              <a:rPr lang="en-US" b="0" baseline="0" dirty="0"/>
              <a:t>Explain that for an element to appear, it must be appended to the document somewhere. This is possible with </a:t>
            </a:r>
            <a:r>
              <a:rPr lang="en-US" b="1" baseline="0" dirty="0" err="1"/>
              <a:t>appendChild</a:t>
            </a:r>
            <a:r>
              <a:rPr lang="en-US" b="0" baseline="0" dirty="0"/>
              <a:t>. </a:t>
            </a:r>
          </a:p>
          <a:p>
            <a:endParaRPr lang="en-US" b="0" baseline="0" dirty="0"/>
          </a:p>
          <a:p>
            <a:r>
              <a:rPr lang="en-US" b="0" baseline="0" dirty="0"/>
              <a:t>First, it is necessary to have a container element (like the HTML </a:t>
            </a:r>
            <a:r>
              <a:rPr lang="en-US" b="1" baseline="0" dirty="0"/>
              <a:t>div</a:t>
            </a:r>
            <a:r>
              <a:rPr lang="en-US" b="0" baseline="0" dirty="0"/>
              <a:t> with an </a:t>
            </a:r>
            <a:r>
              <a:rPr lang="en-US" b="1" baseline="0" dirty="0"/>
              <a:t>id</a:t>
            </a:r>
            <a:r>
              <a:rPr lang="en-US" b="0" baseline="0" dirty="0"/>
              <a:t> of </a:t>
            </a:r>
            <a:r>
              <a:rPr lang="en-US" b="1" baseline="0" dirty="0"/>
              <a:t>container</a:t>
            </a:r>
            <a:r>
              <a:rPr lang="en-US" b="0" baseline="0" dirty="0"/>
              <a:t>)</a:t>
            </a:r>
          </a:p>
          <a:p>
            <a:endParaRPr lang="en-US" b="0" baseline="0" dirty="0"/>
          </a:p>
          <a:p>
            <a:r>
              <a:rPr lang="en-US" b="0" baseline="0" dirty="0"/>
              <a:t>Ask the students how to select the </a:t>
            </a:r>
            <a:r>
              <a:rPr lang="en-US" b="1" baseline="0" dirty="0"/>
              <a:t>div</a:t>
            </a:r>
            <a:r>
              <a:rPr lang="en-US" b="0" baseline="0" dirty="0"/>
              <a:t> in JavaScript – </a:t>
            </a:r>
            <a:r>
              <a:rPr lang="en-US" b="1" baseline="0" dirty="0" err="1"/>
              <a:t>document.querySelector</a:t>
            </a:r>
            <a:r>
              <a:rPr lang="en-US" b="1" baseline="0" dirty="0"/>
              <a:t>(“#container”)</a:t>
            </a:r>
          </a:p>
          <a:p>
            <a:endParaRPr lang="en-US" b="0" baseline="0" dirty="0"/>
          </a:p>
          <a:p>
            <a:r>
              <a:rPr lang="en-US" b="0" baseline="0" dirty="0"/>
              <a:t>Show how to append the </a:t>
            </a:r>
            <a:r>
              <a:rPr lang="en-US" b="1" baseline="0" dirty="0" err="1"/>
              <a:t>myPara</a:t>
            </a:r>
            <a:r>
              <a:rPr lang="en-US" b="0" baseline="0" dirty="0"/>
              <a:t> element to the </a:t>
            </a:r>
            <a:r>
              <a:rPr lang="en-US" b="1" baseline="0" dirty="0" err="1"/>
              <a:t>myDiv</a:t>
            </a:r>
            <a:r>
              <a:rPr lang="en-US" b="0" baseline="0" dirty="0"/>
              <a:t> element with </a:t>
            </a:r>
            <a:r>
              <a:rPr lang="en-US" b="1" baseline="0" dirty="0"/>
              <a:t>.</a:t>
            </a:r>
            <a:r>
              <a:rPr lang="en-US" b="1" baseline="0" dirty="0" err="1"/>
              <a:t>appendChild</a:t>
            </a:r>
            <a:endParaRPr lang="en-US" b="0" baseline="0" dirty="0"/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10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ADFCAE-C707-4D57-8D9E-8616E654C6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10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</a:t>
            </a:r>
            <a:r>
              <a:rPr lang="en-US" dirty="0" err="1"/>
              <a:t>Repl</a:t>
            </a:r>
            <a:r>
              <a:rPr lang="en-US" dirty="0"/>
              <a:t>, click the button a couple of times and</a:t>
            </a:r>
            <a:r>
              <a:rPr lang="en-US" baseline="0" dirty="0"/>
              <a:t> inspect element to show the new paragraphs added.</a:t>
            </a:r>
          </a:p>
          <a:p>
            <a:endParaRPr lang="en-US" baseline="0" dirty="0"/>
          </a:p>
          <a:p>
            <a:r>
              <a:rPr lang="en-US" baseline="0" dirty="0"/>
              <a:t>Note the use of </a:t>
            </a:r>
            <a:r>
              <a:rPr lang="en-US" b="1" baseline="0" dirty="0" err="1"/>
              <a:t>appendChild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99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33982278"/>
      </p:ext>
    </p:extLst>
  </p:cSld>
  <p:clrMapOvr>
    <a:masterClrMapping/>
  </p:clrMapOvr>
  <p:transition>
    <p:fade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 bwMode="auto">
          <a:xfrm>
            <a:off x="9525000" y="0"/>
            <a:ext cx="2667000" cy="6858000"/>
          </a:xfrm>
          <a:prstGeom prst="rect">
            <a:avLst/>
          </a:prstGeom>
          <a:solidFill>
            <a:srgbClr val="EFEFF0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accent3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92362659"/>
      </p:ext>
    </p:extLst>
  </p:cSld>
  <p:clrMapOvr>
    <a:masterClrMapping/>
  </p:clrMapOvr>
  <p:transition>
    <p:fade/>
  </p:transition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0"/>
            <a:ext cx="9525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bg1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446050400"/>
      </p:ext>
    </p:extLst>
  </p:cSld>
  <p:clrMapOvr>
    <a:masterClrMapping/>
  </p:clrMapOvr>
  <p:transition>
    <p:fade/>
  </p:transition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062162"/>
            <a:ext cx="3429000" cy="2738438"/>
          </a:xfrm>
        </p:spPr>
        <p:txBody>
          <a:bodyPr anchor="ctr">
            <a:normAutofit/>
          </a:bodyPr>
          <a:lstStyle>
            <a:lvl1pPr algn="ctr">
              <a:defRPr sz="4000" baseline="0"/>
            </a:lvl1pPr>
          </a:lstStyle>
          <a:p>
            <a:r>
              <a:rPr lang="en-US" dirty="0"/>
              <a:t>Type “Agenda”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24401" y="2062162"/>
            <a:ext cx="7086599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Item 1</a:t>
            </a:r>
          </a:p>
          <a:p>
            <a:pPr lvl="0"/>
            <a:r>
              <a:rPr lang="en-US" dirty="0"/>
              <a:t>Item 2</a:t>
            </a:r>
          </a:p>
          <a:p>
            <a:pPr lvl="0"/>
            <a:r>
              <a:rPr lang="en-US" dirty="0"/>
              <a:t>Item 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267200" y="2062162"/>
            <a:ext cx="0" cy="2738438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2396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2600" y="690562"/>
            <a:ext cx="8229600" cy="4110038"/>
          </a:xfrm>
        </p:spPr>
        <p:txBody>
          <a:bodyPr tIns="0" anchor="ctr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Notable Quote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59798" y="4983109"/>
            <a:ext cx="2922402" cy="523220"/>
          </a:xfrm>
          <a:solidFill>
            <a:schemeClr val="tx2"/>
          </a:solidFill>
        </p:spPr>
        <p:txBody>
          <a:bodyPr wrap="none" lIns="91440" tIns="45720" rIns="91440" bIns="45720" anchor="ctr">
            <a:spAutoFit/>
          </a:bodyPr>
          <a:lstStyle>
            <a:lvl1pPr marL="112713" indent="0" algn="r">
              <a:buFont typeface="Wingdings" panose="05000000000000000000" pitchFamily="2" charset="2"/>
              <a:buNone/>
              <a:defRPr sz="2800" b="1" spc="3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– Attribution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Freeform 11"/>
          <p:cNvSpPr>
            <a:spLocks noChangeAspect="1"/>
          </p:cNvSpPr>
          <p:nvPr userDrawn="1"/>
        </p:nvSpPr>
        <p:spPr bwMode="auto">
          <a:xfrm>
            <a:off x="380995" y="685800"/>
            <a:ext cx="1055590" cy="914400"/>
          </a:xfrm>
          <a:custGeom>
            <a:avLst/>
            <a:gdLst>
              <a:gd name="connsiteX0" fmla="*/ 831476 w 923645"/>
              <a:gd name="connsiteY0" fmla="*/ 0 h 800100"/>
              <a:gd name="connsiteX1" fmla="*/ 923645 w 923645"/>
              <a:gd name="connsiteY1" fmla="*/ 174531 h 800100"/>
              <a:gd name="connsiteX2" fmla="*/ 767743 w 923645"/>
              <a:gd name="connsiteY2" fmla="*/ 279937 h 800100"/>
              <a:gd name="connsiteX3" fmla="*/ 719698 w 923645"/>
              <a:gd name="connsiteY3" fmla="*/ 403972 h 800100"/>
              <a:gd name="connsiteX4" fmla="*/ 923645 w 923645"/>
              <a:gd name="connsiteY4" fmla="*/ 403972 h 800100"/>
              <a:gd name="connsiteX5" fmla="*/ 923645 w 923645"/>
              <a:gd name="connsiteY5" fmla="*/ 800100 h 800100"/>
              <a:gd name="connsiteX6" fmla="*/ 497121 w 923645"/>
              <a:gd name="connsiteY6" fmla="*/ 800100 h 800100"/>
              <a:gd name="connsiteX7" fmla="*/ 497121 w 923645"/>
              <a:gd name="connsiteY7" fmla="*/ 471628 h 800100"/>
              <a:gd name="connsiteX8" fmla="*/ 572621 w 923645"/>
              <a:gd name="connsiteY8" fmla="*/ 185317 h 800100"/>
              <a:gd name="connsiteX9" fmla="*/ 831476 w 923645"/>
              <a:gd name="connsiteY9" fmla="*/ 0 h 800100"/>
              <a:gd name="connsiteX10" fmla="*/ 334356 w 923645"/>
              <a:gd name="connsiteY10" fmla="*/ 0 h 800100"/>
              <a:gd name="connsiteX11" fmla="*/ 426524 w 923645"/>
              <a:gd name="connsiteY11" fmla="*/ 174531 h 800100"/>
              <a:gd name="connsiteX12" fmla="*/ 270622 w 923645"/>
              <a:gd name="connsiteY12" fmla="*/ 279937 h 800100"/>
              <a:gd name="connsiteX13" fmla="*/ 222577 w 923645"/>
              <a:gd name="connsiteY13" fmla="*/ 403972 h 800100"/>
              <a:gd name="connsiteX14" fmla="*/ 426524 w 923645"/>
              <a:gd name="connsiteY14" fmla="*/ 403972 h 800100"/>
              <a:gd name="connsiteX15" fmla="*/ 426524 w 923645"/>
              <a:gd name="connsiteY15" fmla="*/ 800100 h 800100"/>
              <a:gd name="connsiteX16" fmla="*/ 0 w 923645"/>
              <a:gd name="connsiteY16" fmla="*/ 800100 h 800100"/>
              <a:gd name="connsiteX17" fmla="*/ 0 w 923645"/>
              <a:gd name="connsiteY17" fmla="*/ 471628 h 800100"/>
              <a:gd name="connsiteX18" fmla="*/ 75499 w 923645"/>
              <a:gd name="connsiteY18" fmla="*/ 185317 h 800100"/>
              <a:gd name="connsiteX19" fmla="*/ 334356 w 923645"/>
              <a:gd name="connsiteY19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23645" h="800100">
                <a:moveTo>
                  <a:pt x="831476" y="0"/>
                </a:moveTo>
                <a:lnTo>
                  <a:pt x="923645" y="174531"/>
                </a:lnTo>
                <a:cubicBezTo>
                  <a:pt x="848472" y="209830"/>
                  <a:pt x="796505" y="244966"/>
                  <a:pt x="767743" y="279937"/>
                </a:cubicBezTo>
                <a:cubicBezTo>
                  <a:pt x="738982" y="314909"/>
                  <a:pt x="722966" y="356254"/>
                  <a:pt x="719698" y="403972"/>
                </a:cubicBezTo>
                <a:lnTo>
                  <a:pt x="923645" y="403972"/>
                </a:lnTo>
                <a:lnTo>
                  <a:pt x="923645" y="800100"/>
                </a:lnTo>
                <a:lnTo>
                  <a:pt x="497121" y="800100"/>
                </a:lnTo>
                <a:lnTo>
                  <a:pt x="497121" y="471628"/>
                </a:lnTo>
                <a:cubicBezTo>
                  <a:pt x="497121" y="350697"/>
                  <a:pt x="522288" y="255261"/>
                  <a:pt x="572621" y="185317"/>
                </a:cubicBezTo>
                <a:cubicBezTo>
                  <a:pt x="622954" y="115374"/>
                  <a:pt x="709239" y="53601"/>
                  <a:pt x="831476" y="0"/>
                </a:cubicBezTo>
                <a:close/>
                <a:moveTo>
                  <a:pt x="334356" y="0"/>
                </a:moveTo>
                <a:lnTo>
                  <a:pt x="426524" y="174531"/>
                </a:lnTo>
                <a:cubicBezTo>
                  <a:pt x="351351" y="209830"/>
                  <a:pt x="299384" y="244966"/>
                  <a:pt x="270622" y="279937"/>
                </a:cubicBezTo>
                <a:cubicBezTo>
                  <a:pt x="241860" y="314909"/>
                  <a:pt x="225845" y="356254"/>
                  <a:pt x="222577" y="403972"/>
                </a:cubicBezTo>
                <a:lnTo>
                  <a:pt x="426524" y="403972"/>
                </a:lnTo>
                <a:lnTo>
                  <a:pt x="426524" y="800100"/>
                </a:lnTo>
                <a:lnTo>
                  <a:pt x="0" y="800100"/>
                </a:lnTo>
                <a:lnTo>
                  <a:pt x="0" y="471628"/>
                </a:lnTo>
                <a:cubicBezTo>
                  <a:pt x="0" y="350697"/>
                  <a:pt x="25167" y="255261"/>
                  <a:pt x="75499" y="185317"/>
                </a:cubicBezTo>
                <a:cubicBezTo>
                  <a:pt x="125833" y="115374"/>
                  <a:pt x="212118" y="53601"/>
                  <a:pt x="3343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Freeform 12"/>
          <p:cNvSpPr>
            <a:spLocks noChangeAspect="1"/>
          </p:cNvSpPr>
          <p:nvPr userDrawn="1"/>
        </p:nvSpPr>
        <p:spPr bwMode="auto">
          <a:xfrm>
            <a:off x="10363200" y="3886200"/>
            <a:ext cx="1055590" cy="914400"/>
          </a:xfrm>
          <a:custGeom>
            <a:avLst/>
            <a:gdLst>
              <a:gd name="connsiteX0" fmla="*/ 752200 w 1397580"/>
              <a:gd name="connsiteY0" fmla="*/ 0 h 1210643"/>
              <a:gd name="connsiteX1" fmla="*/ 1397580 w 1397580"/>
              <a:gd name="connsiteY1" fmla="*/ 0 h 1210643"/>
              <a:gd name="connsiteX2" fmla="*/ 1397580 w 1397580"/>
              <a:gd name="connsiteY2" fmla="*/ 497016 h 1210643"/>
              <a:gd name="connsiteX3" fmla="*/ 1283340 w 1397580"/>
              <a:gd name="connsiteY3" fmla="*/ 930978 h 1210643"/>
              <a:gd name="connsiteX4" fmla="*/ 893145 w 1397580"/>
              <a:gd name="connsiteY4" fmla="*/ 1210643 h 1210643"/>
              <a:gd name="connsiteX5" fmla="*/ 752200 w 1397580"/>
              <a:gd name="connsiteY5" fmla="*/ 946556 h 1210643"/>
              <a:gd name="connsiteX6" fmla="*/ 988839 w 1397580"/>
              <a:gd name="connsiteY6" fmla="*/ 787066 h 1210643"/>
              <a:gd name="connsiteX7" fmla="*/ 1060796 w 1397580"/>
              <a:gd name="connsiteY7" fmla="*/ 599387 h 1210643"/>
              <a:gd name="connsiteX8" fmla="*/ 752200 w 1397580"/>
              <a:gd name="connsiteY8" fmla="*/ 599387 h 1210643"/>
              <a:gd name="connsiteX9" fmla="*/ 0 w 1397580"/>
              <a:gd name="connsiteY9" fmla="*/ 0 h 1210643"/>
              <a:gd name="connsiteX10" fmla="*/ 645379 w 1397580"/>
              <a:gd name="connsiteY10" fmla="*/ 0 h 1210643"/>
              <a:gd name="connsiteX11" fmla="*/ 645379 w 1397580"/>
              <a:gd name="connsiteY11" fmla="*/ 497016 h 1210643"/>
              <a:gd name="connsiteX12" fmla="*/ 531140 w 1397580"/>
              <a:gd name="connsiteY12" fmla="*/ 930978 h 1210643"/>
              <a:gd name="connsiteX13" fmla="*/ 140945 w 1397580"/>
              <a:gd name="connsiteY13" fmla="*/ 1210643 h 1210643"/>
              <a:gd name="connsiteX14" fmla="*/ 0 w 1397580"/>
              <a:gd name="connsiteY14" fmla="*/ 946556 h 1210643"/>
              <a:gd name="connsiteX15" fmla="*/ 236639 w 1397580"/>
              <a:gd name="connsiteY15" fmla="*/ 787066 h 1210643"/>
              <a:gd name="connsiteX16" fmla="*/ 308595 w 1397580"/>
              <a:gd name="connsiteY16" fmla="*/ 599387 h 1210643"/>
              <a:gd name="connsiteX17" fmla="*/ 0 w 1397580"/>
              <a:gd name="connsiteY17" fmla="*/ 599387 h 121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97580" h="1210643">
                <a:moveTo>
                  <a:pt x="752200" y="0"/>
                </a:moveTo>
                <a:lnTo>
                  <a:pt x="1397580" y="0"/>
                </a:lnTo>
                <a:lnTo>
                  <a:pt x="1397580" y="497016"/>
                </a:lnTo>
                <a:cubicBezTo>
                  <a:pt x="1397580" y="679998"/>
                  <a:pt x="1359500" y="824652"/>
                  <a:pt x="1283340" y="930978"/>
                </a:cubicBezTo>
                <a:cubicBezTo>
                  <a:pt x="1207181" y="1037306"/>
                  <a:pt x="1077116" y="1130527"/>
                  <a:pt x="893145" y="1210643"/>
                </a:cubicBezTo>
                <a:lnTo>
                  <a:pt x="752200" y="946556"/>
                </a:lnTo>
                <a:cubicBezTo>
                  <a:pt x="866935" y="893146"/>
                  <a:pt x="945814" y="839983"/>
                  <a:pt x="988839" y="787066"/>
                </a:cubicBezTo>
                <a:cubicBezTo>
                  <a:pt x="1031865" y="734150"/>
                  <a:pt x="1055850" y="671590"/>
                  <a:pt x="1060796" y="599387"/>
                </a:cubicBezTo>
                <a:lnTo>
                  <a:pt x="752200" y="599387"/>
                </a:lnTo>
                <a:close/>
                <a:moveTo>
                  <a:pt x="0" y="0"/>
                </a:moveTo>
                <a:lnTo>
                  <a:pt x="645379" y="0"/>
                </a:lnTo>
                <a:lnTo>
                  <a:pt x="645379" y="497016"/>
                </a:lnTo>
                <a:cubicBezTo>
                  <a:pt x="645379" y="679998"/>
                  <a:pt x="607299" y="824652"/>
                  <a:pt x="531140" y="930978"/>
                </a:cubicBezTo>
                <a:cubicBezTo>
                  <a:pt x="454980" y="1037306"/>
                  <a:pt x="324915" y="1130527"/>
                  <a:pt x="140945" y="1210643"/>
                </a:cubicBezTo>
                <a:lnTo>
                  <a:pt x="0" y="946556"/>
                </a:lnTo>
                <a:cubicBezTo>
                  <a:pt x="114734" y="893146"/>
                  <a:pt x="193614" y="839983"/>
                  <a:pt x="236639" y="787066"/>
                </a:cubicBezTo>
                <a:cubicBezTo>
                  <a:pt x="279664" y="734150"/>
                  <a:pt x="303650" y="671590"/>
                  <a:pt x="308595" y="599387"/>
                </a:cubicBezTo>
                <a:lnTo>
                  <a:pt x="0" y="599387"/>
                </a:ln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91408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C29E-186A-46A5-8C20-9D17D84F1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D2BAF-5F1C-4995-AC68-7251935C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5817B-0075-4442-8FC5-6345A428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30350-B5AC-4494-8F19-E116B952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230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26AC1-0738-4DF2-AD94-A51900A39340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9820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11811000" y="0"/>
            <a:ext cx="381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664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2880"/>
            <a:ext cx="11430000" cy="9144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2029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5181600" cy="6858000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2162"/>
            <a:ext cx="4572000" cy="2738438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0" y="2062162"/>
            <a:ext cx="6400800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8402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75844" y="274320"/>
            <a:ext cx="11640312" cy="6309360"/>
          </a:xfrm>
          <a:solidFill>
            <a:schemeClr val="accent5"/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43400"/>
            <a:ext cx="10972800" cy="1828800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3598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1120"/>
            <a:ext cx="10972800" cy="1375761"/>
          </a:xfrm>
        </p:spPr>
        <p:txBody>
          <a:bodyPr anchor="ctr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210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486401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143000"/>
            <a:ext cx="54864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9572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1" y="1143000"/>
            <a:ext cx="36576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534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7549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27432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722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0678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0424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5486400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54864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028701"/>
            <a:ext cx="5486398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599" y="1600202"/>
            <a:ext cx="5486399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7176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672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672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534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534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950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766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766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22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22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67800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67800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2959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8944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a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8098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L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1772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Mediu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4297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8842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0969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ri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1967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Second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2655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Tertiary">
    <p:bg>
      <p:bgPr>
        <a:solidFill>
          <a:srgbClr val="0058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3486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Gradient">
    <p:bg>
      <p:bgPr>
        <a:gradFill flip="none" rotWithShape="1">
          <a:gsLst>
            <a:gs pos="0">
              <a:schemeClr val="accent2"/>
            </a:gs>
            <a:gs pos="100000">
              <a:schemeClr val="accent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8718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544458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imated 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apezoid 12">
            <a:extLst>
              <a:ext uri="{FF2B5EF4-FFF2-40B4-BE49-F238E27FC236}">
                <a16:creationId xmlns:a16="http://schemas.microsoft.com/office/drawing/2014/main" id="{5DD5D4CC-621C-41F8-8ABA-55DAA028ECBB}"/>
              </a:ext>
            </a:extLst>
          </p:cNvPr>
          <p:cNvSpPr/>
          <p:nvPr userDrawn="1"/>
        </p:nvSpPr>
        <p:spPr>
          <a:xfrm rot="10800000">
            <a:off x="4724400" y="4191000"/>
            <a:ext cx="2743200" cy="609600"/>
          </a:xfrm>
          <a:prstGeom prst="trapezoid">
            <a:avLst>
              <a:gd name="adj" fmla="val 1174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2" name="Group 1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3199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79028 L 5.55112E-17 0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51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7007 L 0 0.0444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24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0000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1"/>
          <p:cNvSpPr>
            <a:spLocks noEditPoints="1"/>
          </p:cNvSpPr>
          <p:nvPr userDrawn="1"/>
        </p:nvSpPr>
        <p:spPr bwMode="auto">
          <a:xfrm>
            <a:off x="5155469" y="3117914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100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97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Closing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gradFill flip="none" rotWithShape="1">
            <a:gsLst>
              <a:gs pos="1000">
                <a:srgbClr val="53BD4E"/>
              </a:gs>
              <a:gs pos="100000">
                <a:srgbClr val="00CBE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2" name="Freeform 21"/>
          <p:cNvSpPr/>
          <p:nvPr userDrawn="1"/>
        </p:nvSpPr>
        <p:spPr bwMode="auto">
          <a:xfrm flipV="1">
            <a:off x="3757578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Freeform 22"/>
          <p:cNvSpPr/>
          <p:nvPr userDrawn="1"/>
        </p:nvSpPr>
        <p:spPr bwMode="auto">
          <a:xfrm flipH="1" flipV="1">
            <a:off x="6502400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solidFill>
            <a:srgbClr val="565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267200" y="4800600"/>
            <a:ext cx="3657600" cy="2057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6" name="Freeform 25"/>
          <p:cNvSpPr/>
          <p:nvPr userDrawn="1"/>
        </p:nvSpPr>
        <p:spPr bwMode="auto">
          <a:xfrm flipH="1">
            <a:off x="7010400" y="3824258"/>
            <a:ext cx="914400" cy="27432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Freeform 26"/>
          <p:cNvSpPr/>
          <p:nvPr userDrawn="1"/>
        </p:nvSpPr>
        <p:spPr bwMode="auto">
          <a:xfrm>
            <a:off x="4267200" y="3824258"/>
            <a:ext cx="914400" cy="2743200"/>
          </a:xfrm>
          <a:custGeom>
            <a:avLst/>
            <a:gdLst>
              <a:gd name="connsiteX0" fmla="*/ 0 w 914400"/>
              <a:gd name="connsiteY0" fmla="*/ 0 h 2743200"/>
              <a:gd name="connsiteX1" fmla="*/ 457200 w 914400"/>
              <a:gd name="connsiteY1" fmla="*/ 0 h 2743200"/>
              <a:gd name="connsiteX2" fmla="*/ 914400 w 914400"/>
              <a:gd name="connsiteY2" fmla="*/ 2743200 h 2743200"/>
              <a:gd name="connsiteX3" fmla="*/ 457200 w 914400"/>
              <a:gd name="connsiteY3" fmla="*/ 2743200 h 2743200"/>
              <a:gd name="connsiteX4" fmla="*/ 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0" y="0"/>
                </a:moveTo>
                <a:lnTo>
                  <a:pt x="457200" y="0"/>
                </a:lnTo>
                <a:lnTo>
                  <a:pt x="914400" y="2743200"/>
                </a:lnTo>
                <a:lnTo>
                  <a:pt x="457200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Freeform 21"/>
          <p:cNvSpPr>
            <a:spLocks noEditPoints="1"/>
          </p:cNvSpPr>
          <p:nvPr userDrawn="1"/>
        </p:nvSpPr>
        <p:spPr bwMode="auto">
          <a:xfrm>
            <a:off x="5155469" y="3117458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4572000"/>
            <a:ext cx="7315200" cy="457200"/>
          </a:xfrm>
        </p:spPr>
        <p:txBody>
          <a:bodyPr>
            <a:noAutofit/>
          </a:bodyPr>
          <a:lstStyle>
            <a:lvl1pPr marL="5715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bg1"/>
                </a:solidFill>
              </a:defRPr>
            </a:lvl2pPr>
            <a:lvl3pPr marL="800100" indent="0" algn="ctr">
              <a:buNone/>
              <a:defRPr sz="1800">
                <a:solidFill>
                  <a:schemeClr val="bg1"/>
                </a:solidFill>
              </a:defRPr>
            </a:lvl3pPr>
            <a:lvl4pPr marL="1198563" indent="0" algn="ctr">
              <a:buNone/>
              <a:defRPr sz="1600">
                <a:solidFill>
                  <a:schemeClr val="bg1"/>
                </a:solidFill>
              </a:defRPr>
            </a:lvl4pPr>
            <a:lvl5pPr marL="1604962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&lt;Call to action&gt;</a:t>
            </a:r>
          </a:p>
        </p:txBody>
      </p:sp>
    </p:spTree>
    <p:extLst>
      <p:ext uri="{BB962C8B-B14F-4D97-AF65-F5344CB8AC3E}">
        <p14:creationId xmlns:p14="http://schemas.microsoft.com/office/powerpoint/2010/main" val="15857431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7" presetClass="exit" presetSubtype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70000" decel="2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4 " pathEditMode="relative" rAng="0" ptsTypes="AA">
                                      <p:cBhvr>
                                        <p:cTn id="38" dur="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022E-16 L 0 0.01667 " pathEditMode="relative" rAng="0" ptsTypes="AA">
                                      <p:cBhvr>
                                        <p:cTn id="40" dur="13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3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" presetClass="emph" presetSubtype="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30" fill="hold"/>
                                        <p:tgtEl>
                                          <p:spTgt spid="24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6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path" presetSubtype="0" decel="100000" fill="hold" grpId="1" nodeType="withEffect">
                                  <p:stCondLst>
                                    <p:cond delay="380"/>
                                  </p:stCondLst>
                                  <p:childTnLst>
                                    <p:animMotion origin="layout" path="M 0 1.85185E-6 L 0 0.1 " pathEditMode="relative" rAng="0" ptsTypes="AA">
                                      <p:cBhvr>
                                        <p:cTn id="63" dur="2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764 L 5.55112E-17 0.14236 " pathEditMode="relative" rAng="0" ptsTypes="AA">
                                      <p:cBhvr>
                                        <p:cTn id="69" dur="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764 L 0 0.14236 " pathEditMode="relative" rAng="0" ptsTypes="AA">
                                      <p:cBhvr>
                                        <p:cTn id="81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3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30"/>
                            </p:stCondLst>
                            <p:childTnLst>
                              <p:par>
                                <p:cTn id="8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13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5" grpId="0" animBg="1"/>
      <p:bldP spid="25" grpId="1" animBg="1"/>
      <p:bldP spid="25" grpId="2" animBg="1"/>
      <p:bldP spid="25" grpId="3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8" grpId="0" animBg="1"/>
      <p:bldP spid="28" grpId="1" animBg="1"/>
      <p:bldP spid="29" grpId="0" animBg="1"/>
      <p:bldP spid="29" grpId="1" animBg="1"/>
      <p:bldP spid="29" grpId="2" animBg="1"/>
      <p:bldP spid="29" grpId="3" animBg="1"/>
      <p:bldP spid="3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am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275844" y="274320"/>
            <a:ext cx="11640312" cy="6309360"/>
          </a:xfrm>
          <a:prstGeom prst="rect">
            <a:avLst/>
          </a:prstGeom>
          <a:noFill/>
          <a:ln w="57150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</a:gra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0051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1118-6541-467B-AB71-EAB04611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B97EB-ED75-4EDB-8F10-F21465C7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686800" cy="525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B1A47-1029-4EF2-AB59-A978C590A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6400" y="1143000"/>
            <a:ext cx="2514600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68143-0EE0-4783-89E1-5EA55EC5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BB4D3-DC82-4F22-84F1-DA3E8BF6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A4EFE-6E2A-4694-BE6D-C4EB3FAB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254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2049-244A-43A9-88AF-6787D327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E15E2-4FEA-40B8-945D-0B65E7AB7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24200" y="1143000"/>
            <a:ext cx="8686800" cy="5257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C6DC-B05C-4067-BC75-5292D1CF2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0" y="1143000"/>
            <a:ext cx="2514599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9517C-C18A-4977-84E8-E92783D4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D6DB1-8D60-4505-A190-4A11920A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2A32F-FDE5-4A2A-A5AF-32CCAB7B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0284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9D5C-A5D8-4D18-92D3-1790284F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90A79-549C-47E8-92BE-BDE73DBB4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E81E6-4801-4B57-BCF5-7A957125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FF66-4096-4B53-BDE2-48B92948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9FE22-CE81-47A2-9C57-58EADEE2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1A0692-27FF-492F-82F1-7C5A96123CBF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73769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E3BAA-4353-4449-B9AC-D52594A67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96400" y="228600"/>
            <a:ext cx="251460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E1CD9-D44A-45C2-A358-22F8C3110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868680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1B038-654A-4C00-8E40-A96929AE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B0D3-C000-4D4E-BCB4-E950A3FD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58687-6661-4CCF-9D72-C63BAC7E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F799F-F405-43CF-BB9D-38C9E6354058}"/>
              </a:ext>
            </a:extLst>
          </p:cNvPr>
          <p:cNvCxnSpPr>
            <a:cxnSpLocks/>
          </p:cNvCxnSpPr>
          <p:nvPr userDrawn="1"/>
        </p:nvCxnSpPr>
        <p:spPr>
          <a:xfrm>
            <a:off x="9182100" y="228600"/>
            <a:ext cx="0" cy="640080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  <a:tileRect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67173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76144-3494-48F5-912E-6FE667D2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  <a:prstGeom prst="rect">
            <a:avLst/>
          </a:prstGeom>
        </p:spPr>
        <p:txBody>
          <a:bodyPr vert="horz" lIns="0" tIns="4572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2797A-0E14-474C-848E-06912870A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43000"/>
            <a:ext cx="11430000" cy="5257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217E-6DDA-4383-B366-A0FA149DB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629400"/>
            <a:ext cx="13716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E200A-1E68-4329-B3DC-2AB4387CC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629401"/>
            <a:ext cx="77724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512A-0CCA-42A8-A940-F6DF060CC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9400" y="6629400"/>
            <a:ext cx="1371600" cy="114299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7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83" r:id="rId4"/>
    <p:sldLayoutId id="2147483684" r:id="rId5"/>
    <p:sldLayoutId id="2147483654" r:id="rId6"/>
    <p:sldLayoutId id="2147483650" r:id="rId7"/>
    <p:sldLayoutId id="2147483663" r:id="rId8"/>
    <p:sldLayoutId id="2147483662" r:id="rId9"/>
    <p:sldLayoutId id="2147483651" r:id="rId10"/>
    <p:sldLayoutId id="2147483664" r:id="rId11"/>
    <p:sldLayoutId id="2147483665" r:id="rId12"/>
    <p:sldLayoutId id="2147483652" r:id="rId13"/>
    <p:sldLayoutId id="2147483666" r:id="rId14"/>
    <p:sldLayoutId id="2147483667" r:id="rId15"/>
    <p:sldLayoutId id="2147483653" r:id="rId16"/>
    <p:sldLayoutId id="2147483668" r:id="rId17"/>
    <p:sldLayoutId id="2147483669" r:id="rId18"/>
    <p:sldLayoutId id="2147483655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2" r:id="rId31"/>
    <p:sldLayoutId id="2147483681" r:id="rId32"/>
    <p:sldLayoutId id="2147483685" r:id="rId33"/>
    <p:sldLayoutId id="2147483656" r:id="rId34"/>
    <p:sldLayoutId id="2147483657" r:id="rId35"/>
    <p:sldLayoutId id="2147483658" r:id="rId36"/>
    <p:sldLayoutId id="2147483659" r:id="rId37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84313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9125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44" userDrawn="1">
          <p15:clr>
            <a:srgbClr val="F26B43"/>
          </p15:clr>
        </p15:guide>
        <p15:guide id="4" orient="horz" pos="4176" userDrawn="1">
          <p15:clr>
            <a:srgbClr val="F26B43"/>
          </p15:clr>
        </p15:guide>
        <p15:guide id="5" pos="240" userDrawn="1">
          <p15:clr>
            <a:srgbClr val="F26B43"/>
          </p15:clr>
        </p15:guide>
        <p15:guide id="6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u279smhp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n56o30xq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999" y="228600"/>
            <a:ext cx="8801101" cy="2743200"/>
          </a:xfrm>
        </p:spPr>
        <p:txBody>
          <a:bodyPr>
            <a:noAutofit/>
          </a:bodyPr>
          <a:lstStyle/>
          <a:p>
            <a:r>
              <a:rPr lang="en-US" sz="6600" dirty="0"/>
              <a:t>DOM Manipulation: Updating 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5859489" cy="553998"/>
          </a:xfrm>
        </p:spPr>
        <p:txBody>
          <a:bodyPr/>
          <a:lstStyle/>
          <a:p>
            <a:r>
              <a:rPr lang="en-US"/>
              <a:t>HTO: Website Development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988083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– select this paragraph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11430000" cy="3543300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&lt;html&gt;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	&lt;body&gt;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		&lt;p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"my-text"</a:t>
            </a: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This</a:t>
            </a: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	&lt;/body&gt;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5372100"/>
            <a:ext cx="106058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myEl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document.querySelector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"#my-text"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4072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1000"/>
              </a:spcBef>
            </a:pPr>
            <a:r>
              <a:rPr lang="en-US" sz="4400" cap="none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lang="en-US" sz="4400" cap="none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+mn-ea"/>
                <a:cs typeface="+mn-cs"/>
              </a:rPr>
              <a:t>textContent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115443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myEl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document.querySelector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A31515"/>
                </a:solidFill>
                <a:latin typeface="Consolas" panose="020B0609020204030204" pitchFamily="49" charset="0"/>
              </a:rPr>
              <a:t>"#my-text"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rgbClr val="000000"/>
                </a:solidFill>
                <a:latin typeface="Consolas" panose="020B0609020204030204" pitchFamily="49" charset="0"/>
              </a:rPr>
              <a:t>myEl.textContent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4800" dirty="0">
                <a:solidFill>
                  <a:srgbClr val="A31515"/>
                </a:solidFill>
                <a:latin typeface="Consolas" panose="020B0609020204030204" pitchFamily="49" charset="0"/>
              </a:rPr>
              <a:t>"Different"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endParaRPr lang="en-US" dirty="0"/>
          </a:p>
          <a:p>
            <a:r>
              <a:rPr lang="en-US" sz="3200" dirty="0"/>
              <a:t>Sets the value like a variable</a:t>
            </a:r>
          </a:p>
          <a:p>
            <a:r>
              <a:rPr lang="en-US" sz="3200" dirty="0"/>
              <a:t>Allows the developer to change the content of the page!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752600" y="2514600"/>
            <a:ext cx="4114800" cy="800100"/>
          </a:xfrm>
          <a:prstGeom prst="rect">
            <a:avLst/>
          </a:prstGeom>
          <a:solidFill>
            <a:schemeClr val="accent1">
              <a:alpha val="17000"/>
            </a:schemeClr>
          </a:solidFill>
          <a:ln w="22225">
            <a:solidFill>
              <a:schemeClr val="accent1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7003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content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" indent="0">
              <a:buNone/>
            </a:pPr>
            <a:r>
              <a:rPr lang="en-US" sz="9600" dirty="0">
                <a:hlinkClick r:id="rId3"/>
              </a:rPr>
              <a:t>https://jsfiddle.net/u279smhp/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28836705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1000"/>
              </a:spcBef>
            </a:pPr>
            <a:r>
              <a:rPr lang="en-US" sz="4400" cap="none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+mn-ea"/>
                <a:cs typeface="+mn-cs"/>
              </a:rPr>
              <a:t>document.createElement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myPara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document.createElement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A31515"/>
                </a:solidFill>
                <a:latin typeface="Consolas" panose="020B0609020204030204" pitchFamily="49" charset="0"/>
              </a:rPr>
              <a:t>"p"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myPara.textContent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3600" dirty="0">
                <a:solidFill>
                  <a:srgbClr val="A31515"/>
                </a:solidFill>
                <a:latin typeface="Consolas" panose="020B0609020204030204" pitchFamily="49" charset="0"/>
              </a:rPr>
              <a:t>"New paragraph!"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>
              <a:buClr>
                <a:srgbClr val="98989A"/>
              </a:buClr>
            </a:pPr>
            <a:r>
              <a:rPr lang="en-US" sz="3200" dirty="0">
                <a:solidFill>
                  <a:srgbClr val="56565A"/>
                </a:solidFill>
              </a:rPr>
              <a:t>Creates a totally new HTML element</a:t>
            </a:r>
          </a:p>
          <a:p>
            <a:pPr lvl="1">
              <a:buClr>
                <a:srgbClr val="98989A"/>
              </a:buClr>
            </a:pPr>
            <a:r>
              <a:rPr lang="en-US" sz="2800" dirty="0">
                <a:solidFill>
                  <a:srgbClr val="56565A"/>
                </a:solidFill>
              </a:rPr>
              <a:t>Can be any tag – depends what is passed</a:t>
            </a:r>
          </a:p>
          <a:p>
            <a:pPr>
              <a:buClr>
                <a:srgbClr val="98989A"/>
              </a:buClr>
            </a:pPr>
            <a:r>
              <a:rPr lang="en-US" sz="3200" dirty="0">
                <a:solidFill>
                  <a:srgbClr val="56565A"/>
                </a:solidFill>
              </a:rPr>
              <a:t>Uses 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textContent</a:t>
            </a:r>
            <a:r>
              <a:rPr lang="en-US" sz="3200" dirty="0">
                <a:solidFill>
                  <a:srgbClr val="56565A"/>
                </a:solidFill>
              </a:rPr>
              <a:t> to set the value</a:t>
            </a:r>
          </a:p>
          <a:p>
            <a:pPr marL="57150" lvl="0" indent="0">
              <a:buClr>
                <a:srgbClr val="98989A"/>
              </a:buClr>
              <a:buNone/>
            </a:pP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44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New paragraph!</a:t>
            </a:r>
            <a:r>
              <a:rPr lang="en-US" sz="4400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81400" y="1143000"/>
            <a:ext cx="5600700" cy="663191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499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the new element go?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" indent="0">
              <a:buNone/>
            </a:pPr>
            <a:r>
              <a:rPr lang="en-US" i="1" dirty="0"/>
              <a:t>Nowhere!</a:t>
            </a:r>
            <a:endParaRPr lang="en-US" dirty="0"/>
          </a:p>
          <a:p>
            <a:r>
              <a:rPr lang="en-US" dirty="0"/>
              <a:t>Before the element appears, it must be </a:t>
            </a:r>
            <a:r>
              <a:rPr lang="en-US" i="1" dirty="0"/>
              <a:t>appended</a:t>
            </a:r>
            <a:r>
              <a:rPr lang="en-US" dirty="0"/>
              <a:t> to the document</a:t>
            </a:r>
          </a:p>
          <a:p>
            <a:r>
              <a:rPr lang="en-US" dirty="0"/>
              <a:t>Use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appendChild</a:t>
            </a:r>
            <a:r>
              <a:rPr lang="en-US" dirty="0"/>
              <a:t> to add the element as a child of </a:t>
            </a:r>
            <a:r>
              <a:rPr lang="en-US" i="1" dirty="0"/>
              <a:t>another</a:t>
            </a:r>
            <a:r>
              <a:rPr lang="en-US" dirty="0"/>
              <a:t> element</a:t>
            </a:r>
          </a:p>
          <a:p>
            <a:endParaRPr lang="en-US" dirty="0"/>
          </a:p>
          <a:p>
            <a:pPr marL="57150" indent="0">
              <a:buNone/>
            </a:pPr>
            <a:r>
              <a:rPr lang="en-US" b="1" dirty="0"/>
              <a:t>HTML: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"container"</a:t>
            </a:r>
            <a:r>
              <a:rPr lang="en-US" sz="2800" dirty="0">
                <a:solidFill>
                  <a:srgbClr val="800000"/>
                </a:solidFill>
                <a:latin typeface="Consolas" panose="020B0609020204030204" pitchFamily="49" charset="0"/>
              </a:rPr>
              <a:t>&gt;&lt;/div&gt;</a:t>
            </a:r>
          </a:p>
          <a:p>
            <a:pPr marL="57150" indent="0">
              <a:buNone/>
            </a:pPr>
            <a:r>
              <a:rPr lang="en-US" b="1" dirty="0"/>
              <a:t>JS:</a:t>
            </a:r>
            <a:endParaRPr lang="en-US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myDiv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document.querySelector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"#container"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00050" lvl="1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myDiv.appendChild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myPara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800" i="1" dirty="0"/>
          </a:p>
          <a:p>
            <a:pPr marL="57150" indent="0">
              <a:buNone/>
            </a:pPr>
            <a:endParaRPr lang="en-US" i="1" dirty="0"/>
          </a:p>
        </p:txBody>
      </p:sp>
      <p:sp>
        <p:nvSpPr>
          <p:cNvPr id="4" name="Rectangle 3"/>
          <p:cNvSpPr/>
          <p:nvPr/>
        </p:nvSpPr>
        <p:spPr>
          <a:xfrm>
            <a:off x="1752600" y="5681131"/>
            <a:ext cx="2400300" cy="663191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081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down the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 err="1">
                <a:solidFill>
                  <a:srgbClr val="000000"/>
                </a:solidFill>
                <a:latin typeface="Consolas" panose="020B0609020204030204" pitchFamily="49" charset="0"/>
              </a:rPr>
              <a:t>myDiv.appendChild</a:t>
            </a:r>
            <a:r>
              <a:rPr lang="en-US" sz="5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5400" dirty="0" err="1">
                <a:solidFill>
                  <a:srgbClr val="000000"/>
                </a:solidFill>
                <a:latin typeface="Consolas" panose="020B0609020204030204" pitchFamily="49" charset="0"/>
              </a:rPr>
              <a:t>myPara</a:t>
            </a:r>
            <a:r>
              <a:rPr lang="en-US" sz="5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81000" y="1075765"/>
            <a:ext cx="1876061" cy="1097280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7732" y="2463501"/>
            <a:ext cx="102188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00CBE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myDiv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CBE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00CBE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CBE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containing an existing parent element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7060" y="1075765"/>
            <a:ext cx="4867639" cy="1097280"/>
          </a:xfrm>
          <a:prstGeom prst="rect">
            <a:avLst/>
          </a:prstGeom>
          <a:solidFill>
            <a:schemeClr val="accent2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410700" y="1075765"/>
            <a:ext cx="817693" cy="1097280"/>
          </a:xfrm>
          <a:prstGeom prst="rect">
            <a:avLst/>
          </a:prstGeom>
          <a:solidFill>
            <a:schemeClr val="accent2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7732" y="5045584"/>
            <a:ext cx="105617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6CC04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6CC04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appendChild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6CC0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6CC0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6CC0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that adds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6CC04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myPara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6CC0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the page as a child of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6CC04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myDiv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6CC04A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24700" y="1075765"/>
            <a:ext cx="2286000" cy="1097280"/>
          </a:xfrm>
          <a:prstGeom prst="rect">
            <a:avLst/>
          </a:prstGeom>
          <a:solidFill>
            <a:srgbClr val="FF8300">
              <a:alpha val="25000"/>
            </a:srgbClr>
          </a:solidFill>
          <a:ln>
            <a:solidFill>
              <a:srgbClr val="FF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7732" y="4013723"/>
            <a:ext cx="104474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myPara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containing a new child element</a:t>
            </a:r>
          </a:p>
        </p:txBody>
      </p:sp>
    </p:spTree>
    <p:extLst>
      <p:ext uri="{BB962C8B-B14F-4D97-AF65-F5344CB8AC3E}">
        <p14:creationId xmlns:p14="http://schemas.microsoft.com/office/powerpoint/2010/main" val="5267512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 child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" indent="0">
              <a:buNone/>
            </a:pPr>
            <a:r>
              <a:rPr lang="en-US" sz="9600" dirty="0">
                <a:hlinkClick r:id="rId3"/>
              </a:rPr>
              <a:t>https://jsfiddle.net/</a:t>
            </a:r>
            <a:r>
              <a:rPr lang="en-US" sz="9600">
                <a:hlinkClick r:id="rId3"/>
              </a:rPr>
              <a:t>n56o30xq/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52467626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CBF4D0-D013-46D0-B59F-9567A62ADA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65348113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Hyland 2019">
  <a:themeElements>
    <a:clrScheme name="Hyland">
      <a:dk1>
        <a:srgbClr val="56565A"/>
      </a:dk1>
      <a:lt1>
        <a:srgbClr val="FFFFFF"/>
      </a:lt1>
      <a:dk2>
        <a:srgbClr val="56565A"/>
      </a:dk2>
      <a:lt2>
        <a:srgbClr val="EFEFF0"/>
      </a:lt2>
      <a:accent1>
        <a:srgbClr val="54C8E8"/>
      </a:accent1>
      <a:accent2>
        <a:srgbClr val="6ABF4B"/>
      </a:accent2>
      <a:accent3>
        <a:srgbClr val="98989A"/>
      </a:accent3>
      <a:accent4>
        <a:srgbClr val="C8C8C8"/>
      </a:accent4>
      <a:accent5>
        <a:srgbClr val="EFEFF0"/>
      </a:accent5>
      <a:accent6>
        <a:srgbClr val="FFFFFF"/>
      </a:accent6>
      <a:hlink>
        <a:srgbClr val="6ABF4B"/>
      </a:hlink>
      <a:folHlink>
        <a:srgbClr val="6ABF4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yland">
      <a:fillStyleLst>
        <a:solidFill>
          <a:schemeClr val="phClr"/>
        </a:solidFill>
        <a:solidFill>
          <a:schemeClr val="phClr">
            <a:satMod val="180000"/>
            <a:tint val="40000"/>
          </a:schemeClr>
        </a:solidFill>
        <a:solidFill>
          <a:schemeClr val="phClr">
            <a:shade val="40000"/>
          </a:schemeClr>
        </a:solidFill>
      </a:fillStyleLst>
      <a:lnStyleLst>
        <a:ln>
          <a:solidFill>
            <a:schemeClr val="phClr"/>
          </a:solidFill>
          <a:headEnd type="none" w="med" len="med"/>
          <a:tailEnd type="none" w="med" len="med"/>
        </a:ln>
        <a:ln w="12700" cap="flat" cmpd="sng" algn="ctr">
          <a:solidFill>
            <a:schemeClr val="phClr"/>
          </a:solidFill>
          <a:prstDash val="solid"/>
          <a:miter lim="800000"/>
        </a:ln>
        <a:ln>
          <a:solidFill>
            <a:schemeClr val="phClr"/>
          </a:solidFill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 bwMode="auto">
        <a:solidFill>
          <a:schemeClr val="accent5"/>
        </a:solidFill>
        <a:ln w="12700">
          <a:solidFill>
            <a:schemeClr val="tx2"/>
          </a:solidFill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 w="12700">
          <a:miter lim="800000"/>
          <a:headEnd type="none"/>
          <a:tailEnd type="non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custClrLst>
    <a:custClr name="Hyland Green">
      <a:srgbClr val="6ABF4B"/>
    </a:custClr>
    <a:custClr name="Technology Blue">
      <a:srgbClr val="00586F"/>
    </a:custClr>
    <a:custClr name="Bright Blue">
      <a:srgbClr val="54C8E8"/>
    </a:custClr>
    <a:custClr name="Light Blue">
      <a:srgbClr val="96DAEA"/>
    </a:custClr>
    <a:custClr name="Pink">
      <a:srgbClr val="E95EBE"/>
    </a:custClr>
    <a:custClr name="Dark Gray">
      <a:srgbClr val="56565A"/>
    </a:custClr>
    <a:custClr name="Medium Gray">
      <a:srgbClr val="98989A"/>
    </a:custClr>
    <a:custClr name="Light Gray">
      <a:srgbClr val="C8C8C8"/>
    </a:custClr>
    <a:custClr name="Pale Gray">
      <a:srgbClr val="EFEFF0"/>
    </a:custClr>
    <a:custClr name="White">
      <a:srgbClr val="FFFFFF"/>
    </a:custClr>
    <a:custClr name="Orange">
      <a:srgbClr val="FF8300"/>
    </a:custClr>
    <a:custClr name="Purple">
      <a:srgbClr val="624B78"/>
    </a:custClr>
    <a:custClr name="Yellow">
      <a:srgbClr val="FFB71B"/>
    </a:custClr>
    <a:custClr name="Dark Blue">
      <a:srgbClr val="00303C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2318</TotalTime>
  <Words>566</Words>
  <Application>Microsoft Office PowerPoint</Application>
  <PresentationFormat>Widescreen</PresentationFormat>
  <Paragraphs>78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Segoe UI</vt:lpstr>
      <vt:lpstr>Wingdings</vt:lpstr>
      <vt:lpstr>Hyland 2019</vt:lpstr>
      <vt:lpstr>DOM Manipulation: Updating HTML</vt:lpstr>
      <vt:lpstr>Review – select this paragraph in JavaScript</vt:lpstr>
      <vt:lpstr>.textContent</vt:lpstr>
      <vt:lpstr>Text content example</vt:lpstr>
      <vt:lpstr>document.createElement</vt:lpstr>
      <vt:lpstr>Where does the new element go?</vt:lpstr>
      <vt:lpstr>Breaking down the statement</vt:lpstr>
      <vt:lpstr>Append child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Trent Turner</dc:creator>
  <cp:lastModifiedBy>Joseph Maxwell</cp:lastModifiedBy>
  <cp:revision>87</cp:revision>
  <dcterms:created xsi:type="dcterms:W3CDTF">2019-03-11T04:04:09Z</dcterms:created>
  <dcterms:modified xsi:type="dcterms:W3CDTF">2026-06-08T18:34:08Z</dcterms:modified>
</cp:coreProperties>
</file>