
<file path=[Content_Types].xml><?xml version="1.0" encoding="utf-8"?>
<Types xmlns="http://schemas.openxmlformats.org/package/2006/content-types">
  <Default Extension="fntdata" ContentType="application/x-fontdata"/>
  <Default Extension="gif" ContentType="image/gif"/>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37"/>
  </p:notesMasterIdLst>
  <p:sldIdLst>
    <p:sldId id="361" r:id="rId2"/>
    <p:sldId id="379" r:id="rId3"/>
    <p:sldId id="362" r:id="rId4"/>
    <p:sldId id="378" r:id="rId5"/>
    <p:sldId id="380" r:id="rId6"/>
    <p:sldId id="384" r:id="rId7"/>
    <p:sldId id="386" r:id="rId8"/>
    <p:sldId id="382" r:id="rId9"/>
    <p:sldId id="383" r:id="rId10"/>
    <p:sldId id="385" r:id="rId11"/>
    <p:sldId id="387" r:id="rId12"/>
    <p:sldId id="388" r:id="rId13"/>
    <p:sldId id="389" r:id="rId14"/>
    <p:sldId id="390" r:id="rId15"/>
    <p:sldId id="392" r:id="rId16"/>
    <p:sldId id="393" r:id="rId17"/>
    <p:sldId id="394" r:id="rId18"/>
    <p:sldId id="391" r:id="rId19"/>
    <p:sldId id="396" r:id="rId20"/>
    <p:sldId id="397" r:id="rId21"/>
    <p:sldId id="399" r:id="rId22"/>
    <p:sldId id="400" r:id="rId23"/>
    <p:sldId id="401" r:id="rId24"/>
    <p:sldId id="398" r:id="rId25"/>
    <p:sldId id="403" r:id="rId26"/>
    <p:sldId id="402" r:id="rId27"/>
    <p:sldId id="405" r:id="rId28"/>
    <p:sldId id="406" r:id="rId29"/>
    <p:sldId id="407" r:id="rId30"/>
    <p:sldId id="408" r:id="rId31"/>
    <p:sldId id="410" r:id="rId32"/>
    <p:sldId id="409" r:id="rId33"/>
    <p:sldId id="411" r:id="rId34"/>
    <p:sldId id="412" r:id="rId35"/>
    <p:sldId id="279" r:id="rId36"/>
  </p:sldIdLst>
  <p:sldSz cx="9144000" cy="5143500" type="screen16x9"/>
  <p:notesSz cx="6858000" cy="9144000"/>
  <p:embeddedFontLst>
    <p:embeddedFont>
      <p:font typeface="Consolas" panose="020B0609020204030204" pitchFamily="49" charset="0"/>
      <p:regular r:id="rId38"/>
      <p:bold r:id="rId39"/>
      <p:italic r:id="rId40"/>
      <p:boldItalic r:id="rId41"/>
    </p:embeddedFont>
    <p:embeddedFont>
      <p:font typeface="Krona One" panose="020B0604020202020204" charset="0"/>
      <p:regular r:id="rId42"/>
    </p:embeddedFont>
    <p:embeddedFont>
      <p:font typeface="Miriam Libre" panose="00000500000000000000" pitchFamily="2" charset="-79"/>
      <p:regular r:id="rId43"/>
      <p:bold r:id="rId44"/>
    </p:embeddedFont>
    <p:embeddedFont>
      <p:font typeface="Nitti" panose="02000509060000060004" pitchFamily="49" charset="0"/>
      <p:regular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duction" id="{78E8F73E-0516-42C2-BD7E-4395981CEDB7}">
          <p14:sldIdLst>
            <p14:sldId id="361"/>
            <p14:sldId id="379"/>
            <p14:sldId id="362"/>
            <p14:sldId id="378"/>
          </p14:sldIdLst>
        </p14:section>
        <p14:section name="Syntax" id="{8AE18618-E669-4A9D-A430-7ABE2C9F31C3}">
          <p14:sldIdLst>
            <p14:sldId id="380"/>
            <p14:sldId id="384"/>
            <p14:sldId id="386"/>
            <p14:sldId id="382"/>
            <p14:sldId id="383"/>
            <p14:sldId id="385"/>
            <p14:sldId id="387"/>
          </p14:sldIdLst>
        </p14:section>
        <p14:section name="Step by Step Example" id="{1A11984E-2F3D-4F60-A875-1AE2844306C3}">
          <p14:sldIdLst>
            <p14:sldId id="388"/>
            <p14:sldId id="389"/>
            <p14:sldId id="390"/>
            <p14:sldId id="392"/>
            <p14:sldId id="393"/>
            <p14:sldId id="394"/>
            <p14:sldId id="391"/>
            <p14:sldId id="396"/>
            <p14:sldId id="397"/>
            <p14:sldId id="399"/>
            <p14:sldId id="400"/>
            <p14:sldId id="401"/>
            <p14:sldId id="398"/>
            <p14:sldId id="403"/>
            <p14:sldId id="402"/>
            <p14:sldId id="405"/>
            <p14:sldId id="406"/>
            <p14:sldId id="407"/>
            <p14:sldId id="408"/>
            <p14:sldId id="410"/>
          </p14:sldIdLst>
        </p14:section>
        <p14:section name="Conclusion" id="{4216EE65-052D-4CDA-B661-41C6C7849CB5}">
          <p14:sldIdLst>
            <p14:sldId id="409"/>
            <p14:sldId id="411"/>
            <p14:sldId id="412"/>
            <p14:sldId id="279"/>
          </p14:sldIdLst>
        </p14:section>
      </p14:sectionLst>
    </p:ex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0B9"/>
    <a:srgbClr val="4D5EFF"/>
    <a:srgbClr val="A9B1FF"/>
    <a:srgbClr val="008EC0"/>
    <a:srgbClr val="00B1F0"/>
    <a:srgbClr val="FFEA9F"/>
    <a:srgbClr val="2626F7"/>
    <a:srgbClr val="A7B9C0"/>
    <a:srgbClr val="BCA44E"/>
    <a:srgbClr val="BC76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7088DE-29B3-4A1C-9BD6-51BBB168883E}">
  <a:tblStyle styleId="{917088DE-29B3-4A1C-9BD6-51BBB168883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0" autoAdjust="0"/>
    <p:restoredTop sz="75911" autoAdjust="0"/>
  </p:normalViewPr>
  <p:slideViewPr>
    <p:cSldViewPr snapToGrid="0">
      <p:cViewPr varScale="1">
        <p:scale>
          <a:sx n="107" d="100"/>
          <a:sy n="107" d="100"/>
        </p:scale>
        <p:origin x="1716" y="9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lnSpc>
                <a:spcPct val="115000"/>
              </a:lnSpc>
              <a:spcBef>
                <a:spcPts val="0"/>
              </a:spcBef>
              <a:spcAft>
                <a:spcPts val="0"/>
              </a:spcAft>
              <a:buClr>
                <a:schemeClr val="dk1"/>
              </a:buClr>
              <a:buSzPts val="1100"/>
            </a:pPr>
            <a:r>
              <a:rPr lang="en-US" sz="850" dirty="0">
                <a:solidFill>
                  <a:srgbClr val="5F7D96"/>
                </a:solidFill>
              </a:rPr>
              <a:t>This lesson is going to cover for loops – what they are, why we need them, and how to use them!</a:t>
            </a:r>
            <a:endParaRPr sz="850" dirty="0">
              <a:solidFill>
                <a:srgbClr val="5F7D96"/>
              </a:solidFil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14198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298450"/>
            <a:r>
              <a:rPr lang="en-US" dirty="0"/>
              <a:t>Repetition is a beautiful thing!</a:t>
            </a:r>
          </a:p>
          <a:p>
            <a:r>
              <a:rPr lang="en-US" dirty="0"/>
              <a:t>Any Daft Punk fan will know how compelling it can be to listen to a song that involves repetition – like the song </a:t>
            </a:r>
            <a:r>
              <a:rPr lang="en-US" b="1" dirty="0"/>
              <a:t>Around the World</a:t>
            </a:r>
            <a:r>
              <a:rPr lang="en-US" b="0" dirty="0"/>
              <a:t> [play the song, and trigger the next animation while the song is playing]</a:t>
            </a:r>
          </a:p>
          <a:p>
            <a:r>
              <a:rPr lang="en-US" b="0" dirty="0"/>
              <a:t>This song is like 7 minutes long, and the lyrics are just “Around the world” over and over again. It’s a great track!</a:t>
            </a:r>
          </a:p>
          <a:p>
            <a:r>
              <a:rPr lang="en-US" b="0" dirty="0"/>
              <a:t>But let’s imagine we had to create a program to display these lyrics, line by line.</a:t>
            </a:r>
          </a:p>
          <a:p>
            <a:endParaRPr lang="en-US" b="1" dirty="0"/>
          </a:p>
        </p:txBody>
      </p:sp>
    </p:spTree>
    <p:extLst>
      <p:ext uri="{BB962C8B-B14F-4D97-AF65-F5344CB8AC3E}">
        <p14:creationId xmlns:p14="http://schemas.microsoft.com/office/powerpoint/2010/main" val="1084653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298450"/>
            <a:r>
              <a:rPr lang="en-US" i="0" dirty="0"/>
              <a:t>The simple way to do this would be to repeat the code.</a:t>
            </a:r>
          </a:p>
          <a:p>
            <a:pPr marL="457200" indent="-298450"/>
            <a:r>
              <a:rPr lang="en-US" i="0" dirty="0"/>
              <a:t>Define a function named </a:t>
            </a:r>
            <a:r>
              <a:rPr lang="en-US" b="1" i="0" dirty="0" err="1"/>
              <a:t>daftPunk</a:t>
            </a:r>
            <a:r>
              <a:rPr lang="en-US" b="0" i="0" dirty="0"/>
              <a:t> that would just have a ton of </a:t>
            </a:r>
            <a:r>
              <a:rPr lang="en-US" b="1" i="0" dirty="0"/>
              <a:t>alert</a:t>
            </a:r>
            <a:r>
              <a:rPr lang="en-US" b="0" i="0" dirty="0"/>
              <a:t> statements (enough for the whole song) and that’s it!</a:t>
            </a:r>
          </a:p>
          <a:p>
            <a:pPr marL="457200" indent="-298450"/>
            <a:r>
              <a:rPr lang="en-US" b="0" i="0" dirty="0"/>
              <a:t>It’s simple, it’s effective… but </a:t>
            </a:r>
            <a:r>
              <a:rPr lang="en-US" b="1" i="1" dirty="0"/>
              <a:t>why might this be bad?</a:t>
            </a:r>
          </a:p>
          <a:p>
            <a:pPr marL="457200" indent="-298450"/>
            <a:r>
              <a:rPr lang="en-US" b="0" i="0" dirty="0"/>
              <a:t>In reality, repeating code is usually something you don’t want to do! Manually copying the same statement many times is tedious, and it makes the code messy. So what can we do?</a:t>
            </a:r>
          </a:p>
        </p:txBody>
      </p:sp>
    </p:spTree>
    <p:extLst>
      <p:ext uri="{BB962C8B-B14F-4D97-AF65-F5344CB8AC3E}">
        <p14:creationId xmlns:p14="http://schemas.microsoft.com/office/powerpoint/2010/main" val="470628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Luckily we can prevent this with loops!</a:t>
            </a:r>
          </a:p>
          <a:p>
            <a:r>
              <a:rPr lang="en-US" dirty="0"/>
              <a:t>Loops allow developers to repeat code programmatically. This means they only have to write it once!</a:t>
            </a:r>
          </a:p>
          <a:p>
            <a:r>
              <a:rPr lang="en-US" dirty="0"/>
              <a:t>Let’s take a look at an example of a real life loop. See if you can catch when the clip starts to repeat. [play the video for about 2 mins]</a:t>
            </a:r>
          </a:p>
          <a:p>
            <a:r>
              <a:rPr lang="en-US" dirty="0"/>
              <a:t>Statements can be repeated a certain number of times using a for loop!</a:t>
            </a:r>
          </a:p>
        </p:txBody>
      </p:sp>
    </p:spTree>
    <p:extLst>
      <p:ext uri="{BB962C8B-B14F-4D97-AF65-F5344CB8AC3E}">
        <p14:creationId xmlns:p14="http://schemas.microsoft.com/office/powerpoint/2010/main" val="512150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Has anyone ever practiced meditation before? </a:t>
            </a:r>
            <a:r>
              <a:rPr lang="en-US" dirty="0"/>
              <a:t>Often, a meditator will repeat one mantra over and over again to help them enter a different state of mind. For example, “All I need is within me.” Let’s see what a repeated mantra would look like in code.</a:t>
            </a:r>
          </a:p>
          <a:p>
            <a:r>
              <a:rPr lang="en-US" dirty="0"/>
              <a:t>Take a look at these three lines.</a:t>
            </a:r>
          </a:p>
          <a:p>
            <a:r>
              <a:rPr lang="en-US" b="1" dirty="0"/>
              <a:t>Can anyone guess how many times this loop will execute?</a:t>
            </a:r>
            <a:endParaRPr lang="en-US" b="0" dirty="0"/>
          </a:p>
          <a:p>
            <a:r>
              <a:rPr lang="en-US" b="0" dirty="0"/>
              <a:t>10 times. This is because of the </a:t>
            </a:r>
            <a:r>
              <a:rPr lang="en-US" b="1" dirty="0"/>
              <a:t>10</a:t>
            </a:r>
            <a:r>
              <a:rPr lang="en-US" b="0" dirty="0"/>
              <a:t> here.</a:t>
            </a:r>
          </a:p>
          <a:p>
            <a:pPr lvl="0"/>
            <a:r>
              <a:rPr lang="en-US" b="1" dirty="0"/>
              <a:t>And when the loop executes, what will it do?</a:t>
            </a:r>
            <a:endParaRPr lang="en-US" b="0" dirty="0"/>
          </a:p>
          <a:p>
            <a:pPr lvl="0"/>
            <a:r>
              <a:rPr lang="en-US" b="0" dirty="0"/>
              <a:t>It will print out “All I need is within me.” This is because of that alert statement.</a:t>
            </a:r>
            <a:endParaRPr lang="en-US" b="0" i="0" dirty="0"/>
          </a:p>
          <a:p>
            <a:pPr lvl="0"/>
            <a:r>
              <a:rPr lang="en-US" b="0" i="0" dirty="0"/>
              <a:t>Note that, very similar to functions, the </a:t>
            </a:r>
            <a:r>
              <a:rPr lang="en-US" b="0" i="1" dirty="0"/>
              <a:t>body</a:t>
            </a:r>
            <a:r>
              <a:rPr lang="en-US" b="0" i="0" dirty="0"/>
              <a:t> of a for loop is between the curly brackets.</a:t>
            </a:r>
            <a:endParaRPr lang="en-US" b="1" dirty="0"/>
          </a:p>
          <a:p>
            <a:endParaRPr lang="en-US" dirty="0"/>
          </a:p>
        </p:txBody>
      </p:sp>
    </p:spTree>
    <p:extLst>
      <p:ext uri="{BB962C8B-B14F-4D97-AF65-F5344CB8AC3E}">
        <p14:creationId xmlns:p14="http://schemas.microsoft.com/office/powerpoint/2010/main" val="2328710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Now let’s look at the whole thing again.</a:t>
            </a:r>
          </a:p>
          <a:p>
            <a:r>
              <a:rPr lang="en-US" b="1" dirty="0"/>
              <a:t>In total, what will these three lines do?</a:t>
            </a:r>
            <a:endParaRPr lang="en-US" b="0" dirty="0"/>
          </a:p>
          <a:p>
            <a:r>
              <a:rPr lang="en-US" b="0" dirty="0"/>
              <a:t>They will display the message (All I need is within me) 10 times! </a:t>
            </a:r>
          </a:p>
          <a:p>
            <a:endParaRPr lang="en-US" dirty="0"/>
          </a:p>
        </p:txBody>
      </p:sp>
    </p:spTree>
    <p:extLst>
      <p:ext uri="{BB962C8B-B14F-4D97-AF65-F5344CB8AC3E}">
        <p14:creationId xmlns:p14="http://schemas.microsoft.com/office/powerpoint/2010/main" val="3676418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So we talked about these important parts of the code, but what about the rest of it?</a:t>
            </a:r>
            <a:endParaRPr lang="en-US" dirty="0"/>
          </a:p>
        </p:txBody>
      </p:sp>
    </p:spTree>
    <p:extLst>
      <p:ext uri="{BB962C8B-B14F-4D97-AF65-F5344CB8AC3E}">
        <p14:creationId xmlns:p14="http://schemas.microsoft.com/office/powerpoint/2010/main" val="733771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Let’s take a look at this part.</a:t>
            </a:r>
          </a:p>
          <a:p>
            <a:r>
              <a:rPr lang="en-US" b="0" dirty="0"/>
              <a:t>This is all what’s known as </a:t>
            </a:r>
            <a:r>
              <a:rPr lang="en-US" b="0" i="1" dirty="0"/>
              <a:t>boiler-plate</a:t>
            </a:r>
            <a:r>
              <a:rPr lang="en-US" b="0" i="0" dirty="0"/>
              <a:t> code – it can look exactly the same every time you write it!</a:t>
            </a:r>
            <a:endParaRPr lang="en-US" b="0" dirty="0"/>
          </a:p>
          <a:p>
            <a:endParaRPr lang="en-US" dirty="0"/>
          </a:p>
        </p:txBody>
      </p:sp>
    </p:spTree>
    <p:extLst>
      <p:ext uri="{BB962C8B-B14F-4D97-AF65-F5344CB8AC3E}">
        <p14:creationId xmlns:p14="http://schemas.microsoft.com/office/powerpoint/2010/main" val="25409911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For simple loops, when you just want to repeat something a certain number of times, you should memorize this structure! For the basics, you’ll want to copy this code character for character whenever you make a new loop.</a:t>
            </a:r>
          </a:p>
          <a:p>
            <a:endParaRPr lang="en-US" dirty="0"/>
          </a:p>
        </p:txBody>
      </p:sp>
    </p:spTree>
    <p:extLst>
      <p:ext uri="{BB962C8B-B14F-4D97-AF65-F5344CB8AC3E}">
        <p14:creationId xmlns:p14="http://schemas.microsoft.com/office/powerpoint/2010/main" val="3066294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Now let’s actually take a look at the code in action!</a:t>
            </a:r>
          </a:p>
          <a:p>
            <a:endParaRPr lang="en-US" b="0" dirty="0"/>
          </a:p>
          <a:p>
            <a:pPr marL="158750" indent="0">
              <a:buNone/>
            </a:pPr>
            <a:r>
              <a:rPr lang="en-US" b="0" dirty="0"/>
              <a:t>Walk through this example in Replit. Ask the students how they might change the number of times the alert repeats. Ask them how to change the message, ask them for a new mantra or aphorism.</a:t>
            </a:r>
          </a:p>
          <a:p>
            <a:endParaRPr lang="en-US" dirty="0"/>
          </a:p>
        </p:txBody>
      </p:sp>
    </p:spTree>
    <p:extLst>
      <p:ext uri="{BB962C8B-B14F-4D97-AF65-F5344CB8AC3E}">
        <p14:creationId xmlns:p14="http://schemas.microsoft.com/office/powerpoint/2010/main" val="3475188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So here’s the example, but we’re going to break it down a bit.</a:t>
            </a:r>
          </a:p>
          <a:p>
            <a:r>
              <a:rPr lang="en-US" b="0" dirty="0"/>
              <a:t>This is what it looks like with some of the parts removed. Theoretically, anything can go in these highlighted areas, but it’s typically a few specific things. </a:t>
            </a:r>
            <a:r>
              <a:rPr lang="en-US" b="1" dirty="0"/>
              <a:t>Where have you seen </a:t>
            </a:r>
            <a:r>
              <a:rPr lang="en-US" b="1" i="1" dirty="0"/>
              <a:t>semi-colons</a:t>
            </a:r>
            <a:r>
              <a:rPr lang="en-US" b="1" dirty="0"/>
              <a:t> before?</a:t>
            </a:r>
            <a:r>
              <a:rPr lang="en-US" b="0" dirty="0"/>
              <a:t> These little doohickeys show up at the end of statements! And that’s what these three things are: statements.</a:t>
            </a:r>
            <a:r>
              <a:rPr lang="en-US" b="1" dirty="0"/>
              <a:t> Where have you seen </a:t>
            </a:r>
            <a:r>
              <a:rPr lang="en-US" b="1" i="1" dirty="0">
                <a:solidFill>
                  <a:schemeClr val="bg2"/>
                </a:solidFill>
                <a:latin typeface="Consolas" panose="020B0609020204030204" pitchFamily="49" charset="0"/>
              </a:rPr>
              <a:t>let</a:t>
            </a:r>
            <a:r>
              <a:rPr lang="en-US" b="1" dirty="0"/>
              <a:t> before?</a:t>
            </a:r>
            <a:endParaRPr lang="en-US" b="0" i="0" dirty="0"/>
          </a:p>
          <a:p>
            <a:r>
              <a:rPr lang="en-US" b="0" i="0" dirty="0"/>
              <a:t>When creating a new variable! And that’s exactly what the first statement does. It creates this new variable that can be used in the </a:t>
            </a:r>
            <a:r>
              <a:rPr lang="en-US" b="0" i="1" dirty="0"/>
              <a:t>body</a:t>
            </a:r>
            <a:r>
              <a:rPr lang="en-US" b="0" i="0" dirty="0"/>
              <a:t> of the loop. This part is called </a:t>
            </a:r>
            <a:r>
              <a:rPr lang="en-US" b="0" i="1" dirty="0"/>
              <a:t>initialization</a:t>
            </a:r>
            <a:r>
              <a:rPr lang="en-US" b="0" i="0" dirty="0"/>
              <a:t>, or </a:t>
            </a:r>
            <a:r>
              <a:rPr lang="en-US" b="0" i="1" dirty="0" err="1"/>
              <a:t>init</a:t>
            </a:r>
            <a:r>
              <a:rPr lang="en-US" b="0" i="0" dirty="0"/>
              <a:t> for short. It’s the first thing that runs. </a:t>
            </a:r>
            <a:r>
              <a:rPr lang="en-US" b="1" dirty="0"/>
              <a:t>Where have you seen the </a:t>
            </a:r>
            <a:r>
              <a:rPr lang="en-US" b="1" i="1" dirty="0"/>
              <a:t>less-than operator</a:t>
            </a:r>
            <a:r>
              <a:rPr lang="en-US" b="1" dirty="0"/>
              <a:t> before?</a:t>
            </a:r>
            <a:endParaRPr lang="en-US" b="0" i="0" dirty="0"/>
          </a:p>
          <a:p>
            <a:r>
              <a:rPr lang="en-US" b="0" i="0" dirty="0"/>
              <a:t>With </a:t>
            </a:r>
            <a:r>
              <a:rPr lang="en-US" b="0" i="1" dirty="0"/>
              <a:t>if statements</a:t>
            </a:r>
            <a:r>
              <a:rPr lang="en-US" b="0" i="0" dirty="0"/>
              <a:t>! The second statement is a </a:t>
            </a:r>
            <a:r>
              <a:rPr lang="en-US" b="0" i="0" dirty="0" err="1"/>
              <a:t>boolean</a:t>
            </a:r>
            <a:r>
              <a:rPr lang="en-US" b="0" i="0" dirty="0"/>
              <a:t> that tells the loop when to stop. Every time the loop is going to run again, it checks this condition to see if it should keep going. This part is called </a:t>
            </a:r>
            <a:r>
              <a:rPr lang="en-US" b="0" i="1" dirty="0"/>
              <a:t>condition</a:t>
            </a:r>
            <a:r>
              <a:rPr lang="en-US" b="0" i="0" dirty="0"/>
              <a:t>, or </a:t>
            </a:r>
            <a:r>
              <a:rPr lang="en-US" b="0" i="1" dirty="0" err="1"/>
              <a:t>cond</a:t>
            </a:r>
            <a:r>
              <a:rPr lang="en-US" b="0" i="0" dirty="0"/>
              <a:t> for short.</a:t>
            </a:r>
          </a:p>
          <a:p>
            <a:r>
              <a:rPr lang="en-US" b="0" i="0" dirty="0"/>
              <a:t>And this last one, you may not recognize – but it’s the same as </a:t>
            </a:r>
            <a:r>
              <a:rPr lang="en-US" b="0" i="1" dirty="0" err="1"/>
              <a:t>i</a:t>
            </a:r>
            <a:r>
              <a:rPr lang="en-US" b="0" i="1" dirty="0"/>
              <a:t> = i+1</a:t>
            </a:r>
            <a:r>
              <a:rPr lang="en-US" b="0" i="0" dirty="0"/>
              <a:t>. It is the </a:t>
            </a:r>
            <a:r>
              <a:rPr lang="en-US" b="0" i="1" dirty="0"/>
              <a:t>increment</a:t>
            </a:r>
            <a:r>
              <a:rPr lang="en-US" b="0" i="0" dirty="0"/>
              <a:t> operator. This runs at the end of each loop execution. It’s called </a:t>
            </a:r>
            <a:r>
              <a:rPr lang="en-US" b="0" i="1" dirty="0"/>
              <a:t>increment</a:t>
            </a:r>
            <a:r>
              <a:rPr lang="en-US" b="0" i="0" dirty="0"/>
              <a:t>, or </a:t>
            </a:r>
            <a:r>
              <a:rPr lang="en-US" b="0" i="1" dirty="0" err="1"/>
              <a:t>inc</a:t>
            </a:r>
            <a:r>
              <a:rPr lang="en-US" b="0" i="0" dirty="0"/>
              <a:t> for short.</a:t>
            </a:r>
          </a:p>
          <a:p>
            <a:r>
              <a:rPr lang="en-US" b="0" i="0" dirty="0"/>
              <a:t>Finally, there is the body (like this alert) – just like a function body, this is what goes between the curly brackets!</a:t>
            </a:r>
          </a:p>
          <a:p>
            <a:r>
              <a:rPr lang="en-US" b="0" i="0" dirty="0"/>
              <a:t>So there are six pieces of a for loop:</a:t>
            </a:r>
          </a:p>
          <a:p>
            <a:pPr lvl="1"/>
            <a:r>
              <a:rPr lang="en-US" b="0" i="0" dirty="0"/>
              <a:t>1. for keyword (like the function keyword or the if keyword)</a:t>
            </a:r>
          </a:p>
          <a:p>
            <a:pPr lvl="1"/>
            <a:r>
              <a:rPr lang="en-US" b="0" i="0" dirty="0"/>
              <a:t>2. Parentheses</a:t>
            </a:r>
          </a:p>
          <a:p>
            <a:pPr lvl="1"/>
            <a:r>
              <a:rPr lang="en-US" b="0" i="0" dirty="0"/>
              <a:t>3. Within the parentheses, the first statement (usually creating a new variable named </a:t>
            </a:r>
            <a:r>
              <a:rPr lang="en-US" b="1" i="0" dirty="0" err="1"/>
              <a:t>i</a:t>
            </a:r>
            <a:r>
              <a:rPr lang="en-US" b="0" i="0" dirty="0"/>
              <a:t>, setting it to </a:t>
            </a:r>
            <a:r>
              <a:rPr lang="en-US" b="1" i="0" dirty="0"/>
              <a:t>0</a:t>
            </a:r>
            <a:r>
              <a:rPr lang="en-US" b="0" i="0" dirty="0"/>
              <a:t>, and ending it with a semi-colon)</a:t>
            </a:r>
          </a:p>
          <a:p>
            <a:pPr lvl="1"/>
            <a:r>
              <a:rPr lang="en-US" b="0" i="0" dirty="0"/>
              <a:t>4. After the first statement, still within the parentheses, the second statement (usually checking if </a:t>
            </a:r>
            <a:r>
              <a:rPr lang="en-US" b="1" i="0" dirty="0" err="1"/>
              <a:t>i</a:t>
            </a:r>
            <a:r>
              <a:rPr lang="en-US" b="0" i="0" dirty="0"/>
              <a:t> is less than </a:t>
            </a:r>
            <a:r>
              <a:rPr lang="en-US" b="0" i="1" dirty="0"/>
              <a:t>some value</a:t>
            </a:r>
            <a:r>
              <a:rPr lang="en-US" b="0" i="0" dirty="0"/>
              <a:t>, and ending with a semi-colon)</a:t>
            </a:r>
          </a:p>
          <a:p>
            <a:pPr lvl="1"/>
            <a:r>
              <a:rPr lang="en-US" b="0" i="0" dirty="0"/>
              <a:t>5. After the second statement, still within the parentheses, the third and final statement (usually incrementing the value of </a:t>
            </a:r>
            <a:r>
              <a:rPr lang="en-US" b="1" i="0" dirty="0" err="1"/>
              <a:t>i</a:t>
            </a:r>
            <a:r>
              <a:rPr lang="en-US" b="0" i="0" dirty="0"/>
              <a:t> using </a:t>
            </a:r>
            <a:r>
              <a:rPr lang="en-US" b="1" i="0" dirty="0" err="1"/>
              <a:t>i</a:t>
            </a:r>
            <a:r>
              <a:rPr lang="en-US" b="1" i="0" dirty="0"/>
              <a:t>++</a:t>
            </a:r>
            <a:r>
              <a:rPr lang="en-US" b="0" i="0" dirty="0"/>
              <a:t>)</a:t>
            </a:r>
          </a:p>
          <a:p>
            <a:pPr lvl="1"/>
            <a:r>
              <a:rPr lang="en-US" b="0" i="0" dirty="0"/>
              <a:t>6. Curly brackets containing the </a:t>
            </a:r>
            <a:r>
              <a:rPr lang="en-US" b="0" i="1" dirty="0"/>
              <a:t>body</a:t>
            </a:r>
            <a:r>
              <a:rPr lang="en-US" b="0" i="0" dirty="0"/>
              <a:t> of the loop</a:t>
            </a:r>
          </a:p>
          <a:p>
            <a:pPr lvl="0"/>
            <a:r>
              <a:rPr lang="en-US" b="0" i="0" dirty="0"/>
              <a:t>The whole thing runs in a kind of weird way. We’ll get to a specific example, but it works like this – it starts with the </a:t>
            </a:r>
            <a:r>
              <a:rPr lang="en-US" b="0" i="1" dirty="0" err="1"/>
              <a:t>init</a:t>
            </a:r>
            <a:r>
              <a:rPr lang="en-US" b="0" i="0" dirty="0" err="1"/>
              <a:t>.</a:t>
            </a:r>
            <a:r>
              <a:rPr lang="en-US" b="0" i="0" dirty="0"/>
              <a:t> It only executes that statement once.</a:t>
            </a:r>
          </a:p>
          <a:p>
            <a:pPr lvl="0"/>
            <a:r>
              <a:rPr lang="en-US" b="0" i="0" dirty="0"/>
              <a:t>Next, it goes to </a:t>
            </a:r>
            <a:r>
              <a:rPr lang="en-US" b="0" i="1" dirty="0" err="1"/>
              <a:t>cond</a:t>
            </a:r>
            <a:r>
              <a:rPr lang="en-US" b="0" i="0" dirty="0"/>
              <a:t>, where it checks if it should run the code. If </a:t>
            </a:r>
            <a:r>
              <a:rPr lang="en-US" b="0" i="1" dirty="0" err="1"/>
              <a:t>cond</a:t>
            </a:r>
            <a:r>
              <a:rPr lang="en-US" b="0" i="0" dirty="0"/>
              <a:t> results in </a:t>
            </a:r>
            <a:r>
              <a:rPr lang="en-US" b="0" i="1" dirty="0"/>
              <a:t>true</a:t>
            </a:r>
            <a:r>
              <a:rPr lang="en-US" b="0" i="0" dirty="0"/>
              <a:t>, what does it do next?</a:t>
            </a:r>
          </a:p>
          <a:p>
            <a:pPr lvl="0"/>
            <a:r>
              <a:rPr lang="en-US" b="0" i="0" dirty="0"/>
              <a:t>It goes into the </a:t>
            </a:r>
            <a:r>
              <a:rPr lang="en-US" b="0" i="1" dirty="0"/>
              <a:t>body</a:t>
            </a:r>
            <a:r>
              <a:rPr lang="en-US" b="0" i="0" dirty="0"/>
              <a:t>. It runs all the code in the </a:t>
            </a:r>
            <a:r>
              <a:rPr lang="en-US" b="0" i="1" dirty="0"/>
              <a:t>body</a:t>
            </a:r>
            <a:r>
              <a:rPr lang="en-US" b="0" i="0" dirty="0"/>
              <a:t>, and then…</a:t>
            </a:r>
          </a:p>
          <a:p>
            <a:pPr lvl="0"/>
            <a:r>
              <a:rPr lang="en-US" b="0" i="0" dirty="0"/>
              <a:t>It hits up the </a:t>
            </a:r>
            <a:r>
              <a:rPr lang="en-US" b="0" i="1" dirty="0"/>
              <a:t>inc</a:t>
            </a:r>
            <a:r>
              <a:rPr lang="en-US" b="0" i="0" dirty="0"/>
              <a:t>. After the </a:t>
            </a:r>
            <a:r>
              <a:rPr lang="en-US" b="0" i="1" dirty="0" err="1"/>
              <a:t>inc</a:t>
            </a:r>
            <a:r>
              <a:rPr lang="en-US" b="0" i="0" dirty="0"/>
              <a:t>, it goes back to the </a:t>
            </a:r>
            <a:r>
              <a:rPr lang="en-US" b="0" i="0" dirty="0" err="1"/>
              <a:t>cond</a:t>
            </a:r>
            <a:r>
              <a:rPr lang="en-US" b="0" i="0" dirty="0"/>
              <a:t> – this is where the actual looping happens!</a:t>
            </a:r>
          </a:p>
          <a:p>
            <a:pPr lvl="0"/>
            <a:r>
              <a:rPr lang="en-US" b="0" i="0" dirty="0"/>
              <a:t>It repeats through this process as long as </a:t>
            </a:r>
            <a:r>
              <a:rPr lang="en-US" b="0" i="1" dirty="0" err="1"/>
              <a:t>cond</a:t>
            </a:r>
            <a:r>
              <a:rPr lang="en-US" b="0" i="0" dirty="0"/>
              <a:t> is true! It can go on for a long time, but it will always end on the </a:t>
            </a:r>
            <a:r>
              <a:rPr lang="en-US" b="0" i="1" dirty="0" err="1"/>
              <a:t>cond</a:t>
            </a:r>
            <a:r>
              <a:rPr lang="en-US" b="0" i="0" dirty="0"/>
              <a:t> being false (unless it’s infinite which is probably a bug!)</a:t>
            </a:r>
          </a:p>
          <a:p>
            <a:pPr lvl="1"/>
            <a:endParaRPr lang="en-US" b="0" i="0" dirty="0"/>
          </a:p>
        </p:txBody>
      </p:sp>
    </p:spTree>
    <p:extLst>
      <p:ext uri="{BB962C8B-B14F-4D97-AF65-F5344CB8AC3E}">
        <p14:creationId xmlns:p14="http://schemas.microsoft.com/office/powerpoint/2010/main" val="147039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Now let’s walk through an example step-by-step; this will simulate debugging. This is how the browser actually reads this code and executes it!</a:t>
            </a:r>
          </a:p>
        </p:txBody>
      </p:sp>
    </p:spTree>
    <p:extLst>
      <p:ext uri="{BB962C8B-B14F-4D97-AF65-F5344CB8AC3E}">
        <p14:creationId xmlns:p14="http://schemas.microsoft.com/office/powerpoint/2010/main" val="2236791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To start, we have </a:t>
            </a:r>
            <a:r>
              <a:rPr lang="en-US" b="1" dirty="0" err="1"/>
              <a:t>i</a:t>
            </a:r>
            <a:r>
              <a:rPr lang="en-US" b="0" dirty="0"/>
              <a:t> and </a:t>
            </a:r>
            <a:r>
              <a:rPr lang="en-US" b="1" dirty="0"/>
              <a:t>current</a:t>
            </a:r>
            <a:r>
              <a:rPr lang="en-US" b="0" dirty="0"/>
              <a:t> – two variables that are undefined. We’ll walk through each step and see how each of them change.</a:t>
            </a:r>
          </a:p>
        </p:txBody>
      </p:sp>
    </p:spTree>
    <p:extLst>
      <p:ext uri="{BB962C8B-B14F-4D97-AF65-F5344CB8AC3E}">
        <p14:creationId xmlns:p14="http://schemas.microsoft.com/office/powerpoint/2010/main" val="671238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The browser hits this line of code, and starts by just looking at it. It sees the for, and it knows it will have to run this code in a particular way.</a:t>
            </a:r>
          </a:p>
        </p:txBody>
      </p:sp>
    </p:spTree>
    <p:extLst>
      <p:ext uri="{BB962C8B-B14F-4D97-AF65-F5344CB8AC3E}">
        <p14:creationId xmlns:p14="http://schemas.microsoft.com/office/powerpoint/2010/main" val="1142261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Here, it enters the for loop and executes the first line.</a:t>
            </a:r>
          </a:p>
          <a:p>
            <a:r>
              <a:rPr lang="en-US" b="0" dirty="0"/>
              <a:t>After this happens, the value of </a:t>
            </a:r>
            <a:r>
              <a:rPr lang="en-US" b="1" dirty="0" err="1"/>
              <a:t>i</a:t>
            </a:r>
            <a:r>
              <a:rPr lang="en-US" b="0" dirty="0"/>
              <a:t> is set to </a:t>
            </a:r>
            <a:r>
              <a:rPr lang="en-US" b="1" dirty="0"/>
              <a:t>0</a:t>
            </a:r>
            <a:r>
              <a:rPr lang="en-US" b="0" dirty="0"/>
              <a:t>!</a:t>
            </a:r>
          </a:p>
        </p:txBody>
      </p:sp>
    </p:spTree>
    <p:extLst>
      <p:ext uri="{BB962C8B-B14F-4D97-AF65-F5344CB8AC3E}">
        <p14:creationId xmlns:p14="http://schemas.microsoft.com/office/powerpoint/2010/main" val="35258047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The next thing the browser does is check the condition. So, </a:t>
            </a:r>
            <a:r>
              <a:rPr lang="en-US" b="1" dirty="0"/>
              <a:t>is 0 less than 3?</a:t>
            </a:r>
            <a:endParaRPr lang="en-US" b="0" dirty="0"/>
          </a:p>
          <a:p>
            <a:r>
              <a:rPr lang="en-US" b="0" dirty="0"/>
              <a:t>Yes!</a:t>
            </a:r>
          </a:p>
        </p:txBody>
      </p:sp>
    </p:spTree>
    <p:extLst>
      <p:ext uri="{BB962C8B-B14F-4D97-AF65-F5344CB8AC3E}">
        <p14:creationId xmlns:p14="http://schemas.microsoft.com/office/powerpoint/2010/main" val="2295098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Because </a:t>
            </a:r>
            <a:r>
              <a:rPr lang="en-US" b="1" dirty="0" err="1"/>
              <a:t>i</a:t>
            </a:r>
            <a:r>
              <a:rPr lang="en-US" b="1" dirty="0"/>
              <a:t>&lt;3</a:t>
            </a:r>
            <a:r>
              <a:rPr lang="en-US" b="0" dirty="0"/>
              <a:t>, it will enter the loop.</a:t>
            </a:r>
          </a:p>
        </p:txBody>
      </p:sp>
    </p:spTree>
    <p:extLst>
      <p:ext uri="{BB962C8B-B14F-4D97-AF65-F5344CB8AC3E}">
        <p14:creationId xmlns:p14="http://schemas.microsoft.com/office/powerpoint/2010/main" val="574435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Now it executes this first line. </a:t>
            </a:r>
            <a:r>
              <a:rPr lang="en-US" b="1" dirty="0"/>
              <a:t>What will be the value of current</a:t>
            </a:r>
            <a:r>
              <a:rPr lang="en-US" b="0" dirty="0"/>
              <a:t>?</a:t>
            </a:r>
          </a:p>
          <a:p>
            <a:r>
              <a:rPr lang="en-US" b="0" dirty="0"/>
              <a:t>Yes, </a:t>
            </a:r>
            <a:r>
              <a:rPr lang="en-US" b="1" dirty="0"/>
              <a:t>current</a:t>
            </a:r>
            <a:r>
              <a:rPr lang="en-US" b="0" dirty="0"/>
              <a:t> will be </a:t>
            </a:r>
            <a:r>
              <a:rPr lang="en-US" b="1" dirty="0"/>
              <a:t>1</a:t>
            </a:r>
            <a:r>
              <a:rPr lang="en-US" b="0" dirty="0"/>
              <a:t>!</a:t>
            </a:r>
          </a:p>
        </p:txBody>
      </p:sp>
    </p:spTree>
    <p:extLst>
      <p:ext uri="{BB962C8B-B14F-4D97-AF65-F5344CB8AC3E}">
        <p14:creationId xmlns:p14="http://schemas.microsoft.com/office/powerpoint/2010/main" val="3829935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Now we hit the alert statement. </a:t>
            </a:r>
            <a:r>
              <a:rPr lang="en-US" b="1" dirty="0"/>
              <a:t>What message will appear?</a:t>
            </a:r>
            <a:endParaRPr lang="en-US" b="0" dirty="0"/>
          </a:p>
          <a:p>
            <a:r>
              <a:rPr lang="en-US" b="0" dirty="0"/>
              <a:t>It will say “Now: 1”!</a:t>
            </a:r>
            <a:endParaRPr lang="en-US" b="1" dirty="0"/>
          </a:p>
        </p:txBody>
      </p:sp>
    </p:spTree>
    <p:extLst>
      <p:ext uri="{BB962C8B-B14F-4D97-AF65-F5344CB8AC3E}">
        <p14:creationId xmlns:p14="http://schemas.microsoft.com/office/powerpoint/2010/main" val="10333170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So we reach the bottom of the loop. </a:t>
            </a:r>
            <a:r>
              <a:rPr lang="en-US" b="1" dirty="0"/>
              <a:t>What comes next?</a:t>
            </a:r>
            <a:r>
              <a:rPr lang="en-US" b="0" dirty="0"/>
              <a:t> We go to the </a:t>
            </a:r>
            <a:r>
              <a:rPr lang="en-US" b="0" i="1" dirty="0"/>
              <a:t>increment</a:t>
            </a:r>
            <a:r>
              <a:rPr lang="en-US" b="0" i="0" dirty="0"/>
              <a:t> step.</a:t>
            </a:r>
            <a:endParaRPr lang="en-US" b="1" dirty="0"/>
          </a:p>
        </p:txBody>
      </p:sp>
    </p:spTree>
    <p:extLst>
      <p:ext uri="{BB962C8B-B14F-4D97-AF65-F5344CB8AC3E}">
        <p14:creationId xmlns:p14="http://schemas.microsoft.com/office/powerpoint/2010/main" val="27181474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Now we are at the increment! And </a:t>
            </a:r>
            <a:r>
              <a:rPr lang="en-US" b="1" dirty="0"/>
              <a:t>what happens to the value of </a:t>
            </a:r>
            <a:r>
              <a:rPr lang="en-US" b="1" dirty="0" err="1"/>
              <a:t>i</a:t>
            </a:r>
            <a:r>
              <a:rPr lang="en-US" b="0" dirty="0"/>
              <a:t>?</a:t>
            </a:r>
          </a:p>
          <a:p>
            <a:r>
              <a:rPr lang="en-US" b="1" dirty="0" err="1"/>
              <a:t>i</a:t>
            </a:r>
            <a:r>
              <a:rPr lang="en-US" b="0" dirty="0"/>
              <a:t> becomes </a:t>
            </a:r>
            <a:r>
              <a:rPr lang="en-US" b="1" dirty="0"/>
              <a:t>1</a:t>
            </a:r>
            <a:r>
              <a:rPr lang="en-US" b="0" dirty="0"/>
              <a:t> because we add 1!</a:t>
            </a:r>
            <a:endParaRPr lang="en-US" b="1" dirty="0"/>
          </a:p>
        </p:txBody>
      </p:sp>
    </p:spTree>
    <p:extLst>
      <p:ext uri="{BB962C8B-B14F-4D97-AF65-F5344CB8AC3E}">
        <p14:creationId xmlns:p14="http://schemas.microsoft.com/office/powerpoint/2010/main" val="4241960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Now it’s time to check if we should go through the loop again. We use the </a:t>
            </a:r>
            <a:r>
              <a:rPr lang="en-US" b="0" i="1" dirty="0"/>
              <a:t>condition</a:t>
            </a:r>
            <a:r>
              <a:rPr lang="en-US" b="0" i="0" dirty="0"/>
              <a:t> for that. </a:t>
            </a:r>
            <a:r>
              <a:rPr lang="en-US" b="1" i="0" dirty="0"/>
              <a:t>And is </a:t>
            </a:r>
            <a:r>
              <a:rPr lang="en-US" b="1" i="0" dirty="0" err="1"/>
              <a:t>i</a:t>
            </a:r>
            <a:r>
              <a:rPr lang="en-US" b="0" i="0" dirty="0"/>
              <a:t> still less than </a:t>
            </a:r>
            <a:r>
              <a:rPr lang="en-US" b="1" i="0" dirty="0"/>
              <a:t>3</a:t>
            </a:r>
            <a:r>
              <a:rPr lang="en-US" b="0" i="0" dirty="0"/>
              <a:t>?</a:t>
            </a:r>
          </a:p>
          <a:p>
            <a:r>
              <a:rPr lang="en-US" b="0" i="0" dirty="0"/>
              <a:t>Yes! The condition is true, so we’re going through the loop again.</a:t>
            </a:r>
            <a:endParaRPr lang="en-US" b="0" dirty="0"/>
          </a:p>
        </p:txBody>
      </p:sp>
    </p:spTree>
    <p:extLst>
      <p:ext uri="{BB962C8B-B14F-4D97-AF65-F5344CB8AC3E}">
        <p14:creationId xmlns:p14="http://schemas.microsoft.com/office/powerpoint/2010/main" val="30692376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Now we run this line of code. </a:t>
            </a:r>
            <a:r>
              <a:rPr lang="en-US" b="1" dirty="0"/>
              <a:t>And what is the value of current after it runs?</a:t>
            </a:r>
            <a:endParaRPr lang="en-US" b="0" dirty="0"/>
          </a:p>
          <a:p>
            <a:r>
              <a:rPr lang="en-US" b="0" dirty="0"/>
              <a:t>It goes from 1 to 2!</a:t>
            </a:r>
          </a:p>
        </p:txBody>
      </p:sp>
    </p:spTree>
    <p:extLst>
      <p:ext uri="{BB962C8B-B14F-4D97-AF65-F5344CB8AC3E}">
        <p14:creationId xmlns:p14="http://schemas.microsoft.com/office/powerpoint/2010/main" val="12542170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So we hit the </a:t>
            </a:r>
            <a:r>
              <a:rPr lang="en-US" b="1" dirty="0"/>
              <a:t>alert</a:t>
            </a:r>
            <a:r>
              <a:rPr lang="en-US" b="0" dirty="0"/>
              <a:t> line again, and </a:t>
            </a:r>
            <a:r>
              <a:rPr lang="en-US" b="1" dirty="0"/>
              <a:t>what message appears</a:t>
            </a:r>
            <a:r>
              <a:rPr lang="en-US" b="0" dirty="0"/>
              <a:t>?</a:t>
            </a:r>
          </a:p>
          <a:p>
            <a:r>
              <a:rPr lang="en-US" b="0" dirty="0"/>
              <a:t>Now: 2! And that’s the end of the body. </a:t>
            </a:r>
            <a:r>
              <a:rPr lang="en-US" b="1" dirty="0"/>
              <a:t>So where do we go next?</a:t>
            </a:r>
            <a:endParaRPr lang="en-US" b="0" dirty="0"/>
          </a:p>
        </p:txBody>
      </p:sp>
    </p:spTree>
    <p:extLst>
      <p:ext uri="{BB962C8B-B14F-4D97-AF65-F5344CB8AC3E}">
        <p14:creationId xmlns:p14="http://schemas.microsoft.com/office/powerpoint/2010/main" val="27109031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Well, it’s back up to the </a:t>
            </a:r>
            <a:r>
              <a:rPr lang="en-US" b="0" i="1" dirty="0"/>
              <a:t>increment</a:t>
            </a:r>
            <a:r>
              <a:rPr lang="en-US" b="0" i="0" dirty="0"/>
              <a:t>! </a:t>
            </a:r>
            <a:r>
              <a:rPr lang="en-US" b="1" i="0" dirty="0"/>
              <a:t>And what will be the value of </a:t>
            </a:r>
            <a:r>
              <a:rPr lang="en-US" b="1" i="1" dirty="0" err="1"/>
              <a:t>i</a:t>
            </a:r>
            <a:r>
              <a:rPr lang="en-US" b="1" i="1" dirty="0"/>
              <a:t> </a:t>
            </a:r>
            <a:r>
              <a:rPr lang="en-US" b="1" i="0" dirty="0"/>
              <a:t>after this statement?</a:t>
            </a:r>
            <a:endParaRPr lang="en-US" b="0" i="0" dirty="0"/>
          </a:p>
          <a:p>
            <a:r>
              <a:rPr lang="en-US" b="0" i="0" dirty="0"/>
              <a:t>2!</a:t>
            </a:r>
            <a:endParaRPr lang="en-US" b="0" dirty="0"/>
          </a:p>
        </p:txBody>
      </p:sp>
    </p:spTree>
    <p:extLst>
      <p:ext uri="{BB962C8B-B14F-4D97-AF65-F5344CB8AC3E}">
        <p14:creationId xmlns:p14="http://schemas.microsoft.com/office/powerpoint/2010/main" val="26773434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Now let’s check if we should run through the loop again. We’ll go up to the </a:t>
            </a:r>
            <a:r>
              <a:rPr lang="en-US" b="0" i="1" dirty="0"/>
              <a:t>condition</a:t>
            </a:r>
            <a:r>
              <a:rPr lang="en-US" b="0" i="0" dirty="0"/>
              <a:t>. </a:t>
            </a:r>
            <a:r>
              <a:rPr lang="en-US" b="1" i="0" dirty="0"/>
              <a:t>Will it execute again?</a:t>
            </a:r>
            <a:endParaRPr lang="en-US" b="0" i="0" dirty="0"/>
          </a:p>
          <a:p>
            <a:r>
              <a:rPr lang="en-US" b="0" i="0" dirty="0"/>
              <a:t>Yes!</a:t>
            </a:r>
            <a:endParaRPr lang="en-US" b="1" dirty="0"/>
          </a:p>
        </p:txBody>
      </p:sp>
    </p:spTree>
    <p:extLst>
      <p:ext uri="{BB962C8B-B14F-4D97-AF65-F5344CB8AC3E}">
        <p14:creationId xmlns:p14="http://schemas.microsoft.com/office/powerpoint/2010/main" val="1146919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Let’s keep this going. We’re back in the body of the loop on the first line. </a:t>
            </a:r>
            <a:r>
              <a:rPr lang="en-US" b="1" dirty="0"/>
              <a:t>What will current be?</a:t>
            </a:r>
            <a:endParaRPr lang="en-US" b="0" dirty="0"/>
          </a:p>
          <a:p>
            <a:r>
              <a:rPr lang="en-US" b="0" dirty="0"/>
              <a:t>3!</a:t>
            </a:r>
          </a:p>
        </p:txBody>
      </p:sp>
    </p:spTree>
    <p:extLst>
      <p:ext uri="{BB962C8B-B14F-4D97-AF65-F5344CB8AC3E}">
        <p14:creationId xmlns:p14="http://schemas.microsoft.com/office/powerpoint/2010/main" val="11940763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And we get down to our alert, and </a:t>
            </a:r>
            <a:r>
              <a:rPr lang="en-US" b="1" dirty="0"/>
              <a:t>what’s the message?</a:t>
            </a:r>
          </a:p>
          <a:p>
            <a:r>
              <a:rPr lang="en-US" b="0" dirty="0"/>
              <a:t>Now: 3! So we exit the body of the loop again. </a:t>
            </a:r>
            <a:r>
              <a:rPr lang="en-US" b="1" dirty="0"/>
              <a:t>And where do we go?</a:t>
            </a:r>
          </a:p>
        </p:txBody>
      </p:sp>
    </p:spTree>
    <p:extLst>
      <p:ext uri="{BB962C8B-B14F-4D97-AF65-F5344CB8AC3E}">
        <p14:creationId xmlns:p14="http://schemas.microsoft.com/office/powerpoint/2010/main" val="22536420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It’s time to </a:t>
            </a:r>
            <a:r>
              <a:rPr lang="en-US" b="0" i="1" dirty="0"/>
              <a:t>increment</a:t>
            </a:r>
            <a:r>
              <a:rPr lang="en-US" b="0" i="0" dirty="0"/>
              <a:t> once more. Remember, right after exiting the body of the loop, the browser goes to the </a:t>
            </a:r>
            <a:r>
              <a:rPr lang="en-US" b="0" i="1" dirty="0"/>
              <a:t>increment</a:t>
            </a:r>
            <a:r>
              <a:rPr lang="en-US" b="0" i="0" dirty="0"/>
              <a:t> statement.</a:t>
            </a:r>
            <a:r>
              <a:rPr lang="en-US" b="1" i="0" dirty="0"/>
              <a:t> And what will </a:t>
            </a:r>
            <a:r>
              <a:rPr lang="en-US" b="1" i="0" dirty="0" err="1"/>
              <a:t>i</a:t>
            </a:r>
            <a:r>
              <a:rPr lang="en-US" b="1" i="0" dirty="0"/>
              <a:t> be?</a:t>
            </a:r>
            <a:endParaRPr lang="en-US" b="0" i="0" dirty="0"/>
          </a:p>
          <a:p>
            <a:r>
              <a:rPr lang="en-US" b="0" i="0" dirty="0"/>
              <a:t>It’s 3! </a:t>
            </a:r>
            <a:r>
              <a:rPr lang="en-US" b="1" i="0" dirty="0"/>
              <a:t>And what comes next?</a:t>
            </a:r>
            <a:endParaRPr lang="en-US" b="0" dirty="0"/>
          </a:p>
        </p:txBody>
      </p:sp>
    </p:spTree>
    <p:extLst>
      <p:ext uri="{BB962C8B-B14F-4D97-AF65-F5344CB8AC3E}">
        <p14:creationId xmlns:p14="http://schemas.microsoft.com/office/powerpoint/2010/main" val="6024013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i="0" dirty="0"/>
              <a:t>It’s the </a:t>
            </a:r>
            <a:r>
              <a:rPr lang="en-US" b="0" i="1" dirty="0"/>
              <a:t>condition</a:t>
            </a:r>
            <a:r>
              <a:rPr lang="en-US" b="0" i="0" dirty="0"/>
              <a:t>! So, </a:t>
            </a:r>
            <a:r>
              <a:rPr lang="en-US" b="1" i="0" dirty="0"/>
              <a:t>is </a:t>
            </a:r>
            <a:r>
              <a:rPr lang="en-US" b="1" i="0" dirty="0" err="1"/>
              <a:t>i</a:t>
            </a:r>
            <a:r>
              <a:rPr lang="en-US" b="1" i="0" dirty="0"/>
              <a:t> less than 3?</a:t>
            </a:r>
            <a:endParaRPr lang="en-US" b="0" i="0" dirty="0"/>
          </a:p>
          <a:p>
            <a:r>
              <a:rPr lang="en-US" b="0" i="0" dirty="0"/>
              <a:t>Not this time! The </a:t>
            </a:r>
            <a:r>
              <a:rPr lang="en-US" b="0" i="1" dirty="0"/>
              <a:t>condition</a:t>
            </a:r>
            <a:r>
              <a:rPr lang="en-US" b="1" i="1" dirty="0"/>
              <a:t> </a:t>
            </a:r>
            <a:r>
              <a:rPr lang="en-US" b="0" i="0" dirty="0"/>
              <a:t>is false, which means… We exit the loop entirely!</a:t>
            </a:r>
          </a:p>
          <a:p>
            <a:r>
              <a:rPr lang="en-US" b="0" i="0" dirty="0"/>
              <a:t>We’re done!</a:t>
            </a:r>
            <a:endParaRPr lang="en-US" b="0" dirty="0"/>
          </a:p>
        </p:txBody>
      </p:sp>
    </p:spTree>
    <p:extLst>
      <p:ext uri="{BB962C8B-B14F-4D97-AF65-F5344CB8AC3E}">
        <p14:creationId xmlns:p14="http://schemas.microsoft.com/office/powerpoint/2010/main" val="39674920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Let’s take one last look at the whole darn thing. These four lines of code sure took a while to execute, but hopefully walking through this example helped to clarify how for loops actually work.</a:t>
            </a:r>
          </a:p>
        </p:txBody>
      </p:sp>
    </p:spTree>
    <p:extLst>
      <p:ext uri="{BB962C8B-B14F-4D97-AF65-F5344CB8AC3E}">
        <p14:creationId xmlns:p14="http://schemas.microsoft.com/office/powerpoint/2010/main" val="28706692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walk through all the steps of a for loop again to review.</a:t>
            </a:r>
          </a:p>
          <a:p>
            <a:r>
              <a:rPr lang="en-US" dirty="0"/>
              <a:t>We start with </a:t>
            </a:r>
            <a:r>
              <a:rPr lang="en-US" i="1" dirty="0"/>
              <a:t>initialization</a:t>
            </a:r>
            <a:r>
              <a:rPr lang="en-US" i="0" dirty="0"/>
              <a:t> – this is the first statement within the parentheses, like let </a:t>
            </a:r>
            <a:r>
              <a:rPr lang="en-US" i="0" dirty="0" err="1"/>
              <a:t>i</a:t>
            </a:r>
            <a:r>
              <a:rPr lang="en-US" i="0" dirty="0"/>
              <a:t> = 0.</a:t>
            </a:r>
          </a:p>
          <a:p>
            <a:r>
              <a:rPr lang="en-US" i="0" dirty="0"/>
              <a:t>Next, we have the </a:t>
            </a:r>
            <a:r>
              <a:rPr lang="en-US" i="1" dirty="0"/>
              <a:t>condition</a:t>
            </a:r>
            <a:r>
              <a:rPr lang="en-US" i="0" dirty="0"/>
              <a:t> – this is the second statement, like </a:t>
            </a:r>
            <a:r>
              <a:rPr lang="en-US" i="0" dirty="0" err="1"/>
              <a:t>i</a:t>
            </a:r>
            <a:r>
              <a:rPr lang="en-US" i="0" dirty="0"/>
              <a:t> &lt; 3.</a:t>
            </a:r>
          </a:p>
          <a:p>
            <a:r>
              <a:rPr lang="en-US" i="0" dirty="0"/>
              <a:t>Third, we jump into the </a:t>
            </a:r>
            <a:r>
              <a:rPr lang="en-US" i="1" dirty="0"/>
              <a:t>body</a:t>
            </a:r>
            <a:r>
              <a:rPr lang="en-US" i="0" dirty="0"/>
              <a:t> – this is all the code between the curly brackets</a:t>
            </a:r>
          </a:p>
          <a:p>
            <a:r>
              <a:rPr lang="en-US" i="0" dirty="0"/>
              <a:t>Fourth, we go to the </a:t>
            </a:r>
            <a:r>
              <a:rPr lang="en-US" i="1" dirty="0"/>
              <a:t>increment</a:t>
            </a:r>
            <a:r>
              <a:rPr lang="en-US" i="0" dirty="0"/>
              <a:t> – this is the third statement, like </a:t>
            </a:r>
            <a:r>
              <a:rPr lang="en-US" i="0" dirty="0" err="1"/>
              <a:t>i</a:t>
            </a:r>
            <a:r>
              <a:rPr lang="en-US" i="0" dirty="0"/>
              <a:t>++</a:t>
            </a:r>
          </a:p>
          <a:p>
            <a:r>
              <a:rPr lang="en-US" i="0" dirty="0"/>
              <a:t>Finally, we loop back around from the increment to the condition. If the condition is true, we do the whole thing over again. If the condition is false at any point, we stop!</a:t>
            </a:r>
            <a:endParaRPr lang="en-US" i="1" dirty="0"/>
          </a:p>
          <a:p>
            <a:endParaRPr lang="en-US" dirty="0"/>
          </a:p>
        </p:txBody>
      </p:sp>
    </p:spTree>
    <p:extLst>
      <p:ext uri="{BB962C8B-B14F-4D97-AF65-F5344CB8AC3E}">
        <p14:creationId xmlns:p14="http://schemas.microsoft.com/office/powerpoint/2010/main" val="34947111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Now let’s revisit take that code and revisit the warm-up. In this version, we can make the count as high as we want just by changing one number!</a:t>
            </a:r>
          </a:p>
          <a:p>
            <a:endParaRPr lang="en-US" b="0" dirty="0"/>
          </a:p>
          <a:p>
            <a:pPr marL="158750" indent="0">
              <a:buNone/>
            </a:pPr>
            <a:r>
              <a:rPr lang="en-US" b="0" dirty="0"/>
              <a:t>Change the number of times the loop executes.</a:t>
            </a:r>
          </a:p>
          <a:p>
            <a:endParaRPr lang="en-US" dirty="0"/>
          </a:p>
        </p:txBody>
      </p:sp>
    </p:spTree>
    <p:extLst>
      <p:ext uri="{BB962C8B-B14F-4D97-AF65-F5344CB8AC3E}">
        <p14:creationId xmlns:p14="http://schemas.microsoft.com/office/powerpoint/2010/main" val="19101330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Just to go over it one more time, here’s what a for loop looks like. Remember each part – they are all important!</a:t>
            </a:r>
          </a:p>
          <a:p>
            <a:r>
              <a:rPr lang="en-US" dirty="0"/>
              <a:t>We use loops to avoid repeated code. If you’re ever copying and pasting the same thing, chances are there’s a way to use a loop instead.</a:t>
            </a:r>
          </a:p>
          <a:p>
            <a:r>
              <a:rPr lang="en-US" dirty="0"/>
              <a:t>It’s super helpful to memorize the boiler-plate typical for loop.</a:t>
            </a:r>
          </a:p>
          <a:p>
            <a:r>
              <a:rPr lang="en-US" dirty="0"/>
              <a:t>It looks like this.</a:t>
            </a:r>
          </a:p>
          <a:p>
            <a:r>
              <a:rPr lang="en-US" dirty="0"/>
              <a:t>All in all, for loops can be quite intimidating because there is a lot of code. But when it comes down to it, if you practice and memorize the right things, you’ll be able to use them like a pro in no time!</a:t>
            </a:r>
          </a:p>
        </p:txBody>
      </p:sp>
    </p:spTree>
    <p:extLst>
      <p:ext uri="{BB962C8B-B14F-4D97-AF65-F5344CB8AC3E}">
        <p14:creationId xmlns:p14="http://schemas.microsoft.com/office/powerpoint/2010/main" val="213959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9"/>
        <p:cNvGrpSpPr/>
        <p:nvPr/>
      </p:nvGrpSpPr>
      <p:grpSpPr>
        <a:xfrm>
          <a:off x="0" y="0"/>
          <a:ext cx="0" cy="0"/>
          <a:chOff x="0" y="0"/>
          <a:chExt cx="0" cy="0"/>
        </a:xfrm>
      </p:grpSpPr>
      <p:sp>
        <p:nvSpPr>
          <p:cNvPr id="1500" name="Google Shape;1500;ge30e247bb5_0_429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1" name="Google Shape;1501;ge30e247bb5_0_429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en-US" b="1" dirty="0"/>
              <a:t>Does anyone have any questions? </a:t>
            </a:r>
            <a:r>
              <a:rPr lang="en-US" dirty="0"/>
              <a:t>Thanks!</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561425" y="622625"/>
            <a:ext cx="8172600" cy="29121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561425" y="3746300"/>
            <a:ext cx="4689900" cy="9396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485700" y="540000"/>
            <a:ext cx="8172600" cy="29121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85700" y="3663675"/>
            <a:ext cx="4689900" cy="939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85700" y="539375"/>
            <a:ext cx="8172600" cy="2754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20000" y="628925"/>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905925" y="628925"/>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091850" y="628925"/>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txBox="1">
            <a:spLocks noGrp="1"/>
          </p:cNvSpPr>
          <p:nvPr>
            <p:ph type="ctrTitle"/>
          </p:nvPr>
        </p:nvSpPr>
        <p:spPr>
          <a:xfrm>
            <a:off x="720000" y="1138400"/>
            <a:ext cx="7704000" cy="2004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b="1">
                <a:latin typeface="Krona One"/>
                <a:ea typeface="Krona One"/>
                <a:cs typeface="Krona One"/>
                <a:sym typeface="Krona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8" name="Google Shape;18;p2"/>
          <p:cNvSpPr txBox="1">
            <a:spLocks noGrp="1"/>
          </p:cNvSpPr>
          <p:nvPr>
            <p:ph type="subTitle" idx="1"/>
          </p:nvPr>
        </p:nvSpPr>
        <p:spPr>
          <a:xfrm>
            <a:off x="720000" y="3907725"/>
            <a:ext cx="4152600" cy="451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6"/>
        <p:cNvGrpSpPr/>
        <p:nvPr/>
      </p:nvGrpSpPr>
      <p:grpSpPr>
        <a:xfrm>
          <a:off x="0" y="0"/>
          <a:ext cx="0" cy="0"/>
          <a:chOff x="0" y="0"/>
          <a:chExt cx="0" cy="0"/>
        </a:xfrm>
      </p:grpSpPr>
      <p:sp>
        <p:nvSpPr>
          <p:cNvPr id="67" name="Google Shape;67;p6"/>
          <p:cNvSpPr/>
          <p:nvPr/>
        </p:nvSpPr>
        <p:spPr>
          <a:xfrm>
            <a:off x="561425" y="461125"/>
            <a:ext cx="8172600" cy="6912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p:nvPr/>
        </p:nvSpPr>
        <p:spPr>
          <a:xfrm>
            <a:off x="485700" y="378375"/>
            <a:ext cx="8172600" cy="691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6"/>
          <p:cNvSpPr/>
          <p:nvPr/>
        </p:nvSpPr>
        <p:spPr>
          <a:xfrm>
            <a:off x="8306050" y="461125"/>
            <a:ext cx="236100" cy="236100"/>
          </a:xfrm>
          <a:prstGeom prst="mathMultiply">
            <a:avLst>
              <a:gd name="adj1" fmla="val 1928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p:nvPr/>
        </p:nvSpPr>
        <p:spPr>
          <a:xfrm>
            <a:off x="561425" y="1356100"/>
            <a:ext cx="8172600" cy="34164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6"/>
          <p:cNvSpPr/>
          <p:nvPr/>
        </p:nvSpPr>
        <p:spPr>
          <a:xfrm>
            <a:off x="485700" y="1273350"/>
            <a:ext cx="81726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2">
  <p:cSld name="TITLE_ONLY_1">
    <p:spTree>
      <p:nvGrpSpPr>
        <p:cNvPr id="1" name="Shape 192"/>
        <p:cNvGrpSpPr/>
        <p:nvPr/>
      </p:nvGrpSpPr>
      <p:grpSpPr>
        <a:xfrm>
          <a:off x="0" y="0"/>
          <a:ext cx="0" cy="0"/>
          <a:chOff x="0" y="0"/>
          <a:chExt cx="0" cy="0"/>
        </a:xfrm>
      </p:grpSpPr>
      <p:sp>
        <p:nvSpPr>
          <p:cNvPr id="193" name="Google Shape;193;p15"/>
          <p:cNvSpPr/>
          <p:nvPr/>
        </p:nvSpPr>
        <p:spPr>
          <a:xfrm>
            <a:off x="561425" y="461125"/>
            <a:ext cx="8172600" cy="691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5"/>
          <p:cNvSpPr/>
          <p:nvPr/>
        </p:nvSpPr>
        <p:spPr>
          <a:xfrm>
            <a:off x="485700" y="378375"/>
            <a:ext cx="8172600" cy="691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5"/>
          <p:cNvSpPr/>
          <p:nvPr/>
        </p:nvSpPr>
        <p:spPr>
          <a:xfrm>
            <a:off x="8306050" y="461125"/>
            <a:ext cx="236100" cy="236100"/>
          </a:xfrm>
          <a:prstGeom prst="mathMultiply">
            <a:avLst>
              <a:gd name="adj1" fmla="val 1928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5"/>
          <p:cNvSpPr/>
          <p:nvPr/>
        </p:nvSpPr>
        <p:spPr>
          <a:xfrm>
            <a:off x="561425" y="1356100"/>
            <a:ext cx="8172600" cy="34164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5"/>
          <p:cNvSpPr/>
          <p:nvPr/>
        </p:nvSpPr>
        <p:spPr>
          <a:xfrm>
            <a:off x="485700" y="1273350"/>
            <a:ext cx="81726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anks">
  <p:cSld name="TITLE_1">
    <p:spTree>
      <p:nvGrpSpPr>
        <p:cNvPr id="1" name="Shape 385"/>
        <p:cNvGrpSpPr/>
        <p:nvPr/>
      </p:nvGrpSpPr>
      <p:grpSpPr>
        <a:xfrm>
          <a:off x="0" y="0"/>
          <a:ext cx="0" cy="0"/>
          <a:chOff x="0" y="0"/>
          <a:chExt cx="0" cy="0"/>
        </a:xfrm>
      </p:grpSpPr>
      <p:sp>
        <p:nvSpPr>
          <p:cNvPr id="386" name="Google Shape;386;p25"/>
          <p:cNvSpPr/>
          <p:nvPr/>
        </p:nvSpPr>
        <p:spPr>
          <a:xfrm>
            <a:off x="561425" y="622625"/>
            <a:ext cx="8172600" cy="29121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5"/>
          <p:cNvSpPr/>
          <p:nvPr/>
        </p:nvSpPr>
        <p:spPr>
          <a:xfrm>
            <a:off x="4044125" y="3746300"/>
            <a:ext cx="4689900" cy="9396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5"/>
          <p:cNvSpPr/>
          <p:nvPr/>
        </p:nvSpPr>
        <p:spPr>
          <a:xfrm>
            <a:off x="485700" y="540000"/>
            <a:ext cx="8172600" cy="29121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5"/>
          <p:cNvSpPr/>
          <p:nvPr/>
        </p:nvSpPr>
        <p:spPr>
          <a:xfrm>
            <a:off x="3968400" y="3663675"/>
            <a:ext cx="4689900" cy="939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5"/>
          <p:cNvSpPr/>
          <p:nvPr/>
        </p:nvSpPr>
        <p:spPr>
          <a:xfrm>
            <a:off x="485700" y="539375"/>
            <a:ext cx="8172600" cy="2754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5"/>
          <p:cNvSpPr/>
          <p:nvPr/>
        </p:nvSpPr>
        <p:spPr>
          <a:xfrm>
            <a:off x="720000" y="628925"/>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5"/>
          <p:cNvSpPr/>
          <p:nvPr/>
        </p:nvSpPr>
        <p:spPr>
          <a:xfrm>
            <a:off x="905925" y="628925"/>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5"/>
          <p:cNvSpPr/>
          <p:nvPr/>
        </p:nvSpPr>
        <p:spPr>
          <a:xfrm>
            <a:off x="1091850" y="628925"/>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5"/>
          <p:cNvSpPr txBox="1">
            <a:spLocks noGrp="1"/>
          </p:cNvSpPr>
          <p:nvPr>
            <p:ph type="ctrTitle"/>
          </p:nvPr>
        </p:nvSpPr>
        <p:spPr>
          <a:xfrm>
            <a:off x="720000" y="1049325"/>
            <a:ext cx="5650200" cy="774900"/>
          </a:xfrm>
          <a:prstGeom prst="rect">
            <a:avLst/>
          </a:prstGeom>
        </p:spPr>
        <p:txBody>
          <a:bodyPr spcFirstLastPara="1" wrap="square" lIns="91425" tIns="91425" rIns="91425" bIns="91425" anchor="t" anchorCtr="0">
            <a:noAutofit/>
          </a:bodyPr>
          <a:lstStyle>
            <a:lvl1pPr lvl="0" rtl="0">
              <a:spcBef>
                <a:spcPts val="0"/>
              </a:spcBef>
              <a:spcAft>
                <a:spcPts val="0"/>
              </a:spcAft>
              <a:buSzPts val="5200"/>
              <a:buNone/>
              <a:defRPr sz="4600" b="1">
                <a:latin typeface="Krona One"/>
                <a:ea typeface="Krona One"/>
                <a:cs typeface="Krona One"/>
                <a:sym typeface="Krona One"/>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95" name="Google Shape;395;p25"/>
          <p:cNvSpPr txBox="1">
            <a:spLocks noGrp="1"/>
          </p:cNvSpPr>
          <p:nvPr>
            <p:ph type="subTitle" idx="1"/>
          </p:nvPr>
        </p:nvSpPr>
        <p:spPr>
          <a:xfrm>
            <a:off x="720000" y="1824225"/>
            <a:ext cx="5650200" cy="378300"/>
          </a:xfrm>
          <a:prstGeom prst="rect">
            <a:avLst/>
          </a:prstGeom>
        </p:spPr>
        <p:txBody>
          <a:bodyPr spcFirstLastPara="1" wrap="square" lIns="91425" tIns="91425" rIns="91425" bIns="91425" anchor="t" anchorCtr="0">
            <a:noAutofit/>
          </a:bodyPr>
          <a:lstStyle>
            <a:lvl1pPr lvl="0">
              <a:spcBef>
                <a:spcPts val="0"/>
              </a:spcBef>
              <a:spcAft>
                <a:spcPts val="0"/>
              </a:spcAft>
              <a:buSzPts val="2000"/>
              <a:buFont typeface="Krona One"/>
              <a:buNone/>
              <a:defRPr sz="2000" b="1">
                <a:highlight>
                  <a:schemeClr val="accent3"/>
                </a:highlight>
                <a:latin typeface="Krona One"/>
                <a:ea typeface="Krona One"/>
                <a:cs typeface="Krona One"/>
                <a:sym typeface="Krona One"/>
              </a:defRPr>
            </a:lvl1pPr>
            <a:lvl2pPr lvl="1">
              <a:spcBef>
                <a:spcPts val="0"/>
              </a:spcBef>
              <a:spcAft>
                <a:spcPts val="0"/>
              </a:spcAft>
              <a:buSzPts val="2000"/>
              <a:buFont typeface="Krona One"/>
              <a:buNone/>
              <a:defRPr sz="2000" b="1">
                <a:latin typeface="Krona One"/>
                <a:ea typeface="Krona One"/>
                <a:cs typeface="Krona One"/>
                <a:sym typeface="Krona One"/>
              </a:defRPr>
            </a:lvl2pPr>
            <a:lvl3pPr lvl="2">
              <a:spcBef>
                <a:spcPts val="0"/>
              </a:spcBef>
              <a:spcAft>
                <a:spcPts val="0"/>
              </a:spcAft>
              <a:buSzPts val="2000"/>
              <a:buFont typeface="Krona One"/>
              <a:buNone/>
              <a:defRPr sz="2000" b="1">
                <a:latin typeface="Krona One"/>
                <a:ea typeface="Krona One"/>
                <a:cs typeface="Krona One"/>
                <a:sym typeface="Krona One"/>
              </a:defRPr>
            </a:lvl3pPr>
            <a:lvl4pPr lvl="3">
              <a:spcBef>
                <a:spcPts val="0"/>
              </a:spcBef>
              <a:spcAft>
                <a:spcPts val="0"/>
              </a:spcAft>
              <a:buSzPts val="2000"/>
              <a:buFont typeface="Krona One"/>
              <a:buNone/>
              <a:defRPr sz="2000" b="1">
                <a:latin typeface="Krona One"/>
                <a:ea typeface="Krona One"/>
                <a:cs typeface="Krona One"/>
                <a:sym typeface="Krona One"/>
              </a:defRPr>
            </a:lvl4pPr>
            <a:lvl5pPr lvl="4">
              <a:spcBef>
                <a:spcPts val="0"/>
              </a:spcBef>
              <a:spcAft>
                <a:spcPts val="0"/>
              </a:spcAft>
              <a:buSzPts val="2000"/>
              <a:buFont typeface="Krona One"/>
              <a:buNone/>
              <a:defRPr sz="2000" b="1">
                <a:latin typeface="Krona One"/>
                <a:ea typeface="Krona One"/>
                <a:cs typeface="Krona One"/>
                <a:sym typeface="Krona One"/>
              </a:defRPr>
            </a:lvl5pPr>
            <a:lvl6pPr lvl="5">
              <a:spcBef>
                <a:spcPts val="0"/>
              </a:spcBef>
              <a:spcAft>
                <a:spcPts val="0"/>
              </a:spcAft>
              <a:buSzPts val="2000"/>
              <a:buFont typeface="Krona One"/>
              <a:buNone/>
              <a:defRPr sz="2000" b="1">
                <a:latin typeface="Krona One"/>
                <a:ea typeface="Krona One"/>
                <a:cs typeface="Krona One"/>
                <a:sym typeface="Krona One"/>
              </a:defRPr>
            </a:lvl6pPr>
            <a:lvl7pPr lvl="6">
              <a:spcBef>
                <a:spcPts val="0"/>
              </a:spcBef>
              <a:spcAft>
                <a:spcPts val="0"/>
              </a:spcAft>
              <a:buSzPts val="2000"/>
              <a:buFont typeface="Krona One"/>
              <a:buNone/>
              <a:defRPr sz="2000" b="1">
                <a:latin typeface="Krona One"/>
                <a:ea typeface="Krona One"/>
                <a:cs typeface="Krona One"/>
                <a:sym typeface="Krona One"/>
              </a:defRPr>
            </a:lvl7pPr>
            <a:lvl8pPr lvl="7">
              <a:spcBef>
                <a:spcPts val="0"/>
              </a:spcBef>
              <a:spcAft>
                <a:spcPts val="0"/>
              </a:spcAft>
              <a:buSzPts val="2000"/>
              <a:buFont typeface="Krona One"/>
              <a:buNone/>
              <a:defRPr sz="2000" b="1">
                <a:latin typeface="Krona One"/>
                <a:ea typeface="Krona One"/>
                <a:cs typeface="Krona One"/>
                <a:sym typeface="Krona One"/>
              </a:defRPr>
            </a:lvl8pPr>
            <a:lvl9pPr lvl="8">
              <a:spcBef>
                <a:spcPts val="0"/>
              </a:spcBef>
              <a:spcAft>
                <a:spcPts val="0"/>
              </a:spcAft>
              <a:buSzPts val="2000"/>
              <a:buFont typeface="Krona One"/>
              <a:buNone/>
              <a:defRPr sz="2000" b="1">
                <a:latin typeface="Krona One"/>
                <a:ea typeface="Krona One"/>
                <a:cs typeface="Krona One"/>
                <a:sym typeface="Krona One"/>
              </a:defRPr>
            </a:lvl9pPr>
          </a:lstStyle>
          <a:p>
            <a:endParaRPr/>
          </a:p>
        </p:txBody>
      </p:sp>
      <p:sp>
        <p:nvSpPr>
          <p:cNvPr id="396" name="Google Shape;396;p25"/>
          <p:cNvSpPr txBox="1">
            <a:spLocks noGrp="1"/>
          </p:cNvSpPr>
          <p:nvPr>
            <p:ph type="subTitle" idx="2"/>
          </p:nvPr>
        </p:nvSpPr>
        <p:spPr>
          <a:xfrm>
            <a:off x="720000" y="2299125"/>
            <a:ext cx="2762100" cy="854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397" name="Google Shape;397;p25"/>
          <p:cNvSpPr txBox="1"/>
          <p:nvPr/>
        </p:nvSpPr>
        <p:spPr>
          <a:xfrm>
            <a:off x="4202700" y="3883895"/>
            <a:ext cx="4295100" cy="452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300"/>
              </a:spcBef>
              <a:spcAft>
                <a:spcPts val="0"/>
              </a:spcAft>
              <a:buNone/>
            </a:pPr>
            <a:r>
              <a:rPr lang="en" sz="1000" b="1">
                <a:solidFill>
                  <a:schemeClr val="dk1"/>
                </a:solidFill>
                <a:latin typeface="Miriam Libre"/>
                <a:ea typeface="Miriam Libre"/>
                <a:cs typeface="Miriam Libre"/>
                <a:sym typeface="Miriam Libre"/>
              </a:rPr>
              <a:t>CREDITS: </a:t>
            </a:r>
            <a:r>
              <a:rPr lang="en" sz="1000">
                <a:solidFill>
                  <a:schemeClr val="dk1"/>
                </a:solidFill>
                <a:latin typeface="Miriam Libre"/>
                <a:ea typeface="Miriam Libre"/>
                <a:cs typeface="Miriam Libre"/>
                <a:sym typeface="Miriam Libre"/>
              </a:rPr>
              <a:t>This presentation template was created by </a:t>
            </a:r>
            <a:r>
              <a:rPr lang="en" sz="1000" b="1">
                <a:solidFill>
                  <a:schemeClr val="dk1"/>
                </a:solidFill>
                <a:uFill>
                  <a:noFill/>
                </a:uFill>
                <a:latin typeface="Miriam Libre"/>
                <a:ea typeface="Miriam Libre"/>
                <a:cs typeface="Miriam Libre"/>
                <a:sym typeface="Miriam Libre"/>
                <a:hlinkClick r:id="rId2">
                  <a:extLst>
                    <a:ext uri="{A12FA001-AC4F-418D-AE19-62706E023703}">
                      <ahyp:hlinkClr xmlns:ahyp="http://schemas.microsoft.com/office/drawing/2018/hyperlinkcolor" val="tx"/>
                    </a:ext>
                  </a:extLst>
                </a:hlinkClick>
              </a:rPr>
              <a:t>Slidesgo</a:t>
            </a:r>
            <a:r>
              <a:rPr lang="en" sz="1000">
                <a:solidFill>
                  <a:schemeClr val="dk1"/>
                </a:solidFill>
                <a:latin typeface="Miriam Libre"/>
                <a:ea typeface="Miriam Libre"/>
                <a:cs typeface="Miriam Libre"/>
                <a:sym typeface="Miriam Libre"/>
              </a:rPr>
              <a:t>, including icons by </a:t>
            </a:r>
            <a:r>
              <a:rPr lang="en" sz="1000" b="1">
                <a:solidFill>
                  <a:schemeClr val="dk1"/>
                </a:solidFill>
                <a:uFill>
                  <a:noFill/>
                </a:uFill>
                <a:latin typeface="Miriam Libre"/>
                <a:ea typeface="Miriam Libre"/>
                <a:cs typeface="Miriam Libre"/>
                <a:sym typeface="Miriam Libre"/>
                <a:hlinkClick r:id="rId3">
                  <a:extLst>
                    <a:ext uri="{A12FA001-AC4F-418D-AE19-62706E023703}">
                      <ahyp:hlinkClr xmlns:ahyp="http://schemas.microsoft.com/office/drawing/2018/hyperlinkcolor" val="tx"/>
                    </a:ext>
                  </a:extLst>
                </a:hlinkClick>
              </a:rPr>
              <a:t>Flaticon</a:t>
            </a:r>
            <a:r>
              <a:rPr lang="en" sz="1000">
                <a:solidFill>
                  <a:schemeClr val="dk1"/>
                </a:solidFill>
                <a:latin typeface="Miriam Libre"/>
                <a:ea typeface="Miriam Libre"/>
                <a:cs typeface="Miriam Libre"/>
                <a:sym typeface="Miriam Libre"/>
              </a:rPr>
              <a:t> and infographics &amp; images by </a:t>
            </a:r>
            <a:r>
              <a:rPr lang="en" sz="1000" b="1">
                <a:solidFill>
                  <a:schemeClr val="dk1"/>
                </a:solidFill>
                <a:uFill>
                  <a:noFill/>
                </a:uFill>
                <a:latin typeface="Miriam Libre"/>
                <a:ea typeface="Miriam Libre"/>
                <a:cs typeface="Miriam Libre"/>
                <a:sym typeface="Miriam Libre"/>
                <a:hlinkClick r:id="rId4">
                  <a:extLst>
                    <a:ext uri="{A12FA001-AC4F-418D-AE19-62706E023703}">
                      <ahyp:hlinkClr xmlns:ahyp="http://schemas.microsoft.com/office/drawing/2018/hyperlinkcolor" val="tx"/>
                    </a:ext>
                  </a:extLst>
                </a:hlinkClick>
              </a:rPr>
              <a:t>Freepik</a:t>
            </a:r>
            <a:endParaRPr sz="1000" b="1">
              <a:solidFill>
                <a:schemeClr val="dk1"/>
              </a:solidFill>
              <a:latin typeface="Miriam Libre"/>
              <a:ea typeface="Miriam Libre"/>
              <a:cs typeface="Miriam Libre"/>
              <a:sym typeface="Miriam Libre"/>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2">
    <p:spTree>
      <p:nvGrpSpPr>
        <p:cNvPr id="1" name="Shape 398"/>
        <p:cNvGrpSpPr/>
        <p:nvPr/>
      </p:nvGrpSpPr>
      <p:grpSpPr>
        <a:xfrm>
          <a:off x="0" y="0"/>
          <a:ext cx="0" cy="0"/>
          <a:chOff x="0" y="0"/>
          <a:chExt cx="0" cy="0"/>
        </a:xfrm>
      </p:grpSpPr>
      <p:sp>
        <p:nvSpPr>
          <p:cNvPr id="399" name="Google Shape;399;p26"/>
          <p:cNvSpPr/>
          <p:nvPr/>
        </p:nvSpPr>
        <p:spPr>
          <a:xfrm>
            <a:off x="561425" y="461125"/>
            <a:ext cx="8172600" cy="691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6"/>
          <p:cNvSpPr/>
          <p:nvPr/>
        </p:nvSpPr>
        <p:spPr>
          <a:xfrm>
            <a:off x="485700" y="378375"/>
            <a:ext cx="8172600" cy="691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6"/>
          <p:cNvSpPr/>
          <p:nvPr/>
        </p:nvSpPr>
        <p:spPr>
          <a:xfrm>
            <a:off x="561425" y="1356100"/>
            <a:ext cx="8172600" cy="34164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6"/>
          <p:cNvSpPr/>
          <p:nvPr/>
        </p:nvSpPr>
        <p:spPr>
          <a:xfrm>
            <a:off x="485700" y="1273350"/>
            <a:ext cx="81726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6"/>
          <p:cNvSpPr/>
          <p:nvPr/>
        </p:nvSpPr>
        <p:spPr>
          <a:xfrm>
            <a:off x="8306050" y="461125"/>
            <a:ext cx="236100" cy="236100"/>
          </a:xfrm>
          <a:prstGeom prst="mathMultiply">
            <a:avLst>
              <a:gd name="adj1" fmla="val 1928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2_1">
    <p:spTree>
      <p:nvGrpSpPr>
        <p:cNvPr id="1" name="Shape 404"/>
        <p:cNvGrpSpPr/>
        <p:nvPr/>
      </p:nvGrpSpPr>
      <p:grpSpPr>
        <a:xfrm>
          <a:off x="0" y="0"/>
          <a:ext cx="0" cy="0"/>
          <a:chOff x="0" y="0"/>
          <a:chExt cx="0" cy="0"/>
        </a:xfrm>
      </p:grpSpPr>
      <p:sp>
        <p:nvSpPr>
          <p:cNvPr id="405" name="Google Shape;405;p27"/>
          <p:cNvSpPr/>
          <p:nvPr/>
        </p:nvSpPr>
        <p:spPr>
          <a:xfrm>
            <a:off x="561425" y="1356600"/>
            <a:ext cx="4715400" cy="34164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7"/>
          <p:cNvSpPr/>
          <p:nvPr/>
        </p:nvSpPr>
        <p:spPr>
          <a:xfrm>
            <a:off x="485700" y="1273975"/>
            <a:ext cx="47154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7"/>
          <p:cNvSpPr/>
          <p:nvPr/>
        </p:nvSpPr>
        <p:spPr>
          <a:xfrm>
            <a:off x="485700" y="1273350"/>
            <a:ext cx="4715400" cy="2754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7"/>
          <p:cNvSpPr/>
          <p:nvPr/>
        </p:nvSpPr>
        <p:spPr>
          <a:xfrm>
            <a:off x="720000" y="1362900"/>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7"/>
          <p:cNvSpPr/>
          <p:nvPr/>
        </p:nvSpPr>
        <p:spPr>
          <a:xfrm>
            <a:off x="905925" y="1362900"/>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7"/>
          <p:cNvSpPr/>
          <p:nvPr/>
        </p:nvSpPr>
        <p:spPr>
          <a:xfrm>
            <a:off x="1091850" y="1362900"/>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7"/>
          <p:cNvSpPr/>
          <p:nvPr/>
        </p:nvSpPr>
        <p:spPr>
          <a:xfrm>
            <a:off x="561425" y="461125"/>
            <a:ext cx="8172600" cy="6912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7"/>
          <p:cNvSpPr/>
          <p:nvPr/>
        </p:nvSpPr>
        <p:spPr>
          <a:xfrm>
            <a:off x="485700" y="378375"/>
            <a:ext cx="8172600" cy="691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7"/>
          <p:cNvSpPr/>
          <p:nvPr/>
        </p:nvSpPr>
        <p:spPr>
          <a:xfrm>
            <a:off x="5493300" y="1356600"/>
            <a:ext cx="3240600" cy="34164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7"/>
          <p:cNvSpPr/>
          <p:nvPr/>
        </p:nvSpPr>
        <p:spPr>
          <a:xfrm>
            <a:off x="5417575" y="1273975"/>
            <a:ext cx="32406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7"/>
          <p:cNvSpPr/>
          <p:nvPr/>
        </p:nvSpPr>
        <p:spPr>
          <a:xfrm>
            <a:off x="5417575" y="1273350"/>
            <a:ext cx="3240600" cy="275400"/>
          </a:xfrm>
          <a:prstGeom prst="rect">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7"/>
          <p:cNvSpPr/>
          <p:nvPr/>
        </p:nvSpPr>
        <p:spPr>
          <a:xfrm>
            <a:off x="5651875" y="1362900"/>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7"/>
          <p:cNvSpPr/>
          <p:nvPr/>
        </p:nvSpPr>
        <p:spPr>
          <a:xfrm>
            <a:off x="5837800" y="1362900"/>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7"/>
          <p:cNvSpPr/>
          <p:nvPr/>
        </p:nvSpPr>
        <p:spPr>
          <a:xfrm>
            <a:off x="6023725" y="1362900"/>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8">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1pPr>
            <a:lvl2pPr lvl="1">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2pPr>
            <a:lvl3pPr lvl="2">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3pPr>
            <a:lvl4pPr lvl="3">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4pPr>
            <a:lvl5pPr lvl="4">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5pPr>
            <a:lvl6pPr lvl="5">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6pPr>
            <a:lvl7pPr lvl="6">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7pPr>
            <a:lvl8pPr lvl="7">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8pPr>
            <a:lvl9pPr lvl="8">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1pPr>
            <a:lvl2pPr marL="914400" lvl="1"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2pPr>
            <a:lvl3pPr marL="1371600" lvl="2"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3pPr>
            <a:lvl4pPr marL="1828800" lvl="3"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4pPr>
            <a:lvl5pPr marL="2286000" lvl="4"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5pPr>
            <a:lvl6pPr marL="2743200" lvl="5"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6pPr>
            <a:lvl7pPr marL="3200400" lvl="6"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7pPr>
            <a:lvl8pPr marL="3657600" lvl="7"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8pPr>
            <a:lvl9pPr marL="4114800" lvl="8"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61" r:id="rId3"/>
    <p:sldLayoutId id="2147483671" r:id="rId4"/>
    <p:sldLayoutId id="2147483672" r:id="rId5"/>
    <p:sldLayoutId id="2147483673" r:id="rId6"/>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hyperlink" Target="https://freepngimg.com/png/36514-daft-punk-hd" TargetMode="Externa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video" Target="https://www.youtube.com/embed/xtEmJeojY0I?feature=oembed" TargetMode="Externa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jsfiddle.net/t6rpyqfe/"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jsfiddle.net/wt5ycfp2/"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1"/>
          <p:cNvSpPr/>
          <p:nvPr/>
        </p:nvSpPr>
        <p:spPr>
          <a:xfrm>
            <a:off x="5517175"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1"/>
          <p:cNvSpPr txBox="1">
            <a:spLocks noGrp="1"/>
          </p:cNvSpPr>
          <p:nvPr>
            <p:ph type="ctrTitle"/>
          </p:nvPr>
        </p:nvSpPr>
        <p:spPr>
          <a:xfrm>
            <a:off x="720000" y="1138400"/>
            <a:ext cx="7704000" cy="2004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8800" b="0" dirty="0"/>
              <a:t>For Loops</a:t>
            </a:r>
            <a:endParaRPr sz="11500" dirty="0">
              <a:solidFill>
                <a:schemeClr val="accent4">
                  <a:lumMod val="60000"/>
                  <a:lumOff val="40000"/>
                </a:schemeClr>
              </a:solidFill>
              <a:highlight>
                <a:schemeClr val="accent3"/>
              </a:highlight>
            </a:endParaRPr>
          </a:p>
        </p:txBody>
      </p:sp>
      <p:sp>
        <p:nvSpPr>
          <p:cNvPr id="445" name="Google Shape;445;p31"/>
          <p:cNvSpPr txBox="1">
            <a:spLocks noGrp="1"/>
          </p:cNvSpPr>
          <p:nvPr>
            <p:ph type="subTitle" idx="1"/>
          </p:nvPr>
        </p:nvSpPr>
        <p:spPr>
          <a:xfrm>
            <a:off x="717062" y="3854205"/>
            <a:ext cx="4511546" cy="599027"/>
          </a:xfrm>
          <a:prstGeom prst="rect">
            <a:avLst/>
          </a:prstGeom>
        </p:spPr>
        <p:txBody>
          <a:bodyPr spcFirstLastPara="1" wrap="square" lIns="91425" tIns="91425" rIns="91425" bIns="91425" anchor="t" anchorCtr="0">
            <a:noAutofit/>
          </a:bodyPr>
          <a:lstStyle/>
          <a:p>
            <a:r>
              <a:rPr lang="en-US" sz="2400" dirty="0"/>
              <a:t>HTO: Website Development</a:t>
            </a:r>
          </a:p>
        </p:txBody>
      </p:sp>
      <p:sp>
        <p:nvSpPr>
          <p:cNvPr id="446" name="Google Shape;446;p31"/>
          <p:cNvSpPr/>
          <p:nvPr/>
        </p:nvSpPr>
        <p:spPr>
          <a:xfrm>
            <a:off x="5437275" y="3665400"/>
            <a:ext cx="939600" cy="939600"/>
          </a:xfrm>
          <a:prstGeom prst="snip1Rect">
            <a:avLst>
              <a:gd name="adj" fmla="val 1132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p:cNvSpPr/>
          <p:nvPr/>
        </p:nvSpPr>
        <p:spPr>
          <a:xfrm>
            <a:off x="6655800"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p:cNvSpPr/>
          <p:nvPr/>
        </p:nvSpPr>
        <p:spPr>
          <a:xfrm>
            <a:off x="6575900" y="3665400"/>
            <a:ext cx="939600" cy="939600"/>
          </a:xfrm>
          <a:prstGeom prst="snip1Rect">
            <a:avLst>
              <a:gd name="adj" fmla="val 1132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p:cNvSpPr/>
          <p:nvPr/>
        </p:nvSpPr>
        <p:spPr>
          <a:xfrm>
            <a:off x="7794425"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p:cNvSpPr/>
          <p:nvPr/>
        </p:nvSpPr>
        <p:spPr>
          <a:xfrm>
            <a:off x="7714525" y="3665400"/>
            <a:ext cx="939600" cy="939600"/>
          </a:xfrm>
          <a:prstGeom prst="snip1Rect">
            <a:avLst>
              <a:gd name="adj" fmla="val 11329"/>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roup 9"/>
          <p:cNvGrpSpPr>
            <a:grpSpLocks noChangeAspect="1"/>
          </p:cNvGrpSpPr>
          <p:nvPr/>
        </p:nvGrpSpPr>
        <p:grpSpPr>
          <a:xfrm>
            <a:off x="7811047" y="3760197"/>
            <a:ext cx="746555" cy="746555"/>
            <a:chOff x="4724400" y="2057400"/>
            <a:chExt cx="2743200" cy="2743200"/>
          </a:xfrm>
        </p:grpSpPr>
        <p:sp>
          <p:nvSpPr>
            <p:cNvPr id="11" name="Rectangle 10">
              <a:extLst>
                <a:ext uri="{FF2B5EF4-FFF2-40B4-BE49-F238E27FC236}">
                  <a16:creationId xmlns:a16="http://schemas.microsoft.com/office/drawing/2014/main" id="{D29DC7FE-AC82-431F-98BF-29FC267130B1}"/>
                </a:ext>
              </a:extLst>
            </p:cNvPr>
            <p:cNvSpPr/>
            <p:nvPr/>
          </p:nvSpPr>
          <p:spPr>
            <a:xfrm>
              <a:off x="4724400" y="2057400"/>
              <a:ext cx="2743200" cy="2743200"/>
            </a:xfrm>
            <a:prstGeom prst="rect">
              <a:avLst/>
            </a:prstGeom>
            <a:gradFill flip="none" rotWithShape="1">
              <a:gsLst>
                <a:gs pos="0">
                  <a:srgbClr val="6ABF4B"/>
                </a:gs>
                <a:gs pos="99000">
                  <a:srgbClr val="54C8E8"/>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700" dirty="0"/>
            </a:p>
          </p:txBody>
        </p:sp>
        <p:grpSp>
          <p:nvGrpSpPr>
            <p:cNvPr id="12" name="Group 4">
              <a:extLst>
                <a:ext uri="{FF2B5EF4-FFF2-40B4-BE49-F238E27FC236}">
                  <a16:creationId xmlns:a16="http://schemas.microsoft.com/office/drawing/2014/main" id="{BB74FD83-EF1E-43B0-BAC9-95799264DF40}"/>
                </a:ext>
              </a:extLst>
            </p:cNvPr>
            <p:cNvGrpSpPr>
              <a:grpSpLocks noChangeAspect="1"/>
            </p:cNvGrpSpPr>
            <p:nvPr userDrawn="1"/>
          </p:nvGrpSpPr>
          <p:grpSpPr bwMode="auto">
            <a:xfrm>
              <a:off x="5154168" y="3116582"/>
              <a:ext cx="1883664" cy="624837"/>
              <a:chOff x="4992" y="1007"/>
              <a:chExt cx="823" cy="273"/>
            </a:xfrm>
            <a:solidFill>
              <a:srgbClr val="FFFFFF"/>
            </a:solidFill>
          </p:grpSpPr>
          <p:sp>
            <p:nvSpPr>
              <p:cNvPr id="13" name="Freeform 5">
                <a:extLst>
                  <a:ext uri="{FF2B5EF4-FFF2-40B4-BE49-F238E27FC236}">
                    <a16:creationId xmlns:a16="http://schemas.microsoft.com/office/drawing/2014/main" id="{684C248C-E801-46CE-89AA-270E8706AE3C}"/>
                  </a:ext>
                </a:extLst>
              </p:cNvPr>
              <p:cNvSpPr>
                <a:spLocks/>
              </p:cNvSpPr>
              <p:nvPr/>
            </p:nvSpPr>
            <p:spPr bwMode="auto">
              <a:xfrm>
                <a:off x="4992" y="1017"/>
                <a:ext cx="189" cy="197"/>
              </a:xfrm>
              <a:custGeom>
                <a:avLst/>
                <a:gdLst>
                  <a:gd name="T0" fmla="*/ 0 w 189"/>
                  <a:gd name="T1" fmla="*/ 187 h 197"/>
                  <a:gd name="T2" fmla="*/ 21 w 189"/>
                  <a:gd name="T3" fmla="*/ 183 h 197"/>
                  <a:gd name="T4" fmla="*/ 21 w 189"/>
                  <a:gd name="T5" fmla="*/ 15 h 197"/>
                  <a:gd name="T6" fmla="*/ 0 w 189"/>
                  <a:gd name="T7" fmla="*/ 12 h 197"/>
                  <a:gd name="T8" fmla="*/ 0 w 189"/>
                  <a:gd name="T9" fmla="*/ 0 h 197"/>
                  <a:gd name="T10" fmla="*/ 66 w 189"/>
                  <a:gd name="T11" fmla="*/ 0 h 197"/>
                  <a:gd name="T12" fmla="*/ 66 w 189"/>
                  <a:gd name="T13" fmla="*/ 12 h 197"/>
                  <a:gd name="T14" fmla="*/ 46 w 189"/>
                  <a:gd name="T15" fmla="*/ 14 h 197"/>
                  <a:gd name="T16" fmla="*/ 46 w 189"/>
                  <a:gd name="T17" fmla="*/ 94 h 197"/>
                  <a:gd name="T18" fmla="*/ 143 w 189"/>
                  <a:gd name="T19" fmla="*/ 94 h 197"/>
                  <a:gd name="T20" fmla="*/ 143 w 189"/>
                  <a:gd name="T21" fmla="*/ 14 h 197"/>
                  <a:gd name="T22" fmla="*/ 122 w 189"/>
                  <a:gd name="T23" fmla="*/ 12 h 197"/>
                  <a:gd name="T24" fmla="*/ 122 w 189"/>
                  <a:gd name="T25" fmla="*/ 0 h 197"/>
                  <a:gd name="T26" fmla="*/ 188 w 189"/>
                  <a:gd name="T27" fmla="*/ 0 h 197"/>
                  <a:gd name="T28" fmla="*/ 188 w 189"/>
                  <a:gd name="T29" fmla="*/ 12 h 197"/>
                  <a:gd name="T30" fmla="*/ 168 w 189"/>
                  <a:gd name="T31" fmla="*/ 14 h 197"/>
                  <a:gd name="T32" fmla="*/ 168 w 189"/>
                  <a:gd name="T33" fmla="*/ 183 h 197"/>
                  <a:gd name="T34" fmla="*/ 189 w 189"/>
                  <a:gd name="T35" fmla="*/ 187 h 197"/>
                  <a:gd name="T36" fmla="*/ 189 w 189"/>
                  <a:gd name="T37" fmla="*/ 197 h 197"/>
                  <a:gd name="T38" fmla="*/ 121 w 189"/>
                  <a:gd name="T39" fmla="*/ 197 h 197"/>
                  <a:gd name="T40" fmla="*/ 121 w 189"/>
                  <a:gd name="T41" fmla="*/ 187 h 197"/>
                  <a:gd name="T42" fmla="*/ 143 w 189"/>
                  <a:gd name="T43" fmla="*/ 183 h 197"/>
                  <a:gd name="T44" fmla="*/ 143 w 189"/>
                  <a:gd name="T45" fmla="*/ 109 h 197"/>
                  <a:gd name="T46" fmla="*/ 46 w 189"/>
                  <a:gd name="T47" fmla="*/ 109 h 197"/>
                  <a:gd name="T48" fmla="*/ 46 w 189"/>
                  <a:gd name="T49" fmla="*/ 183 h 197"/>
                  <a:gd name="T50" fmla="*/ 68 w 189"/>
                  <a:gd name="T51" fmla="*/ 187 h 197"/>
                  <a:gd name="T52" fmla="*/ 68 w 189"/>
                  <a:gd name="T53" fmla="*/ 197 h 197"/>
                  <a:gd name="T54" fmla="*/ 0 w 189"/>
                  <a:gd name="T55" fmla="*/ 197 h 197"/>
                  <a:gd name="T56" fmla="*/ 0 w 189"/>
                  <a:gd name="T57" fmla="*/ 18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97">
                    <a:moveTo>
                      <a:pt x="0" y="187"/>
                    </a:moveTo>
                    <a:lnTo>
                      <a:pt x="21" y="183"/>
                    </a:lnTo>
                    <a:lnTo>
                      <a:pt x="21" y="15"/>
                    </a:lnTo>
                    <a:lnTo>
                      <a:pt x="0" y="12"/>
                    </a:lnTo>
                    <a:lnTo>
                      <a:pt x="0" y="0"/>
                    </a:lnTo>
                    <a:lnTo>
                      <a:pt x="66" y="0"/>
                    </a:lnTo>
                    <a:lnTo>
                      <a:pt x="66" y="12"/>
                    </a:lnTo>
                    <a:lnTo>
                      <a:pt x="46" y="14"/>
                    </a:lnTo>
                    <a:lnTo>
                      <a:pt x="46" y="94"/>
                    </a:lnTo>
                    <a:lnTo>
                      <a:pt x="143" y="94"/>
                    </a:lnTo>
                    <a:lnTo>
                      <a:pt x="143" y="14"/>
                    </a:lnTo>
                    <a:lnTo>
                      <a:pt x="122" y="12"/>
                    </a:lnTo>
                    <a:lnTo>
                      <a:pt x="122" y="0"/>
                    </a:lnTo>
                    <a:lnTo>
                      <a:pt x="188" y="0"/>
                    </a:lnTo>
                    <a:lnTo>
                      <a:pt x="188" y="12"/>
                    </a:lnTo>
                    <a:lnTo>
                      <a:pt x="168" y="14"/>
                    </a:lnTo>
                    <a:lnTo>
                      <a:pt x="168" y="183"/>
                    </a:lnTo>
                    <a:lnTo>
                      <a:pt x="189" y="187"/>
                    </a:lnTo>
                    <a:lnTo>
                      <a:pt x="189" y="197"/>
                    </a:lnTo>
                    <a:lnTo>
                      <a:pt x="121" y="197"/>
                    </a:lnTo>
                    <a:lnTo>
                      <a:pt x="121" y="187"/>
                    </a:lnTo>
                    <a:lnTo>
                      <a:pt x="143" y="183"/>
                    </a:lnTo>
                    <a:lnTo>
                      <a:pt x="143" y="109"/>
                    </a:lnTo>
                    <a:lnTo>
                      <a:pt x="46" y="109"/>
                    </a:lnTo>
                    <a:lnTo>
                      <a:pt x="46" y="183"/>
                    </a:lnTo>
                    <a:lnTo>
                      <a:pt x="68" y="187"/>
                    </a:lnTo>
                    <a:lnTo>
                      <a:pt x="68" y="197"/>
                    </a:lnTo>
                    <a:lnTo>
                      <a:pt x="0" y="197"/>
                    </a:lnTo>
                    <a:lnTo>
                      <a:pt x="0"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E53B33E3-324A-4532-975C-F9D23ED42041}"/>
                  </a:ext>
                </a:extLst>
              </p:cNvPr>
              <p:cNvSpPr>
                <a:spLocks/>
              </p:cNvSpPr>
              <p:nvPr/>
            </p:nvSpPr>
            <p:spPr bwMode="auto">
              <a:xfrm>
                <a:off x="5173" y="1072"/>
                <a:ext cx="146" cy="208"/>
              </a:xfrm>
              <a:custGeom>
                <a:avLst/>
                <a:gdLst>
                  <a:gd name="T0" fmla="*/ 25 w 199"/>
                  <a:gd name="T1" fmla="*/ 252 h 282"/>
                  <a:gd name="T2" fmla="*/ 32 w 199"/>
                  <a:gd name="T3" fmla="*/ 253 h 282"/>
                  <a:gd name="T4" fmla="*/ 39 w 199"/>
                  <a:gd name="T5" fmla="*/ 253 h 282"/>
                  <a:gd name="T6" fmla="*/ 52 w 199"/>
                  <a:gd name="T7" fmla="*/ 251 h 282"/>
                  <a:gd name="T8" fmla="*/ 67 w 199"/>
                  <a:gd name="T9" fmla="*/ 243 h 282"/>
                  <a:gd name="T10" fmla="*/ 81 w 199"/>
                  <a:gd name="T11" fmla="*/ 224 h 282"/>
                  <a:gd name="T12" fmla="*/ 94 w 199"/>
                  <a:gd name="T13" fmla="*/ 193 h 282"/>
                  <a:gd name="T14" fmla="*/ 87 w 199"/>
                  <a:gd name="T15" fmla="*/ 193 h 282"/>
                  <a:gd name="T16" fmla="*/ 17 w 199"/>
                  <a:gd name="T17" fmla="*/ 22 h 282"/>
                  <a:gd name="T18" fmla="*/ 0 w 199"/>
                  <a:gd name="T19" fmla="*/ 19 h 282"/>
                  <a:gd name="T20" fmla="*/ 0 w 199"/>
                  <a:gd name="T21" fmla="*/ 0 h 282"/>
                  <a:gd name="T22" fmla="*/ 79 w 199"/>
                  <a:gd name="T23" fmla="*/ 0 h 282"/>
                  <a:gd name="T24" fmla="*/ 79 w 199"/>
                  <a:gd name="T25" fmla="*/ 19 h 282"/>
                  <a:gd name="T26" fmla="*/ 54 w 199"/>
                  <a:gd name="T27" fmla="*/ 22 h 282"/>
                  <a:gd name="T28" fmla="*/ 95 w 199"/>
                  <a:gd name="T29" fmla="*/ 138 h 282"/>
                  <a:gd name="T30" fmla="*/ 106 w 199"/>
                  <a:gd name="T31" fmla="*/ 173 h 282"/>
                  <a:gd name="T32" fmla="*/ 116 w 199"/>
                  <a:gd name="T33" fmla="*/ 138 h 282"/>
                  <a:gd name="T34" fmla="*/ 151 w 199"/>
                  <a:gd name="T35" fmla="*/ 22 h 282"/>
                  <a:gd name="T36" fmla="*/ 125 w 199"/>
                  <a:gd name="T37" fmla="*/ 19 h 282"/>
                  <a:gd name="T38" fmla="*/ 125 w 199"/>
                  <a:gd name="T39" fmla="*/ 0 h 282"/>
                  <a:gd name="T40" fmla="*/ 199 w 199"/>
                  <a:gd name="T41" fmla="*/ 0 h 282"/>
                  <a:gd name="T42" fmla="*/ 199 w 199"/>
                  <a:gd name="T43" fmla="*/ 19 h 282"/>
                  <a:gd name="T44" fmla="*/ 180 w 199"/>
                  <a:gd name="T45" fmla="*/ 21 h 282"/>
                  <a:gd name="T46" fmla="*/ 159 w 199"/>
                  <a:gd name="T47" fmla="*/ 80 h 282"/>
                  <a:gd name="T48" fmla="*/ 144 w 199"/>
                  <a:gd name="T49" fmla="*/ 124 h 282"/>
                  <a:gd name="T50" fmla="*/ 133 w 199"/>
                  <a:gd name="T51" fmla="*/ 156 h 282"/>
                  <a:gd name="T52" fmla="*/ 126 w 199"/>
                  <a:gd name="T53" fmla="*/ 177 h 282"/>
                  <a:gd name="T54" fmla="*/ 121 w 199"/>
                  <a:gd name="T55" fmla="*/ 191 h 282"/>
                  <a:gd name="T56" fmla="*/ 117 w 199"/>
                  <a:gd name="T57" fmla="*/ 200 h 282"/>
                  <a:gd name="T58" fmla="*/ 104 w 199"/>
                  <a:gd name="T59" fmla="*/ 231 h 282"/>
                  <a:gd name="T60" fmla="*/ 89 w 199"/>
                  <a:gd name="T61" fmla="*/ 255 h 282"/>
                  <a:gd name="T62" fmla="*/ 73 w 199"/>
                  <a:gd name="T63" fmla="*/ 271 h 282"/>
                  <a:gd name="T64" fmla="*/ 54 w 199"/>
                  <a:gd name="T65" fmla="*/ 280 h 282"/>
                  <a:gd name="T66" fmla="*/ 39 w 199"/>
                  <a:gd name="T67" fmla="*/ 282 h 282"/>
                  <a:gd name="T68" fmla="*/ 35 w 199"/>
                  <a:gd name="T69" fmla="*/ 282 h 282"/>
                  <a:gd name="T70" fmla="*/ 31 w 199"/>
                  <a:gd name="T71" fmla="*/ 281 h 282"/>
                  <a:gd name="T72" fmla="*/ 27 w 199"/>
                  <a:gd name="T73" fmla="*/ 280 h 282"/>
                  <a:gd name="T74" fmla="*/ 25 w 199"/>
                  <a:gd name="T75" fmla="*/ 279 h 282"/>
                  <a:gd name="T76" fmla="*/ 25 w 199"/>
                  <a:gd name="T77" fmla="*/ 25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9" h="282">
                    <a:moveTo>
                      <a:pt x="25" y="252"/>
                    </a:moveTo>
                    <a:cubicBezTo>
                      <a:pt x="27" y="252"/>
                      <a:pt x="29" y="253"/>
                      <a:pt x="32" y="253"/>
                    </a:cubicBezTo>
                    <a:cubicBezTo>
                      <a:pt x="34" y="253"/>
                      <a:pt x="37" y="253"/>
                      <a:pt x="39" y="253"/>
                    </a:cubicBezTo>
                    <a:cubicBezTo>
                      <a:pt x="43" y="253"/>
                      <a:pt x="47" y="253"/>
                      <a:pt x="52" y="251"/>
                    </a:cubicBezTo>
                    <a:cubicBezTo>
                      <a:pt x="57" y="250"/>
                      <a:pt x="62" y="247"/>
                      <a:pt x="67" y="243"/>
                    </a:cubicBezTo>
                    <a:cubicBezTo>
                      <a:pt x="72" y="238"/>
                      <a:pt x="77" y="232"/>
                      <a:pt x="81" y="224"/>
                    </a:cubicBezTo>
                    <a:cubicBezTo>
                      <a:pt x="86" y="216"/>
                      <a:pt x="90" y="206"/>
                      <a:pt x="94" y="193"/>
                    </a:cubicBezTo>
                    <a:cubicBezTo>
                      <a:pt x="87" y="193"/>
                      <a:pt x="87" y="193"/>
                      <a:pt x="87" y="193"/>
                    </a:cubicBezTo>
                    <a:cubicBezTo>
                      <a:pt x="17" y="22"/>
                      <a:pt x="17" y="22"/>
                      <a:pt x="17" y="22"/>
                    </a:cubicBezTo>
                    <a:cubicBezTo>
                      <a:pt x="0" y="19"/>
                      <a:pt x="0" y="19"/>
                      <a:pt x="0" y="19"/>
                    </a:cubicBezTo>
                    <a:cubicBezTo>
                      <a:pt x="0" y="0"/>
                      <a:pt x="0" y="0"/>
                      <a:pt x="0" y="0"/>
                    </a:cubicBezTo>
                    <a:cubicBezTo>
                      <a:pt x="79" y="0"/>
                      <a:pt x="79" y="0"/>
                      <a:pt x="79" y="0"/>
                    </a:cubicBezTo>
                    <a:cubicBezTo>
                      <a:pt x="79" y="19"/>
                      <a:pt x="79" y="19"/>
                      <a:pt x="79" y="19"/>
                    </a:cubicBezTo>
                    <a:cubicBezTo>
                      <a:pt x="54" y="22"/>
                      <a:pt x="54" y="22"/>
                      <a:pt x="54" y="22"/>
                    </a:cubicBezTo>
                    <a:cubicBezTo>
                      <a:pt x="95" y="138"/>
                      <a:pt x="95" y="138"/>
                      <a:pt x="95" y="138"/>
                    </a:cubicBezTo>
                    <a:cubicBezTo>
                      <a:pt x="106" y="173"/>
                      <a:pt x="106" y="173"/>
                      <a:pt x="106" y="173"/>
                    </a:cubicBezTo>
                    <a:cubicBezTo>
                      <a:pt x="116" y="138"/>
                      <a:pt x="116" y="138"/>
                      <a:pt x="116" y="138"/>
                    </a:cubicBezTo>
                    <a:cubicBezTo>
                      <a:pt x="151" y="22"/>
                      <a:pt x="151" y="22"/>
                      <a:pt x="151" y="22"/>
                    </a:cubicBezTo>
                    <a:cubicBezTo>
                      <a:pt x="125" y="19"/>
                      <a:pt x="125" y="19"/>
                      <a:pt x="125" y="19"/>
                    </a:cubicBezTo>
                    <a:cubicBezTo>
                      <a:pt x="125" y="0"/>
                      <a:pt x="125" y="0"/>
                      <a:pt x="125" y="0"/>
                    </a:cubicBezTo>
                    <a:cubicBezTo>
                      <a:pt x="199" y="0"/>
                      <a:pt x="199" y="0"/>
                      <a:pt x="199" y="0"/>
                    </a:cubicBezTo>
                    <a:cubicBezTo>
                      <a:pt x="199" y="19"/>
                      <a:pt x="199" y="19"/>
                      <a:pt x="199" y="19"/>
                    </a:cubicBezTo>
                    <a:cubicBezTo>
                      <a:pt x="180" y="21"/>
                      <a:pt x="180" y="21"/>
                      <a:pt x="180" y="21"/>
                    </a:cubicBezTo>
                    <a:cubicBezTo>
                      <a:pt x="172" y="44"/>
                      <a:pt x="165" y="63"/>
                      <a:pt x="159" y="80"/>
                    </a:cubicBezTo>
                    <a:cubicBezTo>
                      <a:pt x="154" y="97"/>
                      <a:pt x="149" y="112"/>
                      <a:pt x="144" y="124"/>
                    </a:cubicBezTo>
                    <a:cubicBezTo>
                      <a:pt x="140" y="136"/>
                      <a:pt x="136" y="147"/>
                      <a:pt x="133" y="156"/>
                    </a:cubicBezTo>
                    <a:cubicBezTo>
                      <a:pt x="130" y="164"/>
                      <a:pt x="128" y="171"/>
                      <a:pt x="126" y="177"/>
                    </a:cubicBezTo>
                    <a:cubicBezTo>
                      <a:pt x="124" y="183"/>
                      <a:pt x="122" y="187"/>
                      <a:pt x="121" y="191"/>
                    </a:cubicBezTo>
                    <a:cubicBezTo>
                      <a:pt x="119" y="195"/>
                      <a:pt x="118" y="197"/>
                      <a:pt x="117" y="200"/>
                    </a:cubicBezTo>
                    <a:cubicBezTo>
                      <a:pt x="113" y="211"/>
                      <a:pt x="108" y="222"/>
                      <a:pt x="104" y="231"/>
                    </a:cubicBezTo>
                    <a:cubicBezTo>
                      <a:pt x="99" y="240"/>
                      <a:pt x="94" y="248"/>
                      <a:pt x="89" y="255"/>
                    </a:cubicBezTo>
                    <a:cubicBezTo>
                      <a:pt x="84" y="261"/>
                      <a:pt x="79" y="267"/>
                      <a:pt x="73" y="271"/>
                    </a:cubicBezTo>
                    <a:cubicBezTo>
                      <a:pt x="67" y="275"/>
                      <a:pt x="61" y="278"/>
                      <a:pt x="54" y="280"/>
                    </a:cubicBezTo>
                    <a:cubicBezTo>
                      <a:pt x="49" y="281"/>
                      <a:pt x="44" y="282"/>
                      <a:pt x="39" y="282"/>
                    </a:cubicBezTo>
                    <a:cubicBezTo>
                      <a:pt x="37" y="282"/>
                      <a:pt x="36" y="282"/>
                      <a:pt x="35" y="282"/>
                    </a:cubicBezTo>
                    <a:cubicBezTo>
                      <a:pt x="33" y="282"/>
                      <a:pt x="32" y="281"/>
                      <a:pt x="31" y="281"/>
                    </a:cubicBezTo>
                    <a:cubicBezTo>
                      <a:pt x="29" y="281"/>
                      <a:pt x="28" y="281"/>
                      <a:pt x="27" y="280"/>
                    </a:cubicBezTo>
                    <a:cubicBezTo>
                      <a:pt x="26" y="280"/>
                      <a:pt x="25" y="280"/>
                      <a:pt x="25" y="279"/>
                    </a:cubicBezTo>
                    <a:lnTo>
                      <a:pt x="25" y="2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FD727287-C9FF-49F5-8048-FECAA50EFFFC}"/>
                  </a:ext>
                </a:extLst>
              </p:cNvPr>
              <p:cNvSpPr>
                <a:spLocks/>
              </p:cNvSpPr>
              <p:nvPr/>
            </p:nvSpPr>
            <p:spPr bwMode="auto">
              <a:xfrm>
                <a:off x="5312" y="1007"/>
                <a:ext cx="69" cy="207"/>
              </a:xfrm>
              <a:custGeom>
                <a:avLst/>
                <a:gdLst>
                  <a:gd name="T0" fmla="*/ 0 w 69"/>
                  <a:gd name="T1" fmla="*/ 197 h 207"/>
                  <a:gd name="T2" fmla="*/ 22 w 69"/>
                  <a:gd name="T3" fmla="*/ 194 h 207"/>
                  <a:gd name="T4" fmla="*/ 22 w 69"/>
                  <a:gd name="T5" fmla="*/ 22 h 207"/>
                  <a:gd name="T6" fmla="*/ 1 w 69"/>
                  <a:gd name="T7" fmla="*/ 17 h 207"/>
                  <a:gd name="T8" fmla="*/ 1 w 69"/>
                  <a:gd name="T9" fmla="*/ 5 h 207"/>
                  <a:gd name="T10" fmla="*/ 41 w 69"/>
                  <a:gd name="T11" fmla="*/ 0 h 207"/>
                  <a:gd name="T12" fmla="*/ 46 w 69"/>
                  <a:gd name="T13" fmla="*/ 3 h 207"/>
                  <a:gd name="T14" fmla="*/ 46 w 69"/>
                  <a:gd name="T15" fmla="*/ 194 h 207"/>
                  <a:gd name="T16" fmla="*/ 69 w 69"/>
                  <a:gd name="T17" fmla="*/ 197 h 207"/>
                  <a:gd name="T18" fmla="*/ 69 w 69"/>
                  <a:gd name="T19" fmla="*/ 207 h 207"/>
                  <a:gd name="T20" fmla="*/ 0 w 69"/>
                  <a:gd name="T21" fmla="*/ 207 h 207"/>
                  <a:gd name="T22" fmla="*/ 0 w 69"/>
                  <a:gd name="T23" fmla="*/ 19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9" h="207">
                    <a:moveTo>
                      <a:pt x="0" y="197"/>
                    </a:moveTo>
                    <a:lnTo>
                      <a:pt x="22" y="194"/>
                    </a:lnTo>
                    <a:lnTo>
                      <a:pt x="22" y="22"/>
                    </a:lnTo>
                    <a:lnTo>
                      <a:pt x="1" y="17"/>
                    </a:lnTo>
                    <a:lnTo>
                      <a:pt x="1" y="5"/>
                    </a:lnTo>
                    <a:lnTo>
                      <a:pt x="41" y="0"/>
                    </a:lnTo>
                    <a:lnTo>
                      <a:pt x="46" y="3"/>
                    </a:lnTo>
                    <a:lnTo>
                      <a:pt x="46" y="194"/>
                    </a:lnTo>
                    <a:lnTo>
                      <a:pt x="69" y="197"/>
                    </a:lnTo>
                    <a:lnTo>
                      <a:pt x="69" y="207"/>
                    </a:lnTo>
                    <a:lnTo>
                      <a:pt x="0" y="207"/>
                    </a:lnTo>
                    <a:lnTo>
                      <a:pt x="0" y="1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45BAB9F8-3FA1-4FBD-878A-A0528C2607C8}"/>
                  </a:ext>
                </a:extLst>
              </p:cNvPr>
              <p:cNvSpPr>
                <a:spLocks noEditPoints="1"/>
              </p:cNvSpPr>
              <p:nvPr/>
            </p:nvSpPr>
            <p:spPr bwMode="auto">
              <a:xfrm>
                <a:off x="5381" y="1069"/>
                <a:ext cx="123" cy="148"/>
              </a:xfrm>
              <a:custGeom>
                <a:avLst/>
                <a:gdLst>
                  <a:gd name="T0" fmla="*/ 1 w 167"/>
                  <a:gd name="T1" fmla="*/ 141 h 200"/>
                  <a:gd name="T2" fmla="*/ 8 w 167"/>
                  <a:gd name="T3" fmla="*/ 120 h 200"/>
                  <a:gd name="T4" fmla="*/ 24 w 167"/>
                  <a:gd name="T5" fmla="*/ 104 h 200"/>
                  <a:gd name="T6" fmla="*/ 46 w 167"/>
                  <a:gd name="T7" fmla="*/ 93 h 200"/>
                  <a:gd name="T8" fmla="*/ 70 w 167"/>
                  <a:gd name="T9" fmla="*/ 86 h 200"/>
                  <a:gd name="T10" fmla="*/ 93 w 167"/>
                  <a:gd name="T11" fmla="*/ 83 h 200"/>
                  <a:gd name="T12" fmla="*/ 112 w 167"/>
                  <a:gd name="T13" fmla="*/ 82 h 200"/>
                  <a:gd name="T14" fmla="*/ 112 w 167"/>
                  <a:gd name="T15" fmla="*/ 67 h 200"/>
                  <a:gd name="T16" fmla="*/ 108 w 167"/>
                  <a:gd name="T17" fmla="*/ 44 h 200"/>
                  <a:gd name="T18" fmla="*/ 98 w 167"/>
                  <a:gd name="T19" fmla="*/ 31 h 200"/>
                  <a:gd name="T20" fmla="*/ 83 w 167"/>
                  <a:gd name="T21" fmla="*/ 25 h 200"/>
                  <a:gd name="T22" fmla="*/ 64 w 167"/>
                  <a:gd name="T23" fmla="*/ 23 h 200"/>
                  <a:gd name="T24" fmla="*/ 53 w 167"/>
                  <a:gd name="T25" fmla="*/ 24 h 200"/>
                  <a:gd name="T26" fmla="*/ 40 w 167"/>
                  <a:gd name="T27" fmla="*/ 26 h 200"/>
                  <a:gd name="T28" fmla="*/ 27 w 167"/>
                  <a:gd name="T29" fmla="*/ 31 h 200"/>
                  <a:gd name="T30" fmla="*/ 14 w 167"/>
                  <a:gd name="T31" fmla="*/ 36 h 200"/>
                  <a:gd name="T32" fmla="*/ 8 w 167"/>
                  <a:gd name="T33" fmla="*/ 20 h 200"/>
                  <a:gd name="T34" fmla="*/ 24 w 167"/>
                  <a:gd name="T35" fmla="*/ 11 h 200"/>
                  <a:gd name="T36" fmla="*/ 43 w 167"/>
                  <a:gd name="T37" fmla="*/ 5 h 200"/>
                  <a:gd name="T38" fmla="*/ 61 w 167"/>
                  <a:gd name="T39" fmla="*/ 1 h 200"/>
                  <a:gd name="T40" fmla="*/ 77 w 167"/>
                  <a:gd name="T41" fmla="*/ 0 h 200"/>
                  <a:gd name="T42" fmla="*/ 103 w 167"/>
                  <a:gd name="T43" fmla="*/ 3 h 200"/>
                  <a:gd name="T44" fmla="*/ 125 w 167"/>
                  <a:gd name="T45" fmla="*/ 13 h 200"/>
                  <a:gd name="T46" fmla="*/ 139 w 167"/>
                  <a:gd name="T47" fmla="*/ 32 h 200"/>
                  <a:gd name="T48" fmla="*/ 145 w 167"/>
                  <a:gd name="T49" fmla="*/ 63 h 200"/>
                  <a:gd name="T50" fmla="*/ 145 w 167"/>
                  <a:gd name="T51" fmla="*/ 182 h 200"/>
                  <a:gd name="T52" fmla="*/ 167 w 167"/>
                  <a:gd name="T53" fmla="*/ 182 h 200"/>
                  <a:gd name="T54" fmla="*/ 167 w 167"/>
                  <a:gd name="T55" fmla="*/ 193 h 200"/>
                  <a:gd name="T56" fmla="*/ 152 w 167"/>
                  <a:gd name="T57" fmla="*/ 198 h 200"/>
                  <a:gd name="T58" fmla="*/ 134 w 167"/>
                  <a:gd name="T59" fmla="*/ 200 h 200"/>
                  <a:gd name="T60" fmla="*/ 127 w 167"/>
                  <a:gd name="T61" fmla="*/ 200 h 200"/>
                  <a:gd name="T62" fmla="*/ 121 w 167"/>
                  <a:gd name="T63" fmla="*/ 198 h 200"/>
                  <a:gd name="T64" fmla="*/ 116 w 167"/>
                  <a:gd name="T65" fmla="*/ 192 h 200"/>
                  <a:gd name="T66" fmla="*/ 114 w 167"/>
                  <a:gd name="T67" fmla="*/ 182 h 200"/>
                  <a:gd name="T68" fmla="*/ 114 w 167"/>
                  <a:gd name="T69" fmla="*/ 178 h 200"/>
                  <a:gd name="T70" fmla="*/ 104 w 167"/>
                  <a:gd name="T71" fmla="*/ 187 h 200"/>
                  <a:gd name="T72" fmla="*/ 92 w 167"/>
                  <a:gd name="T73" fmla="*/ 194 h 200"/>
                  <a:gd name="T74" fmla="*/ 76 w 167"/>
                  <a:gd name="T75" fmla="*/ 199 h 200"/>
                  <a:gd name="T76" fmla="*/ 56 w 167"/>
                  <a:gd name="T77" fmla="*/ 200 h 200"/>
                  <a:gd name="T78" fmla="*/ 32 w 167"/>
                  <a:gd name="T79" fmla="*/ 195 h 200"/>
                  <a:gd name="T80" fmla="*/ 14 w 167"/>
                  <a:gd name="T81" fmla="*/ 182 h 200"/>
                  <a:gd name="T82" fmla="*/ 3 w 167"/>
                  <a:gd name="T83" fmla="*/ 164 h 200"/>
                  <a:gd name="T84" fmla="*/ 1 w 167"/>
                  <a:gd name="T85" fmla="*/ 141 h 200"/>
                  <a:gd name="T86" fmla="*/ 34 w 167"/>
                  <a:gd name="T87" fmla="*/ 141 h 200"/>
                  <a:gd name="T88" fmla="*/ 37 w 167"/>
                  <a:gd name="T89" fmla="*/ 159 h 200"/>
                  <a:gd name="T90" fmla="*/ 45 w 167"/>
                  <a:gd name="T91" fmla="*/ 170 h 200"/>
                  <a:gd name="T92" fmla="*/ 58 w 167"/>
                  <a:gd name="T93" fmla="*/ 176 h 200"/>
                  <a:gd name="T94" fmla="*/ 75 w 167"/>
                  <a:gd name="T95" fmla="*/ 178 h 200"/>
                  <a:gd name="T96" fmla="*/ 85 w 167"/>
                  <a:gd name="T97" fmla="*/ 177 h 200"/>
                  <a:gd name="T98" fmla="*/ 95 w 167"/>
                  <a:gd name="T99" fmla="*/ 174 h 200"/>
                  <a:gd name="T100" fmla="*/ 105 w 167"/>
                  <a:gd name="T101" fmla="*/ 169 h 200"/>
                  <a:gd name="T102" fmla="*/ 111 w 167"/>
                  <a:gd name="T103" fmla="*/ 164 h 200"/>
                  <a:gd name="T104" fmla="*/ 111 w 167"/>
                  <a:gd name="T105" fmla="*/ 131 h 200"/>
                  <a:gd name="T106" fmla="*/ 112 w 167"/>
                  <a:gd name="T107" fmla="*/ 99 h 200"/>
                  <a:gd name="T108" fmla="*/ 96 w 167"/>
                  <a:gd name="T109" fmla="*/ 100 h 200"/>
                  <a:gd name="T110" fmla="*/ 79 w 167"/>
                  <a:gd name="T111" fmla="*/ 103 h 200"/>
                  <a:gd name="T112" fmla="*/ 62 w 167"/>
                  <a:gd name="T113" fmla="*/ 108 h 200"/>
                  <a:gd name="T114" fmla="*/ 48 w 167"/>
                  <a:gd name="T115" fmla="*/ 116 h 200"/>
                  <a:gd name="T116" fmla="*/ 38 w 167"/>
                  <a:gd name="T117" fmla="*/ 127 h 200"/>
                  <a:gd name="T118" fmla="*/ 34 w 167"/>
                  <a:gd name="T119" fmla="*/ 141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7" h="200">
                    <a:moveTo>
                      <a:pt x="1" y="141"/>
                    </a:moveTo>
                    <a:cubicBezTo>
                      <a:pt x="1" y="133"/>
                      <a:pt x="4" y="126"/>
                      <a:pt x="8" y="120"/>
                    </a:cubicBezTo>
                    <a:cubicBezTo>
                      <a:pt x="13" y="114"/>
                      <a:pt x="18" y="108"/>
                      <a:pt x="24" y="104"/>
                    </a:cubicBezTo>
                    <a:cubicBezTo>
                      <a:pt x="31" y="100"/>
                      <a:pt x="38" y="96"/>
                      <a:pt x="46" y="93"/>
                    </a:cubicBezTo>
                    <a:cubicBezTo>
                      <a:pt x="54" y="90"/>
                      <a:pt x="62" y="88"/>
                      <a:pt x="70" y="86"/>
                    </a:cubicBezTo>
                    <a:cubicBezTo>
                      <a:pt x="78" y="85"/>
                      <a:pt x="85" y="83"/>
                      <a:pt x="93" y="83"/>
                    </a:cubicBezTo>
                    <a:cubicBezTo>
                      <a:pt x="100" y="82"/>
                      <a:pt x="106" y="82"/>
                      <a:pt x="112" y="82"/>
                    </a:cubicBezTo>
                    <a:cubicBezTo>
                      <a:pt x="112" y="67"/>
                      <a:pt x="112" y="67"/>
                      <a:pt x="112" y="67"/>
                    </a:cubicBezTo>
                    <a:cubicBezTo>
                      <a:pt x="112" y="58"/>
                      <a:pt x="110" y="50"/>
                      <a:pt x="108" y="44"/>
                    </a:cubicBezTo>
                    <a:cubicBezTo>
                      <a:pt x="106" y="39"/>
                      <a:pt x="102" y="34"/>
                      <a:pt x="98" y="31"/>
                    </a:cubicBezTo>
                    <a:cubicBezTo>
                      <a:pt x="94" y="28"/>
                      <a:pt x="89" y="26"/>
                      <a:pt x="83" y="25"/>
                    </a:cubicBezTo>
                    <a:cubicBezTo>
                      <a:pt x="77" y="23"/>
                      <a:pt x="71" y="23"/>
                      <a:pt x="64" y="23"/>
                    </a:cubicBezTo>
                    <a:cubicBezTo>
                      <a:pt x="61" y="23"/>
                      <a:pt x="57" y="23"/>
                      <a:pt x="53" y="24"/>
                    </a:cubicBezTo>
                    <a:cubicBezTo>
                      <a:pt x="49" y="24"/>
                      <a:pt x="45" y="25"/>
                      <a:pt x="40" y="26"/>
                    </a:cubicBezTo>
                    <a:cubicBezTo>
                      <a:pt x="36" y="28"/>
                      <a:pt x="32" y="29"/>
                      <a:pt x="27" y="31"/>
                    </a:cubicBezTo>
                    <a:cubicBezTo>
                      <a:pt x="23" y="32"/>
                      <a:pt x="18" y="34"/>
                      <a:pt x="14" y="36"/>
                    </a:cubicBezTo>
                    <a:cubicBezTo>
                      <a:pt x="8" y="20"/>
                      <a:pt x="8" y="20"/>
                      <a:pt x="8" y="20"/>
                    </a:cubicBezTo>
                    <a:cubicBezTo>
                      <a:pt x="12" y="17"/>
                      <a:pt x="17" y="14"/>
                      <a:pt x="24" y="11"/>
                    </a:cubicBezTo>
                    <a:cubicBezTo>
                      <a:pt x="30" y="9"/>
                      <a:pt x="36" y="7"/>
                      <a:pt x="43" y="5"/>
                    </a:cubicBezTo>
                    <a:cubicBezTo>
                      <a:pt x="49" y="3"/>
                      <a:pt x="55" y="2"/>
                      <a:pt x="61" y="1"/>
                    </a:cubicBezTo>
                    <a:cubicBezTo>
                      <a:pt x="68" y="0"/>
                      <a:pt x="73" y="0"/>
                      <a:pt x="77" y="0"/>
                    </a:cubicBezTo>
                    <a:cubicBezTo>
                      <a:pt x="86" y="0"/>
                      <a:pt x="95" y="1"/>
                      <a:pt x="103" y="3"/>
                    </a:cubicBezTo>
                    <a:cubicBezTo>
                      <a:pt x="111" y="5"/>
                      <a:pt x="119" y="8"/>
                      <a:pt x="125" y="13"/>
                    </a:cubicBezTo>
                    <a:cubicBezTo>
                      <a:pt x="131" y="18"/>
                      <a:pt x="136" y="24"/>
                      <a:pt x="139" y="32"/>
                    </a:cubicBezTo>
                    <a:cubicBezTo>
                      <a:pt x="143" y="40"/>
                      <a:pt x="145" y="50"/>
                      <a:pt x="145" y="63"/>
                    </a:cubicBezTo>
                    <a:cubicBezTo>
                      <a:pt x="145" y="182"/>
                      <a:pt x="145" y="182"/>
                      <a:pt x="145" y="182"/>
                    </a:cubicBezTo>
                    <a:cubicBezTo>
                      <a:pt x="167" y="182"/>
                      <a:pt x="167" y="182"/>
                      <a:pt x="167" y="182"/>
                    </a:cubicBezTo>
                    <a:cubicBezTo>
                      <a:pt x="167" y="193"/>
                      <a:pt x="167" y="193"/>
                      <a:pt x="167" y="193"/>
                    </a:cubicBezTo>
                    <a:cubicBezTo>
                      <a:pt x="163" y="195"/>
                      <a:pt x="158" y="197"/>
                      <a:pt x="152" y="198"/>
                    </a:cubicBezTo>
                    <a:cubicBezTo>
                      <a:pt x="146" y="200"/>
                      <a:pt x="140" y="200"/>
                      <a:pt x="134" y="200"/>
                    </a:cubicBezTo>
                    <a:cubicBezTo>
                      <a:pt x="132" y="200"/>
                      <a:pt x="130" y="200"/>
                      <a:pt x="127" y="200"/>
                    </a:cubicBezTo>
                    <a:cubicBezTo>
                      <a:pt x="125" y="200"/>
                      <a:pt x="123" y="199"/>
                      <a:pt x="121" y="198"/>
                    </a:cubicBezTo>
                    <a:cubicBezTo>
                      <a:pt x="119" y="197"/>
                      <a:pt x="117" y="195"/>
                      <a:pt x="116" y="192"/>
                    </a:cubicBezTo>
                    <a:cubicBezTo>
                      <a:pt x="114" y="190"/>
                      <a:pt x="114" y="187"/>
                      <a:pt x="114" y="182"/>
                    </a:cubicBezTo>
                    <a:cubicBezTo>
                      <a:pt x="114" y="178"/>
                      <a:pt x="114" y="178"/>
                      <a:pt x="114" y="178"/>
                    </a:cubicBezTo>
                    <a:cubicBezTo>
                      <a:pt x="111" y="181"/>
                      <a:pt x="108" y="184"/>
                      <a:pt x="104" y="187"/>
                    </a:cubicBezTo>
                    <a:cubicBezTo>
                      <a:pt x="101" y="189"/>
                      <a:pt x="96" y="192"/>
                      <a:pt x="92" y="194"/>
                    </a:cubicBezTo>
                    <a:cubicBezTo>
                      <a:pt x="87" y="196"/>
                      <a:pt x="82" y="197"/>
                      <a:pt x="76" y="199"/>
                    </a:cubicBezTo>
                    <a:cubicBezTo>
                      <a:pt x="70" y="200"/>
                      <a:pt x="63" y="200"/>
                      <a:pt x="56" y="200"/>
                    </a:cubicBezTo>
                    <a:cubicBezTo>
                      <a:pt x="47" y="200"/>
                      <a:pt x="39" y="199"/>
                      <a:pt x="32" y="195"/>
                    </a:cubicBezTo>
                    <a:cubicBezTo>
                      <a:pt x="25" y="192"/>
                      <a:pt x="18" y="188"/>
                      <a:pt x="14" y="182"/>
                    </a:cubicBezTo>
                    <a:cubicBezTo>
                      <a:pt x="9" y="177"/>
                      <a:pt x="5" y="171"/>
                      <a:pt x="3" y="164"/>
                    </a:cubicBezTo>
                    <a:cubicBezTo>
                      <a:pt x="0" y="156"/>
                      <a:pt x="0" y="149"/>
                      <a:pt x="1" y="141"/>
                    </a:cubicBezTo>
                    <a:close/>
                    <a:moveTo>
                      <a:pt x="34" y="141"/>
                    </a:moveTo>
                    <a:cubicBezTo>
                      <a:pt x="34" y="148"/>
                      <a:pt x="35" y="154"/>
                      <a:pt x="37" y="159"/>
                    </a:cubicBezTo>
                    <a:cubicBezTo>
                      <a:pt x="39" y="163"/>
                      <a:pt x="41" y="167"/>
                      <a:pt x="45" y="170"/>
                    </a:cubicBezTo>
                    <a:cubicBezTo>
                      <a:pt x="48" y="173"/>
                      <a:pt x="53" y="175"/>
                      <a:pt x="58" y="176"/>
                    </a:cubicBezTo>
                    <a:cubicBezTo>
                      <a:pt x="63" y="178"/>
                      <a:pt x="68" y="178"/>
                      <a:pt x="75" y="178"/>
                    </a:cubicBezTo>
                    <a:cubicBezTo>
                      <a:pt x="78" y="178"/>
                      <a:pt x="82" y="178"/>
                      <a:pt x="85" y="177"/>
                    </a:cubicBezTo>
                    <a:cubicBezTo>
                      <a:pt x="89" y="176"/>
                      <a:pt x="92" y="175"/>
                      <a:pt x="95" y="174"/>
                    </a:cubicBezTo>
                    <a:cubicBezTo>
                      <a:pt x="99" y="172"/>
                      <a:pt x="102" y="171"/>
                      <a:pt x="105" y="169"/>
                    </a:cubicBezTo>
                    <a:cubicBezTo>
                      <a:pt x="107" y="167"/>
                      <a:pt x="110" y="165"/>
                      <a:pt x="111" y="164"/>
                    </a:cubicBezTo>
                    <a:cubicBezTo>
                      <a:pt x="111" y="153"/>
                      <a:pt x="111" y="142"/>
                      <a:pt x="111" y="131"/>
                    </a:cubicBezTo>
                    <a:cubicBezTo>
                      <a:pt x="111" y="121"/>
                      <a:pt x="112" y="110"/>
                      <a:pt x="112" y="99"/>
                    </a:cubicBezTo>
                    <a:cubicBezTo>
                      <a:pt x="107" y="99"/>
                      <a:pt x="102" y="100"/>
                      <a:pt x="96" y="100"/>
                    </a:cubicBezTo>
                    <a:cubicBezTo>
                      <a:pt x="90" y="101"/>
                      <a:pt x="84" y="102"/>
                      <a:pt x="79" y="103"/>
                    </a:cubicBezTo>
                    <a:cubicBezTo>
                      <a:pt x="73" y="104"/>
                      <a:pt x="67" y="106"/>
                      <a:pt x="62" y="108"/>
                    </a:cubicBezTo>
                    <a:cubicBezTo>
                      <a:pt x="56" y="110"/>
                      <a:pt x="52" y="112"/>
                      <a:pt x="48" y="116"/>
                    </a:cubicBezTo>
                    <a:cubicBezTo>
                      <a:pt x="43" y="119"/>
                      <a:pt x="40" y="122"/>
                      <a:pt x="38" y="127"/>
                    </a:cubicBezTo>
                    <a:cubicBezTo>
                      <a:pt x="35" y="131"/>
                      <a:pt x="34" y="136"/>
                      <a:pt x="34" y="1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A26113FF-8A8B-473D-8F68-30656EAEABDB}"/>
                  </a:ext>
                </a:extLst>
              </p:cNvPr>
              <p:cNvSpPr>
                <a:spLocks/>
              </p:cNvSpPr>
              <p:nvPr/>
            </p:nvSpPr>
            <p:spPr bwMode="auto">
              <a:xfrm>
                <a:off x="5508" y="1069"/>
                <a:ext cx="152" cy="145"/>
              </a:xfrm>
              <a:custGeom>
                <a:avLst/>
                <a:gdLst>
                  <a:gd name="T0" fmla="*/ 1 w 207"/>
                  <a:gd name="T1" fmla="*/ 182 h 196"/>
                  <a:gd name="T2" fmla="*/ 24 w 207"/>
                  <a:gd name="T3" fmla="*/ 178 h 196"/>
                  <a:gd name="T4" fmla="*/ 24 w 207"/>
                  <a:gd name="T5" fmla="*/ 38 h 196"/>
                  <a:gd name="T6" fmla="*/ 0 w 207"/>
                  <a:gd name="T7" fmla="*/ 24 h 196"/>
                  <a:gd name="T8" fmla="*/ 0 w 207"/>
                  <a:gd name="T9" fmla="*/ 14 h 196"/>
                  <a:gd name="T10" fmla="*/ 45 w 207"/>
                  <a:gd name="T11" fmla="*/ 0 h 196"/>
                  <a:gd name="T12" fmla="*/ 53 w 207"/>
                  <a:gd name="T13" fmla="*/ 3 h 196"/>
                  <a:gd name="T14" fmla="*/ 53 w 207"/>
                  <a:gd name="T15" fmla="*/ 28 h 196"/>
                  <a:gd name="T16" fmla="*/ 67 w 207"/>
                  <a:gd name="T17" fmla="*/ 18 h 196"/>
                  <a:gd name="T18" fmla="*/ 85 w 207"/>
                  <a:gd name="T19" fmla="*/ 9 h 196"/>
                  <a:gd name="T20" fmla="*/ 104 w 207"/>
                  <a:gd name="T21" fmla="*/ 3 h 196"/>
                  <a:gd name="T22" fmla="*/ 123 w 207"/>
                  <a:gd name="T23" fmla="*/ 0 h 196"/>
                  <a:gd name="T24" fmla="*/ 149 w 207"/>
                  <a:gd name="T25" fmla="*/ 4 h 196"/>
                  <a:gd name="T26" fmla="*/ 167 w 207"/>
                  <a:gd name="T27" fmla="*/ 18 h 196"/>
                  <a:gd name="T28" fmla="*/ 177 w 207"/>
                  <a:gd name="T29" fmla="*/ 44 h 196"/>
                  <a:gd name="T30" fmla="*/ 180 w 207"/>
                  <a:gd name="T31" fmla="*/ 81 h 196"/>
                  <a:gd name="T32" fmla="*/ 180 w 207"/>
                  <a:gd name="T33" fmla="*/ 178 h 196"/>
                  <a:gd name="T34" fmla="*/ 207 w 207"/>
                  <a:gd name="T35" fmla="*/ 182 h 196"/>
                  <a:gd name="T36" fmla="*/ 207 w 207"/>
                  <a:gd name="T37" fmla="*/ 196 h 196"/>
                  <a:gd name="T38" fmla="*/ 121 w 207"/>
                  <a:gd name="T39" fmla="*/ 196 h 196"/>
                  <a:gd name="T40" fmla="*/ 121 w 207"/>
                  <a:gd name="T41" fmla="*/ 182 h 196"/>
                  <a:gd name="T42" fmla="*/ 147 w 207"/>
                  <a:gd name="T43" fmla="*/ 178 h 196"/>
                  <a:gd name="T44" fmla="*/ 147 w 207"/>
                  <a:gd name="T45" fmla="*/ 87 h 196"/>
                  <a:gd name="T46" fmla="*/ 145 w 207"/>
                  <a:gd name="T47" fmla="*/ 59 h 196"/>
                  <a:gd name="T48" fmla="*/ 139 w 207"/>
                  <a:gd name="T49" fmla="*/ 40 h 196"/>
                  <a:gd name="T50" fmla="*/ 126 w 207"/>
                  <a:gd name="T51" fmla="*/ 28 h 196"/>
                  <a:gd name="T52" fmla="*/ 105 w 207"/>
                  <a:gd name="T53" fmla="*/ 25 h 196"/>
                  <a:gd name="T54" fmla="*/ 82 w 207"/>
                  <a:gd name="T55" fmla="*/ 30 h 196"/>
                  <a:gd name="T56" fmla="*/ 57 w 207"/>
                  <a:gd name="T57" fmla="*/ 43 h 196"/>
                  <a:gd name="T58" fmla="*/ 57 w 207"/>
                  <a:gd name="T59" fmla="*/ 178 h 196"/>
                  <a:gd name="T60" fmla="*/ 83 w 207"/>
                  <a:gd name="T61" fmla="*/ 182 h 196"/>
                  <a:gd name="T62" fmla="*/ 83 w 207"/>
                  <a:gd name="T63" fmla="*/ 196 h 196"/>
                  <a:gd name="T64" fmla="*/ 1 w 207"/>
                  <a:gd name="T65" fmla="*/ 196 h 196"/>
                  <a:gd name="T66" fmla="*/ 1 w 207"/>
                  <a:gd name="T67" fmla="*/ 182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7" h="196">
                    <a:moveTo>
                      <a:pt x="1" y="182"/>
                    </a:moveTo>
                    <a:cubicBezTo>
                      <a:pt x="24" y="178"/>
                      <a:pt x="24" y="178"/>
                      <a:pt x="24" y="178"/>
                    </a:cubicBezTo>
                    <a:cubicBezTo>
                      <a:pt x="24" y="38"/>
                      <a:pt x="24" y="38"/>
                      <a:pt x="24" y="38"/>
                    </a:cubicBezTo>
                    <a:cubicBezTo>
                      <a:pt x="0" y="24"/>
                      <a:pt x="0" y="24"/>
                      <a:pt x="0" y="24"/>
                    </a:cubicBezTo>
                    <a:cubicBezTo>
                      <a:pt x="0" y="14"/>
                      <a:pt x="0" y="14"/>
                      <a:pt x="0" y="14"/>
                    </a:cubicBezTo>
                    <a:cubicBezTo>
                      <a:pt x="45" y="0"/>
                      <a:pt x="45" y="0"/>
                      <a:pt x="45" y="0"/>
                    </a:cubicBezTo>
                    <a:cubicBezTo>
                      <a:pt x="53" y="3"/>
                      <a:pt x="53" y="3"/>
                      <a:pt x="53" y="3"/>
                    </a:cubicBezTo>
                    <a:cubicBezTo>
                      <a:pt x="53" y="28"/>
                      <a:pt x="53" y="28"/>
                      <a:pt x="53" y="28"/>
                    </a:cubicBezTo>
                    <a:cubicBezTo>
                      <a:pt x="57" y="25"/>
                      <a:pt x="62" y="21"/>
                      <a:pt x="67" y="18"/>
                    </a:cubicBezTo>
                    <a:cubicBezTo>
                      <a:pt x="73" y="15"/>
                      <a:pt x="79" y="12"/>
                      <a:pt x="85" y="9"/>
                    </a:cubicBezTo>
                    <a:cubicBezTo>
                      <a:pt x="91" y="7"/>
                      <a:pt x="97" y="4"/>
                      <a:pt x="104" y="3"/>
                    </a:cubicBezTo>
                    <a:cubicBezTo>
                      <a:pt x="111" y="1"/>
                      <a:pt x="117" y="0"/>
                      <a:pt x="123" y="0"/>
                    </a:cubicBezTo>
                    <a:cubicBezTo>
                      <a:pt x="133" y="0"/>
                      <a:pt x="142" y="1"/>
                      <a:pt x="149" y="4"/>
                    </a:cubicBezTo>
                    <a:cubicBezTo>
                      <a:pt x="157" y="7"/>
                      <a:pt x="163" y="12"/>
                      <a:pt x="167" y="18"/>
                    </a:cubicBezTo>
                    <a:cubicBezTo>
                      <a:pt x="172" y="25"/>
                      <a:pt x="175" y="33"/>
                      <a:pt x="177" y="44"/>
                    </a:cubicBezTo>
                    <a:cubicBezTo>
                      <a:pt x="179" y="54"/>
                      <a:pt x="180" y="66"/>
                      <a:pt x="180" y="81"/>
                    </a:cubicBezTo>
                    <a:cubicBezTo>
                      <a:pt x="180" y="178"/>
                      <a:pt x="180" y="178"/>
                      <a:pt x="180" y="178"/>
                    </a:cubicBezTo>
                    <a:cubicBezTo>
                      <a:pt x="207" y="182"/>
                      <a:pt x="207" y="182"/>
                      <a:pt x="207" y="182"/>
                    </a:cubicBezTo>
                    <a:cubicBezTo>
                      <a:pt x="207" y="196"/>
                      <a:pt x="207" y="196"/>
                      <a:pt x="207" y="196"/>
                    </a:cubicBezTo>
                    <a:cubicBezTo>
                      <a:pt x="121" y="196"/>
                      <a:pt x="121" y="196"/>
                      <a:pt x="121" y="196"/>
                    </a:cubicBezTo>
                    <a:cubicBezTo>
                      <a:pt x="121" y="182"/>
                      <a:pt x="121" y="182"/>
                      <a:pt x="121" y="182"/>
                    </a:cubicBezTo>
                    <a:cubicBezTo>
                      <a:pt x="147" y="178"/>
                      <a:pt x="147" y="178"/>
                      <a:pt x="147" y="178"/>
                    </a:cubicBezTo>
                    <a:cubicBezTo>
                      <a:pt x="147" y="87"/>
                      <a:pt x="147" y="87"/>
                      <a:pt x="147" y="87"/>
                    </a:cubicBezTo>
                    <a:cubicBezTo>
                      <a:pt x="147" y="76"/>
                      <a:pt x="146" y="67"/>
                      <a:pt x="145" y="59"/>
                    </a:cubicBezTo>
                    <a:cubicBezTo>
                      <a:pt x="144" y="51"/>
                      <a:pt x="142" y="45"/>
                      <a:pt x="139" y="40"/>
                    </a:cubicBezTo>
                    <a:cubicBezTo>
                      <a:pt x="136" y="34"/>
                      <a:pt x="132" y="31"/>
                      <a:pt x="126" y="28"/>
                    </a:cubicBezTo>
                    <a:cubicBezTo>
                      <a:pt x="121" y="26"/>
                      <a:pt x="114" y="25"/>
                      <a:pt x="105" y="25"/>
                    </a:cubicBezTo>
                    <a:cubicBezTo>
                      <a:pt x="98" y="25"/>
                      <a:pt x="90" y="27"/>
                      <a:pt x="82" y="30"/>
                    </a:cubicBezTo>
                    <a:cubicBezTo>
                      <a:pt x="75" y="33"/>
                      <a:pt x="66" y="37"/>
                      <a:pt x="57" y="43"/>
                    </a:cubicBezTo>
                    <a:cubicBezTo>
                      <a:pt x="57" y="178"/>
                      <a:pt x="57" y="178"/>
                      <a:pt x="57" y="178"/>
                    </a:cubicBezTo>
                    <a:cubicBezTo>
                      <a:pt x="83" y="182"/>
                      <a:pt x="83" y="182"/>
                      <a:pt x="83" y="182"/>
                    </a:cubicBezTo>
                    <a:cubicBezTo>
                      <a:pt x="83" y="196"/>
                      <a:pt x="83" y="196"/>
                      <a:pt x="83" y="196"/>
                    </a:cubicBezTo>
                    <a:cubicBezTo>
                      <a:pt x="1" y="196"/>
                      <a:pt x="1" y="196"/>
                      <a:pt x="1" y="196"/>
                    </a:cubicBezTo>
                    <a:lnTo>
                      <a:pt x="1" y="1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0745DE31-2EA7-4FBB-A817-6C5F9741FB51}"/>
                  </a:ext>
                </a:extLst>
              </p:cNvPr>
              <p:cNvSpPr>
                <a:spLocks noEditPoints="1"/>
              </p:cNvSpPr>
              <p:nvPr/>
            </p:nvSpPr>
            <p:spPr bwMode="auto">
              <a:xfrm>
                <a:off x="5654" y="1007"/>
                <a:ext cx="139" cy="212"/>
              </a:xfrm>
              <a:custGeom>
                <a:avLst/>
                <a:gdLst>
                  <a:gd name="T0" fmla="*/ 76 w 189"/>
                  <a:gd name="T1" fmla="*/ 284 h 286"/>
                  <a:gd name="T2" fmla="*/ 47 w 189"/>
                  <a:gd name="T3" fmla="*/ 279 h 286"/>
                  <a:gd name="T4" fmla="*/ 23 w 189"/>
                  <a:gd name="T5" fmla="*/ 261 h 286"/>
                  <a:gd name="T6" fmla="*/ 7 w 189"/>
                  <a:gd name="T7" fmla="*/ 230 h 286"/>
                  <a:gd name="T8" fmla="*/ 0 w 189"/>
                  <a:gd name="T9" fmla="*/ 187 h 286"/>
                  <a:gd name="T10" fmla="*/ 8 w 189"/>
                  <a:gd name="T11" fmla="*/ 144 h 286"/>
                  <a:gd name="T12" fmla="*/ 29 w 189"/>
                  <a:gd name="T13" fmla="*/ 111 h 286"/>
                  <a:gd name="T14" fmla="*/ 61 w 189"/>
                  <a:gd name="T15" fmla="*/ 89 h 286"/>
                  <a:gd name="T16" fmla="*/ 100 w 189"/>
                  <a:gd name="T17" fmla="*/ 82 h 286"/>
                  <a:gd name="T18" fmla="*/ 118 w 189"/>
                  <a:gd name="T19" fmla="*/ 83 h 286"/>
                  <a:gd name="T20" fmla="*/ 132 w 189"/>
                  <a:gd name="T21" fmla="*/ 86 h 286"/>
                  <a:gd name="T22" fmla="*/ 132 w 189"/>
                  <a:gd name="T23" fmla="*/ 29 h 286"/>
                  <a:gd name="T24" fmla="*/ 96 w 189"/>
                  <a:gd name="T25" fmla="*/ 22 h 286"/>
                  <a:gd name="T26" fmla="*/ 96 w 189"/>
                  <a:gd name="T27" fmla="*/ 7 h 286"/>
                  <a:gd name="T28" fmla="*/ 158 w 189"/>
                  <a:gd name="T29" fmla="*/ 0 h 286"/>
                  <a:gd name="T30" fmla="*/ 165 w 189"/>
                  <a:gd name="T31" fmla="*/ 4 h 286"/>
                  <a:gd name="T32" fmla="*/ 165 w 189"/>
                  <a:gd name="T33" fmla="*/ 266 h 286"/>
                  <a:gd name="T34" fmla="*/ 189 w 189"/>
                  <a:gd name="T35" fmla="*/ 266 h 286"/>
                  <a:gd name="T36" fmla="*/ 189 w 189"/>
                  <a:gd name="T37" fmla="*/ 278 h 286"/>
                  <a:gd name="T38" fmla="*/ 181 w 189"/>
                  <a:gd name="T39" fmla="*/ 281 h 286"/>
                  <a:gd name="T40" fmla="*/ 172 w 189"/>
                  <a:gd name="T41" fmla="*/ 284 h 286"/>
                  <a:gd name="T42" fmla="*/ 162 w 189"/>
                  <a:gd name="T43" fmla="*/ 285 h 286"/>
                  <a:gd name="T44" fmla="*/ 153 w 189"/>
                  <a:gd name="T45" fmla="*/ 286 h 286"/>
                  <a:gd name="T46" fmla="*/ 146 w 189"/>
                  <a:gd name="T47" fmla="*/ 285 h 286"/>
                  <a:gd name="T48" fmla="*/ 140 w 189"/>
                  <a:gd name="T49" fmla="*/ 283 h 286"/>
                  <a:gd name="T50" fmla="*/ 135 w 189"/>
                  <a:gd name="T51" fmla="*/ 278 h 286"/>
                  <a:gd name="T52" fmla="*/ 134 w 189"/>
                  <a:gd name="T53" fmla="*/ 268 h 286"/>
                  <a:gd name="T54" fmla="*/ 134 w 189"/>
                  <a:gd name="T55" fmla="*/ 264 h 286"/>
                  <a:gd name="T56" fmla="*/ 126 w 189"/>
                  <a:gd name="T57" fmla="*/ 270 h 286"/>
                  <a:gd name="T58" fmla="*/ 114 w 189"/>
                  <a:gd name="T59" fmla="*/ 277 h 286"/>
                  <a:gd name="T60" fmla="*/ 97 w 189"/>
                  <a:gd name="T61" fmla="*/ 282 h 286"/>
                  <a:gd name="T62" fmla="*/ 76 w 189"/>
                  <a:gd name="T63" fmla="*/ 284 h 286"/>
                  <a:gd name="T64" fmla="*/ 89 w 189"/>
                  <a:gd name="T65" fmla="*/ 261 h 286"/>
                  <a:gd name="T66" fmla="*/ 99 w 189"/>
                  <a:gd name="T67" fmla="*/ 260 h 286"/>
                  <a:gd name="T68" fmla="*/ 108 w 189"/>
                  <a:gd name="T69" fmla="*/ 258 h 286"/>
                  <a:gd name="T70" fmla="*/ 122 w 189"/>
                  <a:gd name="T71" fmla="*/ 253 h 286"/>
                  <a:gd name="T72" fmla="*/ 132 w 189"/>
                  <a:gd name="T73" fmla="*/ 246 h 286"/>
                  <a:gd name="T74" fmla="*/ 132 w 189"/>
                  <a:gd name="T75" fmla="*/ 114 h 286"/>
                  <a:gd name="T76" fmla="*/ 128 w 189"/>
                  <a:gd name="T77" fmla="*/ 109 h 286"/>
                  <a:gd name="T78" fmla="*/ 121 w 189"/>
                  <a:gd name="T79" fmla="*/ 105 h 286"/>
                  <a:gd name="T80" fmla="*/ 110 w 189"/>
                  <a:gd name="T81" fmla="*/ 101 h 286"/>
                  <a:gd name="T82" fmla="*/ 96 w 189"/>
                  <a:gd name="T83" fmla="*/ 100 h 286"/>
                  <a:gd name="T84" fmla="*/ 82 w 189"/>
                  <a:gd name="T85" fmla="*/ 102 h 286"/>
                  <a:gd name="T86" fmla="*/ 68 w 189"/>
                  <a:gd name="T87" fmla="*/ 107 h 286"/>
                  <a:gd name="T88" fmla="*/ 55 w 189"/>
                  <a:gd name="T89" fmla="*/ 117 h 286"/>
                  <a:gd name="T90" fmla="*/ 44 w 189"/>
                  <a:gd name="T91" fmla="*/ 132 h 286"/>
                  <a:gd name="T92" fmla="*/ 36 w 189"/>
                  <a:gd name="T93" fmla="*/ 152 h 286"/>
                  <a:gd name="T94" fmla="*/ 33 w 189"/>
                  <a:gd name="T95" fmla="*/ 179 h 286"/>
                  <a:gd name="T96" fmla="*/ 37 w 189"/>
                  <a:gd name="T97" fmla="*/ 215 h 286"/>
                  <a:gd name="T98" fmla="*/ 50 w 189"/>
                  <a:gd name="T99" fmla="*/ 241 h 286"/>
                  <a:gd name="T100" fmla="*/ 68 w 189"/>
                  <a:gd name="T101" fmla="*/ 256 h 286"/>
                  <a:gd name="T102" fmla="*/ 89 w 189"/>
                  <a:gd name="T103" fmla="*/ 261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89" h="286">
                    <a:moveTo>
                      <a:pt x="76" y="284"/>
                    </a:moveTo>
                    <a:cubicBezTo>
                      <a:pt x="66" y="284"/>
                      <a:pt x="57" y="282"/>
                      <a:pt x="47" y="279"/>
                    </a:cubicBezTo>
                    <a:cubicBezTo>
                      <a:pt x="38" y="275"/>
                      <a:pt x="30" y="269"/>
                      <a:pt x="23" y="261"/>
                    </a:cubicBezTo>
                    <a:cubicBezTo>
                      <a:pt x="17" y="253"/>
                      <a:pt x="11" y="243"/>
                      <a:pt x="7" y="230"/>
                    </a:cubicBezTo>
                    <a:cubicBezTo>
                      <a:pt x="2" y="218"/>
                      <a:pt x="0" y="204"/>
                      <a:pt x="0" y="187"/>
                    </a:cubicBezTo>
                    <a:cubicBezTo>
                      <a:pt x="0" y="172"/>
                      <a:pt x="3" y="157"/>
                      <a:pt x="8" y="144"/>
                    </a:cubicBezTo>
                    <a:cubicBezTo>
                      <a:pt x="13" y="132"/>
                      <a:pt x="20" y="120"/>
                      <a:pt x="29" y="111"/>
                    </a:cubicBezTo>
                    <a:cubicBezTo>
                      <a:pt x="38" y="102"/>
                      <a:pt x="49" y="95"/>
                      <a:pt x="61" y="89"/>
                    </a:cubicBezTo>
                    <a:cubicBezTo>
                      <a:pt x="73" y="84"/>
                      <a:pt x="86" y="82"/>
                      <a:pt x="100" y="82"/>
                    </a:cubicBezTo>
                    <a:cubicBezTo>
                      <a:pt x="106" y="82"/>
                      <a:pt x="112" y="82"/>
                      <a:pt x="118" y="83"/>
                    </a:cubicBezTo>
                    <a:cubicBezTo>
                      <a:pt x="123" y="84"/>
                      <a:pt x="128" y="85"/>
                      <a:pt x="132" y="86"/>
                    </a:cubicBezTo>
                    <a:cubicBezTo>
                      <a:pt x="132" y="29"/>
                      <a:pt x="132" y="29"/>
                      <a:pt x="132" y="29"/>
                    </a:cubicBezTo>
                    <a:cubicBezTo>
                      <a:pt x="96" y="22"/>
                      <a:pt x="96" y="22"/>
                      <a:pt x="96" y="22"/>
                    </a:cubicBezTo>
                    <a:cubicBezTo>
                      <a:pt x="96" y="7"/>
                      <a:pt x="96" y="7"/>
                      <a:pt x="96" y="7"/>
                    </a:cubicBezTo>
                    <a:cubicBezTo>
                      <a:pt x="158" y="0"/>
                      <a:pt x="158" y="0"/>
                      <a:pt x="158" y="0"/>
                    </a:cubicBezTo>
                    <a:cubicBezTo>
                      <a:pt x="165" y="4"/>
                      <a:pt x="165" y="4"/>
                      <a:pt x="165" y="4"/>
                    </a:cubicBezTo>
                    <a:cubicBezTo>
                      <a:pt x="165" y="266"/>
                      <a:pt x="165" y="266"/>
                      <a:pt x="165" y="266"/>
                    </a:cubicBezTo>
                    <a:cubicBezTo>
                      <a:pt x="189" y="266"/>
                      <a:pt x="189" y="266"/>
                      <a:pt x="189" y="266"/>
                    </a:cubicBezTo>
                    <a:cubicBezTo>
                      <a:pt x="189" y="278"/>
                      <a:pt x="189" y="278"/>
                      <a:pt x="189" y="278"/>
                    </a:cubicBezTo>
                    <a:cubicBezTo>
                      <a:pt x="187" y="279"/>
                      <a:pt x="184" y="280"/>
                      <a:pt x="181" y="281"/>
                    </a:cubicBezTo>
                    <a:cubicBezTo>
                      <a:pt x="178" y="282"/>
                      <a:pt x="175" y="283"/>
                      <a:pt x="172" y="284"/>
                    </a:cubicBezTo>
                    <a:cubicBezTo>
                      <a:pt x="169" y="284"/>
                      <a:pt x="166" y="285"/>
                      <a:pt x="162" y="285"/>
                    </a:cubicBezTo>
                    <a:cubicBezTo>
                      <a:pt x="159" y="286"/>
                      <a:pt x="156" y="286"/>
                      <a:pt x="153" y="286"/>
                    </a:cubicBezTo>
                    <a:cubicBezTo>
                      <a:pt x="151" y="286"/>
                      <a:pt x="148" y="286"/>
                      <a:pt x="146" y="285"/>
                    </a:cubicBezTo>
                    <a:cubicBezTo>
                      <a:pt x="144" y="285"/>
                      <a:pt x="142" y="284"/>
                      <a:pt x="140" y="283"/>
                    </a:cubicBezTo>
                    <a:cubicBezTo>
                      <a:pt x="138" y="282"/>
                      <a:pt x="137" y="280"/>
                      <a:pt x="135" y="278"/>
                    </a:cubicBezTo>
                    <a:cubicBezTo>
                      <a:pt x="134" y="275"/>
                      <a:pt x="134" y="272"/>
                      <a:pt x="134" y="268"/>
                    </a:cubicBezTo>
                    <a:cubicBezTo>
                      <a:pt x="134" y="264"/>
                      <a:pt x="134" y="264"/>
                      <a:pt x="134" y="264"/>
                    </a:cubicBezTo>
                    <a:cubicBezTo>
                      <a:pt x="132" y="266"/>
                      <a:pt x="129" y="268"/>
                      <a:pt x="126" y="270"/>
                    </a:cubicBezTo>
                    <a:cubicBezTo>
                      <a:pt x="123" y="273"/>
                      <a:pt x="119" y="275"/>
                      <a:pt x="114" y="277"/>
                    </a:cubicBezTo>
                    <a:cubicBezTo>
                      <a:pt x="109" y="279"/>
                      <a:pt x="103" y="281"/>
                      <a:pt x="97" y="282"/>
                    </a:cubicBezTo>
                    <a:cubicBezTo>
                      <a:pt x="90" y="284"/>
                      <a:pt x="83" y="284"/>
                      <a:pt x="76" y="284"/>
                    </a:cubicBezTo>
                    <a:close/>
                    <a:moveTo>
                      <a:pt x="89" y="261"/>
                    </a:moveTo>
                    <a:cubicBezTo>
                      <a:pt x="93" y="261"/>
                      <a:pt x="96" y="260"/>
                      <a:pt x="99" y="260"/>
                    </a:cubicBezTo>
                    <a:cubicBezTo>
                      <a:pt x="102" y="260"/>
                      <a:pt x="105" y="259"/>
                      <a:pt x="108" y="258"/>
                    </a:cubicBezTo>
                    <a:cubicBezTo>
                      <a:pt x="114" y="257"/>
                      <a:pt x="118" y="255"/>
                      <a:pt x="122" y="253"/>
                    </a:cubicBezTo>
                    <a:cubicBezTo>
                      <a:pt x="126" y="251"/>
                      <a:pt x="130" y="248"/>
                      <a:pt x="132" y="246"/>
                    </a:cubicBezTo>
                    <a:cubicBezTo>
                      <a:pt x="132" y="114"/>
                      <a:pt x="132" y="114"/>
                      <a:pt x="132" y="114"/>
                    </a:cubicBezTo>
                    <a:cubicBezTo>
                      <a:pt x="131" y="112"/>
                      <a:pt x="130" y="111"/>
                      <a:pt x="128" y="109"/>
                    </a:cubicBezTo>
                    <a:cubicBezTo>
                      <a:pt x="126" y="107"/>
                      <a:pt x="124" y="106"/>
                      <a:pt x="121" y="105"/>
                    </a:cubicBezTo>
                    <a:cubicBezTo>
                      <a:pt x="118" y="103"/>
                      <a:pt x="114" y="102"/>
                      <a:pt x="110" y="101"/>
                    </a:cubicBezTo>
                    <a:cubicBezTo>
                      <a:pt x="106" y="100"/>
                      <a:pt x="101" y="100"/>
                      <a:pt x="96" y="100"/>
                    </a:cubicBezTo>
                    <a:cubicBezTo>
                      <a:pt x="91" y="100"/>
                      <a:pt x="87" y="101"/>
                      <a:pt x="82" y="102"/>
                    </a:cubicBezTo>
                    <a:cubicBezTo>
                      <a:pt x="77" y="103"/>
                      <a:pt x="73" y="104"/>
                      <a:pt x="68" y="107"/>
                    </a:cubicBezTo>
                    <a:cubicBezTo>
                      <a:pt x="64" y="110"/>
                      <a:pt x="59" y="113"/>
                      <a:pt x="55" y="117"/>
                    </a:cubicBezTo>
                    <a:cubicBezTo>
                      <a:pt x="51" y="121"/>
                      <a:pt x="47" y="126"/>
                      <a:pt x="44" y="132"/>
                    </a:cubicBezTo>
                    <a:cubicBezTo>
                      <a:pt x="41" y="137"/>
                      <a:pt x="38" y="144"/>
                      <a:pt x="36" y="152"/>
                    </a:cubicBezTo>
                    <a:cubicBezTo>
                      <a:pt x="34" y="160"/>
                      <a:pt x="33" y="169"/>
                      <a:pt x="33" y="179"/>
                    </a:cubicBezTo>
                    <a:cubicBezTo>
                      <a:pt x="33" y="193"/>
                      <a:pt x="34" y="205"/>
                      <a:pt x="37" y="215"/>
                    </a:cubicBezTo>
                    <a:cubicBezTo>
                      <a:pt x="41" y="226"/>
                      <a:pt x="45" y="234"/>
                      <a:pt x="50" y="241"/>
                    </a:cubicBezTo>
                    <a:cubicBezTo>
                      <a:pt x="55" y="248"/>
                      <a:pt x="61" y="253"/>
                      <a:pt x="68" y="256"/>
                    </a:cubicBezTo>
                    <a:cubicBezTo>
                      <a:pt x="75" y="259"/>
                      <a:pt x="82" y="261"/>
                      <a:pt x="89" y="2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03ABCE4C-8F3F-495D-81DE-0857738BB089}"/>
                  </a:ext>
                </a:extLst>
              </p:cNvPr>
              <p:cNvSpPr>
                <a:spLocks noEditPoints="1"/>
              </p:cNvSpPr>
              <p:nvPr/>
            </p:nvSpPr>
            <p:spPr bwMode="auto">
              <a:xfrm>
                <a:off x="5784" y="1008"/>
                <a:ext cx="31" cy="30"/>
              </a:xfrm>
              <a:custGeom>
                <a:avLst/>
                <a:gdLst>
                  <a:gd name="T0" fmla="*/ 21 w 42"/>
                  <a:gd name="T1" fmla="*/ 0 h 41"/>
                  <a:gd name="T2" fmla="*/ 42 w 42"/>
                  <a:gd name="T3" fmla="*/ 20 h 41"/>
                  <a:gd name="T4" fmla="*/ 21 w 42"/>
                  <a:gd name="T5" fmla="*/ 41 h 41"/>
                  <a:gd name="T6" fmla="*/ 0 w 42"/>
                  <a:gd name="T7" fmla="*/ 20 h 41"/>
                  <a:gd name="T8" fmla="*/ 21 w 42"/>
                  <a:gd name="T9" fmla="*/ 0 h 41"/>
                  <a:gd name="T10" fmla="*/ 21 w 42"/>
                  <a:gd name="T11" fmla="*/ 38 h 41"/>
                  <a:gd name="T12" fmla="*/ 38 w 42"/>
                  <a:gd name="T13" fmla="*/ 20 h 41"/>
                  <a:gd name="T14" fmla="*/ 21 w 42"/>
                  <a:gd name="T15" fmla="*/ 3 h 41"/>
                  <a:gd name="T16" fmla="*/ 4 w 42"/>
                  <a:gd name="T17" fmla="*/ 20 h 41"/>
                  <a:gd name="T18" fmla="*/ 21 w 42"/>
                  <a:gd name="T19" fmla="*/ 38 h 41"/>
                  <a:gd name="T20" fmla="*/ 13 w 42"/>
                  <a:gd name="T21" fmla="*/ 8 h 41"/>
                  <a:gd name="T22" fmla="*/ 22 w 42"/>
                  <a:gd name="T23" fmla="*/ 8 h 41"/>
                  <a:gd name="T24" fmla="*/ 31 w 42"/>
                  <a:gd name="T25" fmla="*/ 15 h 41"/>
                  <a:gd name="T26" fmla="*/ 24 w 42"/>
                  <a:gd name="T27" fmla="*/ 22 h 41"/>
                  <a:gd name="T28" fmla="*/ 31 w 42"/>
                  <a:gd name="T29" fmla="*/ 33 h 41"/>
                  <a:gd name="T30" fmla="*/ 27 w 42"/>
                  <a:gd name="T31" fmla="*/ 33 h 41"/>
                  <a:gd name="T32" fmla="*/ 21 w 42"/>
                  <a:gd name="T33" fmla="*/ 22 h 41"/>
                  <a:gd name="T34" fmla="*/ 17 w 42"/>
                  <a:gd name="T35" fmla="*/ 22 h 41"/>
                  <a:gd name="T36" fmla="*/ 17 w 42"/>
                  <a:gd name="T37" fmla="*/ 33 h 41"/>
                  <a:gd name="T38" fmla="*/ 13 w 42"/>
                  <a:gd name="T39" fmla="*/ 33 h 41"/>
                  <a:gd name="T40" fmla="*/ 13 w 42"/>
                  <a:gd name="T41" fmla="*/ 8 h 41"/>
                  <a:gd name="T42" fmla="*/ 17 w 42"/>
                  <a:gd name="T43" fmla="*/ 19 h 41"/>
                  <a:gd name="T44" fmla="*/ 20 w 42"/>
                  <a:gd name="T45" fmla="*/ 19 h 41"/>
                  <a:gd name="T46" fmla="*/ 27 w 42"/>
                  <a:gd name="T47" fmla="*/ 15 h 41"/>
                  <a:gd name="T48" fmla="*/ 22 w 42"/>
                  <a:gd name="T49" fmla="*/ 11 h 41"/>
                  <a:gd name="T50" fmla="*/ 17 w 42"/>
                  <a:gd name="T51" fmla="*/ 11 h 41"/>
                  <a:gd name="T52" fmla="*/ 17 w 42"/>
                  <a:gd name="T53" fmla="*/ 1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1">
                    <a:moveTo>
                      <a:pt x="21" y="0"/>
                    </a:moveTo>
                    <a:cubicBezTo>
                      <a:pt x="32" y="0"/>
                      <a:pt x="42" y="9"/>
                      <a:pt x="42" y="20"/>
                    </a:cubicBezTo>
                    <a:cubicBezTo>
                      <a:pt x="42" y="32"/>
                      <a:pt x="32" y="41"/>
                      <a:pt x="21" y="41"/>
                    </a:cubicBezTo>
                    <a:cubicBezTo>
                      <a:pt x="9" y="41"/>
                      <a:pt x="0" y="32"/>
                      <a:pt x="0" y="20"/>
                    </a:cubicBezTo>
                    <a:cubicBezTo>
                      <a:pt x="0" y="9"/>
                      <a:pt x="9" y="0"/>
                      <a:pt x="21" y="0"/>
                    </a:cubicBezTo>
                    <a:close/>
                    <a:moveTo>
                      <a:pt x="21" y="38"/>
                    </a:moveTo>
                    <a:cubicBezTo>
                      <a:pt x="31" y="38"/>
                      <a:pt x="38" y="31"/>
                      <a:pt x="38" y="20"/>
                    </a:cubicBezTo>
                    <a:cubicBezTo>
                      <a:pt x="38" y="10"/>
                      <a:pt x="31" y="3"/>
                      <a:pt x="21" y="3"/>
                    </a:cubicBezTo>
                    <a:cubicBezTo>
                      <a:pt x="11" y="3"/>
                      <a:pt x="4" y="10"/>
                      <a:pt x="4" y="20"/>
                    </a:cubicBezTo>
                    <a:cubicBezTo>
                      <a:pt x="4" y="31"/>
                      <a:pt x="11" y="38"/>
                      <a:pt x="21" y="38"/>
                    </a:cubicBezTo>
                    <a:close/>
                    <a:moveTo>
                      <a:pt x="13" y="8"/>
                    </a:moveTo>
                    <a:cubicBezTo>
                      <a:pt x="22" y="8"/>
                      <a:pt x="22" y="8"/>
                      <a:pt x="22" y="8"/>
                    </a:cubicBezTo>
                    <a:cubicBezTo>
                      <a:pt x="28" y="8"/>
                      <a:pt x="31" y="11"/>
                      <a:pt x="31" y="15"/>
                    </a:cubicBezTo>
                    <a:cubicBezTo>
                      <a:pt x="31" y="20"/>
                      <a:pt x="28" y="22"/>
                      <a:pt x="24" y="22"/>
                    </a:cubicBezTo>
                    <a:cubicBezTo>
                      <a:pt x="31" y="33"/>
                      <a:pt x="31" y="33"/>
                      <a:pt x="31" y="33"/>
                    </a:cubicBezTo>
                    <a:cubicBezTo>
                      <a:pt x="27" y="33"/>
                      <a:pt x="27" y="33"/>
                      <a:pt x="27" y="33"/>
                    </a:cubicBezTo>
                    <a:cubicBezTo>
                      <a:pt x="21" y="22"/>
                      <a:pt x="21" y="22"/>
                      <a:pt x="21" y="22"/>
                    </a:cubicBezTo>
                    <a:cubicBezTo>
                      <a:pt x="17" y="22"/>
                      <a:pt x="17" y="22"/>
                      <a:pt x="17" y="22"/>
                    </a:cubicBezTo>
                    <a:cubicBezTo>
                      <a:pt x="17" y="33"/>
                      <a:pt x="17" y="33"/>
                      <a:pt x="17" y="33"/>
                    </a:cubicBezTo>
                    <a:cubicBezTo>
                      <a:pt x="13" y="33"/>
                      <a:pt x="13" y="33"/>
                      <a:pt x="13" y="33"/>
                    </a:cubicBezTo>
                    <a:lnTo>
                      <a:pt x="13" y="8"/>
                    </a:lnTo>
                    <a:close/>
                    <a:moveTo>
                      <a:pt x="17" y="19"/>
                    </a:moveTo>
                    <a:cubicBezTo>
                      <a:pt x="20" y="19"/>
                      <a:pt x="20" y="19"/>
                      <a:pt x="20" y="19"/>
                    </a:cubicBezTo>
                    <a:cubicBezTo>
                      <a:pt x="24" y="19"/>
                      <a:pt x="27" y="19"/>
                      <a:pt x="27" y="15"/>
                    </a:cubicBezTo>
                    <a:cubicBezTo>
                      <a:pt x="27" y="12"/>
                      <a:pt x="24" y="11"/>
                      <a:pt x="22" y="11"/>
                    </a:cubicBezTo>
                    <a:cubicBezTo>
                      <a:pt x="17" y="11"/>
                      <a:pt x="17" y="11"/>
                      <a:pt x="17" y="11"/>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Tree>
    <p:extLst>
      <p:ext uri="{BB962C8B-B14F-4D97-AF65-F5344CB8AC3E}">
        <p14:creationId xmlns:p14="http://schemas.microsoft.com/office/powerpoint/2010/main" val="25492023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F844B-1187-4000-9531-1CB06F367DAF}"/>
              </a:ext>
            </a:extLst>
          </p:cNvPr>
          <p:cNvSpPr>
            <a:spLocks noGrp="1"/>
          </p:cNvSpPr>
          <p:nvPr>
            <p:ph type="title"/>
          </p:nvPr>
        </p:nvSpPr>
        <p:spPr/>
        <p:txBody>
          <a:bodyPr/>
          <a:lstStyle/>
          <a:p>
            <a:r>
              <a:rPr lang="en-US" dirty="0"/>
              <a:t>Repetition is a beautiful thing…</a:t>
            </a:r>
          </a:p>
        </p:txBody>
      </p:sp>
      <p:pic>
        <p:nvPicPr>
          <p:cNvPr id="4" name="Picture 3">
            <a:extLst>
              <a:ext uri="{FF2B5EF4-FFF2-40B4-BE49-F238E27FC236}">
                <a16:creationId xmlns:a16="http://schemas.microsoft.com/office/drawing/2014/main" id="{C1D7474A-D49C-4475-983C-80F40ABDDDB6}"/>
              </a:ext>
            </a:extLst>
          </p:cNvPr>
          <p:cNvPicPr>
            <a:picLocks noChangeAspect="1"/>
          </p:cNvPicPr>
          <p:nvPr/>
        </p:nvPicPr>
        <p:blipFill rotWithShape="1">
          <a:blip r:embed="rId5"/>
          <a:srcRect l="26448" t="19787"/>
          <a:stretch/>
        </p:blipFill>
        <p:spPr>
          <a:xfrm>
            <a:off x="3597214" y="1495588"/>
            <a:ext cx="2605759" cy="47172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aroundtheworld">
            <a:hlinkClick r:id="" action="ppaction://media"/>
            <a:extLst>
              <a:ext uri="{FF2B5EF4-FFF2-40B4-BE49-F238E27FC236}">
                <a16:creationId xmlns:a16="http://schemas.microsoft.com/office/drawing/2014/main" id="{5A6C81DD-B035-4A3C-9148-8DF10E8D04DB}"/>
              </a:ext>
            </a:extLst>
          </p:cNvPr>
          <p:cNvPicPr>
            <a:picLocks noChangeAspect="1"/>
          </p:cNvPicPr>
          <p:nvPr>
            <a:audioFile r:link="rId2"/>
            <p:extLst>
              <p:ext uri="{DAA4B4D4-6D71-4841-9C94-3DE7FCFB9230}">
                <p14:media xmlns:p14="http://schemas.microsoft.com/office/powerpoint/2010/main" r:embed="rId1"/>
              </p:ext>
            </p:extLst>
          </p:nvPr>
        </p:nvPicPr>
        <p:blipFill>
          <a:blip r:embed="rId6">
            <a:extLst>
              <a:ext uri="{837473B0-CC2E-450A-ABE3-18F120FF3D39}">
                <a1611:picAttrSrcUrl xmlns:a1611="http://schemas.microsoft.com/office/drawing/2016/11/main" r:id="rId7"/>
              </a:ext>
            </a:extLst>
          </a:blip>
          <a:srcRect/>
          <a:stretch/>
        </p:blipFill>
        <p:spPr>
          <a:xfrm>
            <a:off x="720000" y="1495588"/>
            <a:ext cx="2682626" cy="29508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a:extLst>
              <a:ext uri="{FF2B5EF4-FFF2-40B4-BE49-F238E27FC236}">
                <a16:creationId xmlns:a16="http://schemas.microsoft.com/office/drawing/2014/main" id="{8A193F4D-CACE-447B-A951-38021CBF84B4}"/>
              </a:ext>
            </a:extLst>
          </p:cNvPr>
          <p:cNvSpPr/>
          <p:nvPr/>
        </p:nvSpPr>
        <p:spPr>
          <a:xfrm>
            <a:off x="6397561" y="1495588"/>
            <a:ext cx="2095808" cy="2950892"/>
          </a:xfrm>
          <a:prstGeom prst="rect">
            <a:avLst/>
          </a:prstGeom>
          <a:solidFill>
            <a:srgbClr val="00B1F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dirty="0">
                <a:solidFill>
                  <a:schemeClr val="tx1"/>
                </a:solidFill>
                <a:latin typeface="Miriam Libre" panose="00000500000000000000" pitchFamily="2" charset="-79"/>
                <a:cs typeface="Miriam Libre" panose="00000500000000000000" pitchFamily="2" charset="-79"/>
              </a:rPr>
              <a:t>What if we wanted to make a program to display these lyrics line by line?</a:t>
            </a:r>
          </a:p>
        </p:txBody>
      </p:sp>
    </p:spTree>
    <p:extLst>
      <p:ext uri="{BB962C8B-B14F-4D97-AF65-F5344CB8AC3E}">
        <p14:creationId xmlns:p14="http://schemas.microsoft.com/office/powerpoint/2010/main" val="8744075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20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8" fill="hold" display="0">
                  <p:stCondLst>
                    <p:cond delay="indefinite"/>
                  </p:stCondLst>
                  <p:endCondLst>
                    <p:cond evt="onStopAudio" delay="0">
                      <p:tgtEl>
                        <p:sldTgt/>
                      </p:tgtEl>
                    </p:cond>
                  </p:endCondLst>
                </p:cTn>
                <p:tgtEl>
                  <p:spTgt spid="5"/>
                </p:tgtEl>
              </p:cMediaNode>
            </p:audio>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59641-7D58-43ED-A42F-431151A5EDC5}"/>
              </a:ext>
            </a:extLst>
          </p:cNvPr>
          <p:cNvSpPr>
            <a:spLocks noGrp="1"/>
          </p:cNvSpPr>
          <p:nvPr>
            <p:ph type="title"/>
          </p:nvPr>
        </p:nvSpPr>
        <p:spPr/>
        <p:txBody>
          <a:bodyPr/>
          <a:lstStyle/>
          <a:p>
            <a:r>
              <a:rPr lang="en-US" dirty="0"/>
              <a:t>Repeating code…</a:t>
            </a:r>
          </a:p>
        </p:txBody>
      </p:sp>
      <p:sp>
        <p:nvSpPr>
          <p:cNvPr id="7" name="Rectangle 6">
            <a:extLst>
              <a:ext uri="{FF2B5EF4-FFF2-40B4-BE49-F238E27FC236}">
                <a16:creationId xmlns:a16="http://schemas.microsoft.com/office/drawing/2014/main" id="{E12B22E0-4837-45AE-B2AB-C3EC193F4D2B}"/>
              </a:ext>
            </a:extLst>
          </p:cNvPr>
          <p:cNvSpPr/>
          <p:nvPr/>
        </p:nvSpPr>
        <p:spPr>
          <a:xfrm>
            <a:off x="720000" y="3749890"/>
            <a:ext cx="7934599" cy="7237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800" dirty="0">
                <a:solidFill>
                  <a:schemeClr val="tx1"/>
                </a:solidFill>
                <a:latin typeface="Miriam Libre" panose="00000500000000000000" pitchFamily="2" charset="-79"/>
                <a:cs typeface="Miriam Libre" panose="00000500000000000000" pitchFamily="2" charset="-79"/>
              </a:rPr>
              <a:t>Manually copying the same statement many times is tedious and makes the code messy!</a:t>
            </a:r>
          </a:p>
        </p:txBody>
      </p:sp>
      <p:pic>
        <p:nvPicPr>
          <p:cNvPr id="1026" name="Picture 2" descr="Repeat GIFs | Tenor">
            <a:extLst>
              <a:ext uri="{FF2B5EF4-FFF2-40B4-BE49-F238E27FC236}">
                <a16:creationId xmlns:a16="http://schemas.microsoft.com/office/drawing/2014/main" id="{FBB9E87B-1E99-4C2B-8377-19566F745CF4}"/>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906108" y="1446518"/>
            <a:ext cx="3517892" cy="228663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8AF4C71-2F3D-40EE-8BCB-D9BC65549E55}"/>
              </a:ext>
            </a:extLst>
          </p:cNvPr>
          <p:cNvSpPr/>
          <p:nvPr/>
        </p:nvSpPr>
        <p:spPr>
          <a:xfrm>
            <a:off x="720000" y="1446519"/>
            <a:ext cx="4186108" cy="2286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t"/>
          <a:lstStyle/>
          <a:p>
            <a:r>
              <a:rPr lang="en-US" sz="1800" b="0" dirty="0">
                <a:solidFill>
                  <a:srgbClr val="569CD6"/>
                </a:solidFill>
                <a:effectLst/>
                <a:latin typeface="Consolas" panose="020B0609020204030204" pitchFamily="49" charset="0"/>
              </a:rPr>
              <a:t>function</a:t>
            </a:r>
            <a:r>
              <a:rPr lang="en-US" sz="1800" b="0" dirty="0">
                <a:solidFill>
                  <a:srgbClr val="D4D4D4"/>
                </a:solidFill>
                <a:effectLst/>
                <a:latin typeface="Consolas" panose="020B0609020204030204" pitchFamily="49" charset="0"/>
              </a:rPr>
              <a:t> </a:t>
            </a:r>
            <a:r>
              <a:rPr lang="en-US" sz="1800" b="0" dirty="0" err="1">
                <a:solidFill>
                  <a:srgbClr val="DCDCAA"/>
                </a:solidFill>
                <a:effectLst/>
                <a:latin typeface="Consolas" panose="020B0609020204030204" pitchFamily="49" charset="0"/>
              </a:rPr>
              <a:t>daftPunk</a:t>
            </a:r>
            <a:r>
              <a:rPr lang="en-US" sz="1800" b="0" dirty="0">
                <a:solidFill>
                  <a:srgbClr val="D4D4D4"/>
                </a:solidFill>
                <a:effectLst/>
                <a:latin typeface="Consolas" panose="020B0609020204030204" pitchFamily="49" charset="0"/>
              </a:rPr>
              <a:t>() {</a:t>
            </a:r>
          </a:p>
          <a:p>
            <a:r>
              <a:rPr lang="en-US" sz="1800" b="0" dirty="0">
                <a:solidFill>
                  <a:srgbClr val="D4D4D4"/>
                </a:solidFill>
                <a:effectLst/>
                <a:latin typeface="Consolas" panose="020B0609020204030204" pitchFamily="49" charset="0"/>
              </a:rPr>
              <a:t>  </a:t>
            </a:r>
            <a:r>
              <a:rPr lang="en-US" sz="1800" b="0" dirty="0">
                <a:solidFill>
                  <a:srgbClr val="DCDCAA"/>
                </a:solidFill>
                <a:effectLst/>
                <a:latin typeface="Consolas" panose="020B0609020204030204" pitchFamily="49" charset="0"/>
              </a:rPr>
              <a:t>alert</a:t>
            </a:r>
            <a:r>
              <a:rPr lang="en-US" sz="1800" b="0" dirty="0">
                <a:solidFill>
                  <a:srgbClr val="D4D4D4"/>
                </a:solidFill>
                <a:effectLst/>
                <a:latin typeface="Consolas" panose="020B0609020204030204" pitchFamily="49" charset="0"/>
              </a:rPr>
              <a:t>(</a:t>
            </a:r>
            <a:r>
              <a:rPr lang="en-US" sz="1800" b="0" dirty="0">
                <a:solidFill>
                  <a:srgbClr val="CE9178"/>
                </a:solidFill>
                <a:effectLst/>
                <a:latin typeface="Consolas" panose="020B0609020204030204" pitchFamily="49" charset="0"/>
              </a:rPr>
              <a:t>"Around the world"</a:t>
            </a:r>
            <a:r>
              <a:rPr lang="en-US" sz="1800" b="0" dirty="0">
                <a:solidFill>
                  <a:srgbClr val="D4D4D4"/>
                </a:solidFill>
                <a:effectLst/>
                <a:latin typeface="Consolas" panose="020B0609020204030204" pitchFamily="49" charset="0"/>
              </a:rPr>
              <a:t>);</a:t>
            </a:r>
          </a:p>
          <a:p>
            <a:r>
              <a:rPr lang="en-US" sz="1800" b="0" dirty="0">
                <a:solidFill>
                  <a:srgbClr val="D4D4D4"/>
                </a:solidFill>
                <a:effectLst/>
                <a:latin typeface="Consolas" panose="020B0609020204030204" pitchFamily="49" charset="0"/>
              </a:rPr>
              <a:t>  </a:t>
            </a:r>
            <a:r>
              <a:rPr lang="en-US" sz="1800" b="0" dirty="0">
                <a:solidFill>
                  <a:srgbClr val="DCDCAA"/>
                </a:solidFill>
                <a:effectLst/>
                <a:latin typeface="Consolas" panose="020B0609020204030204" pitchFamily="49" charset="0"/>
              </a:rPr>
              <a:t>alert</a:t>
            </a:r>
            <a:r>
              <a:rPr lang="en-US" sz="1800" b="0" dirty="0">
                <a:solidFill>
                  <a:srgbClr val="D4D4D4"/>
                </a:solidFill>
                <a:effectLst/>
                <a:latin typeface="Consolas" panose="020B0609020204030204" pitchFamily="49" charset="0"/>
              </a:rPr>
              <a:t>(</a:t>
            </a:r>
            <a:r>
              <a:rPr lang="en-US" sz="1800" b="0" dirty="0">
                <a:solidFill>
                  <a:srgbClr val="CE9178"/>
                </a:solidFill>
                <a:effectLst/>
                <a:latin typeface="Consolas" panose="020B0609020204030204" pitchFamily="49" charset="0"/>
              </a:rPr>
              <a:t>"Around the world"</a:t>
            </a:r>
            <a:r>
              <a:rPr lang="en-US" sz="1800" b="0" dirty="0">
                <a:solidFill>
                  <a:srgbClr val="D4D4D4"/>
                </a:solidFill>
                <a:effectLst/>
                <a:latin typeface="Consolas" panose="020B0609020204030204" pitchFamily="49" charset="0"/>
              </a:rPr>
              <a:t>);</a:t>
            </a:r>
          </a:p>
          <a:p>
            <a:r>
              <a:rPr lang="en-US" sz="1800" b="0" dirty="0">
                <a:solidFill>
                  <a:srgbClr val="D4D4D4"/>
                </a:solidFill>
                <a:effectLst/>
                <a:latin typeface="Consolas" panose="020B0609020204030204" pitchFamily="49" charset="0"/>
              </a:rPr>
              <a:t>  </a:t>
            </a:r>
            <a:r>
              <a:rPr lang="en-US" sz="1800" b="0" dirty="0">
                <a:solidFill>
                  <a:srgbClr val="DCDCAA"/>
                </a:solidFill>
                <a:effectLst/>
                <a:latin typeface="Consolas" panose="020B0609020204030204" pitchFamily="49" charset="0"/>
              </a:rPr>
              <a:t>alert</a:t>
            </a:r>
            <a:r>
              <a:rPr lang="en-US" sz="1800" b="0" dirty="0">
                <a:solidFill>
                  <a:srgbClr val="D4D4D4"/>
                </a:solidFill>
                <a:effectLst/>
                <a:latin typeface="Consolas" panose="020B0609020204030204" pitchFamily="49" charset="0"/>
              </a:rPr>
              <a:t>(</a:t>
            </a:r>
            <a:r>
              <a:rPr lang="en-US" sz="1800" b="0" dirty="0">
                <a:solidFill>
                  <a:srgbClr val="CE9178"/>
                </a:solidFill>
                <a:effectLst/>
                <a:latin typeface="Consolas" panose="020B0609020204030204" pitchFamily="49" charset="0"/>
              </a:rPr>
              <a:t>"Around the world"</a:t>
            </a:r>
            <a:r>
              <a:rPr lang="en-US" sz="1800" b="0" dirty="0">
                <a:solidFill>
                  <a:srgbClr val="D4D4D4"/>
                </a:solidFill>
                <a:effectLst/>
                <a:latin typeface="Consolas" panose="020B0609020204030204" pitchFamily="49" charset="0"/>
              </a:rPr>
              <a:t>);</a:t>
            </a:r>
          </a:p>
          <a:p>
            <a:r>
              <a:rPr lang="en-US" sz="1800" b="0" dirty="0">
                <a:solidFill>
                  <a:srgbClr val="D4D4D4"/>
                </a:solidFill>
                <a:effectLst/>
                <a:latin typeface="Consolas" panose="020B0609020204030204" pitchFamily="49" charset="0"/>
              </a:rPr>
              <a:t>  </a:t>
            </a:r>
            <a:r>
              <a:rPr lang="en-US" sz="1800" b="0" dirty="0">
                <a:solidFill>
                  <a:srgbClr val="DCDCAA"/>
                </a:solidFill>
                <a:effectLst/>
                <a:latin typeface="Consolas" panose="020B0609020204030204" pitchFamily="49" charset="0"/>
              </a:rPr>
              <a:t>alert</a:t>
            </a:r>
            <a:r>
              <a:rPr lang="en-US" sz="1800" b="0" dirty="0">
                <a:solidFill>
                  <a:srgbClr val="D4D4D4"/>
                </a:solidFill>
                <a:effectLst/>
                <a:latin typeface="Consolas" panose="020B0609020204030204" pitchFamily="49" charset="0"/>
              </a:rPr>
              <a:t>(</a:t>
            </a:r>
            <a:r>
              <a:rPr lang="en-US" sz="1800" b="0" dirty="0">
                <a:solidFill>
                  <a:srgbClr val="CE9178"/>
                </a:solidFill>
                <a:effectLst/>
                <a:latin typeface="Consolas" panose="020B0609020204030204" pitchFamily="49" charset="0"/>
              </a:rPr>
              <a:t>"Around the world"</a:t>
            </a:r>
            <a:r>
              <a:rPr lang="en-US" sz="1800" b="0" dirty="0">
                <a:solidFill>
                  <a:srgbClr val="D4D4D4"/>
                </a:solidFill>
                <a:effectLst/>
                <a:latin typeface="Consolas" panose="020B0609020204030204" pitchFamily="49" charset="0"/>
              </a:rPr>
              <a:t>);</a:t>
            </a:r>
          </a:p>
          <a:p>
            <a:r>
              <a:rPr lang="en-US" sz="1800" b="0" dirty="0">
                <a:solidFill>
                  <a:srgbClr val="D4D4D4"/>
                </a:solidFill>
                <a:effectLst/>
                <a:latin typeface="Consolas" panose="020B0609020204030204" pitchFamily="49" charset="0"/>
              </a:rPr>
              <a:t>  </a:t>
            </a:r>
            <a:r>
              <a:rPr lang="en-US" sz="1800" b="0" dirty="0">
                <a:solidFill>
                  <a:srgbClr val="6A9955"/>
                </a:solidFill>
                <a:effectLst/>
                <a:latin typeface="Consolas" panose="020B0609020204030204" pitchFamily="49" charset="0"/>
              </a:rPr>
              <a:t>/* ... */</a:t>
            </a:r>
            <a:endParaRPr lang="en-US" sz="1800" b="0" dirty="0">
              <a:solidFill>
                <a:srgbClr val="D4D4D4"/>
              </a:solidFill>
              <a:effectLst/>
              <a:latin typeface="Consolas" panose="020B0609020204030204" pitchFamily="49" charset="0"/>
            </a:endParaRPr>
          </a:p>
          <a:p>
            <a:r>
              <a:rPr lang="en-US" sz="1800" b="0" dirty="0">
                <a:solidFill>
                  <a:srgbClr val="D4D4D4"/>
                </a:solidFill>
                <a:effectLst/>
                <a:latin typeface="Consolas" panose="020B0609020204030204" pitchFamily="49" charset="0"/>
              </a:rPr>
              <a:t>  </a:t>
            </a:r>
            <a:r>
              <a:rPr lang="en-US" sz="1800" b="0" dirty="0">
                <a:solidFill>
                  <a:srgbClr val="DCDCAA"/>
                </a:solidFill>
                <a:effectLst/>
                <a:latin typeface="Consolas" panose="020B0609020204030204" pitchFamily="49" charset="0"/>
              </a:rPr>
              <a:t>alert</a:t>
            </a:r>
            <a:r>
              <a:rPr lang="en-US" sz="1800" b="0" dirty="0">
                <a:solidFill>
                  <a:srgbClr val="D4D4D4"/>
                </a:solidFill>
                <a:effectLst/>
                <a:latin typeface="Consolas" panose="020B0609020204030204" pitchFamily="49" charset="0"/>
              </a:rPr>
              <a:t>(</a:t>
            </a:r>
            <a:r>
              <a:rPr lang="en-US" sz="1800" b="0" dirty="0">
                <a:solidFill>
                  <a:srgbClr val="CE9178"/>
                </a:solidFill>
                <a:effectLst/>
                <a:latin typeface="Consolas" panose="020B0609020204030204" pitchFamily="49" charset="0"/>
              </a:rPr>
              <a:t>"Around the world"</a:t>
            </a:r>
            <a:r>
              <a:rPr lang="en-US" sz="1800" b="0" dirty="0">
                <a:solidFill>
                  <a:srgbClr val="D4D4D4"/>
                </a:solidFill>
                <a:effectLst/>
                <a:latin typeface="Consolas" panose="020B0609020204030204" pitchFamily="49" charset="0"/>
              </a:rPr>
              <a:t>);</a:t>
            </a:r>
          </a:p>
          <a:p>
            <a:r>
              <a:rPr lang="en-US" sz="1800" b="0" dirty="0">
                <a:solidFill>
                  <a:srgbClr val="D4D4D4"/>
                </a:solidFill>
                <a:effectLst/>
                <a:latin typeface="Consolas" panose="020B0609020204030204" pitchFamily="49" charset="0"/>
              </a:rPr>
              <a:t>}</a:t>
            </a:r>
          </a:p>
          <a:p>
            <a:endParaRPr lang="en-US" dirty="0"/>
          </a:p>
        </p:txBody>
      </p:sp>
    </p:spTree>
    <p:extLst>
      <p:ext uri="{BB962C8B-B14F-4D97-AF65-F5344CB8AC3E}">
        <p14:creationId xmlns:p14="http://schemas.microsoft.com/office/powerpoint/2010/main" val="24886778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animEffect transition="in" filter="wipe(left)">
                                      <p:cBhvr>
                                        <p:cTn id="11" dur="500"/>
                                        <p:tgtEl>
                                          <p:spTgt spid="102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animEffect transition="in" filter="fade">
                                      <p:cBhvr>
                                        <p:cTn id="16"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6344-B41A-48E9-BA7B-F61E0F453FB3}"/>
              </a:ext>
            </a:extLst>
          </p:cNvPr>
          <p:cNvSpPr>
            <a:spLocks noGrp="1"/>
          </p:cNvSpPr>
          <p:nvPr>
            <p:ph type="title"/>
          </p:nvPr>
        </p:nvSpPr>
        <p:spPr/>
        <p:txBody>
          <a:bodyPr/>
          <a:lstStyle/>
          <a:p>
            <a:r>
              <a:rPr lang="en-US" dirty="0"/>
              <a:t>Introducing Loops</a:t>
            </a:r>
          </a:p>
        </p:txBody>
      </p:sp>
      <p:sp>
        <p:nvSpPr>
          <p:cNvPr id="5" name="Rectangle 4">
            <a:extLst>
              <a:ext uri="{FF2B5EF4-FFF2-40B4-BE49-F238E27FC236}">
                <a16:creationId xmlns:a16="http://schemas.microsoft.com/office/drawing/2014/main" id="{99FF251B-FD93-45BB-A1EB-7574846DC10B}"/>
              </a:ext>
            </a:extLst>
          </p:cNvPr>
          <p:cNvSpPr/>
          <p:nvPr/>
        </p:nvSpPr>
        <p:spPr>
          <a:xfrm>
            <a:off x="604700" y="1370399"/>
            <a:ext cx="7934599" cy="572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400" b="1" dirty="0">
                <a:solidFill>
                  <a:schemeClr val="tx1"/>
                </a:solidFill>
                <a:latin typeface="Miriam Libre" panose="00000500000000000000" pitchFamily="2" charset="-79"/>
                <a:cs typeface="Miriam Libre" panose="00000500000000000000" pitchFamily="2" charset="-79"/>
              </a:rPr>
              <a:t>Loops</a:t>
            </a:r>
            <a:r>
              <a:rPr lang="en-US" sz="2400" dirty="0">
                <a:solidFill>
                  <a:schemeClr val="tx1"/>
                </a:solidFill>
                <a:latin typeface="Miriam Libre" panose="00000500000000000000" pitchFamily="2" charset="-79"/>
                <a:cs typeface="Miriam Libre" panose="00000500000000000000" pitchFamily="2" charset="-79"/>
              </a:rPr>
              <a:t> </a:t>
            </a:r>
            <a:r>
              <a:rPr lang="en-US" sz="2000" dirty="0">
                <a:solidFill>
                  <a:schemeClr val="tx1"/>
                </a:solidFill>
                <a:latin typeface="Miriam Libre" panose="00000500000000000000" pitchFamily="2" charset="-79"/>
                <a:cs typeface="Miriam Libre" panose="00000500000000000000" pitchFamily="2" charset="-79"/>
              </a:rPr>
              <a:t>allow developers to repeat code </a:t>
            </a:r>
            <a:r>
              <a:rPr lang="en-US" sz="2400" dirty="0">
                <a:solidFill>
                  <a:schemeClr val="tx1"/>
                </a:solidFill>
                <a:latin typeface="Miriam Libre" panose="00000500000000000000" pitchFamily="2" charset="-79"/>
                <a:cs typeface="Miriam Libre" panose="00000500000000000000" pitchFamily="2" charset="-79"/>
              </a:rPr>
              <a:t>programmatically!</a:t>
            </a:r>
          </a:p>
        </p:txBody>
      </p:sp>
      <p:pic>
        <p:nvPicPr>
          <p:cNvPr id="6" name="Online Media 5" title="Nathan For You - The &quot;I Love You&quot; Loop">
            <a:hlinkClick r:id="" action="ppaction://media"/>
            <a:extLst>
              <a:ext uri="{FF2B5EF4-FFF2-40B4-BE49-F238E27FC236}">
                <a16:creationId xmlns:a16="http://schemas.microsoft.com/office/drawing/2014/main" id="{391E4828-0BEB-4C99-8962-7363070DBF49}"/>
              </a:ext>
            </a:extLst>
          </p:cNvPr>
          <p:cNvPicPr>
            <a:picLocks noRot="1" noChangeAspect="1"/>
          </p:cNvPicPr>
          <p:nvPr>
            <a:videoFile r:link="rId1"/>
          </p:nvPr>
        </p:nvPicPr>
        <p:blipFill>
          <a:blip r:embed="rId4"/>
          <a:stretch>
            <a:fillRect/>
          </a:stretch>
        </p:blipFill>
        <p:spPr>
          <a:xfrm>
            <a:off x="720000" y="1943099"/>
            <a:ext cx="4632536" cy="2617383"/>
          </a:xfrm>
          <a:prstGeom prst="rect">
            <a:avLst/>
          </a:prstGeom>
        </p:spPr>
      </p:pic>
      <p:sp>
        <p:nvSpPr>
          <p:cNvPr id="7" name="Rectangle 6">
            <a:extLst>
              <a:ext uri="{FF2B5EF4-FFF2-40B4-BE49-F238E27FC236}">
                <a16:creationId xmlns:a16="http://schemas.microsoft.com/office/drawing/2014/main" id="{6849D066-6B02-4AF1-A44C-98728162CFF8}"/>
              </a:ext>
            </a:extLst>
          </p:cNvPr>
          <p:cNvSpPr/>
          <p:nvPr/>
        </p:nvSpPr>
        <p:spPr>
          <a:xfrm>
            <a:off x="5467836" y="1943099"/>
            <a:ext cx="3071463" cy="261738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800" dirty="0">
                <a:solidFill>
                  <a:schemeClr val="bg1"/>
                </a:solidFill>
                <a:latin typeface="Miriam Libre" panose="00000500000000000000" pitchFamily="2" charset="-79"/>
                <a:cs typeface="Miriam Libre" panose="00000500000000000000" pitchFamily="2" charset="-79"/>
              </a:rPr>
              <a:t>Statements can be repeated a certain number of times using a </a:t>
            </a:r>
            <a:r>
              <a:rPr lang="en-US" sz="4800" b="1" dirty="0">
                <a:solidFill>
                  <a:schemeClr val="tx2"/>
                </a:solidFill>
                <a:latin typeface="Nitti" panose="02000509060000060004" pitchFamily="49" charset="0"/>
                <a:ea typeface="MingLiU" panose="02020509000000000000" pitchFamily="49" charset="-120"/>
                <a:cs typeface="Dubai Light" panose="020B0303030403030204" pitchFamily="34" charset="-78"/>
              </a:rPr>
              <a:t>for</a:t>
            </a:r>
            <a:r>
              <a:rPr lang="en-US" sz="4800" dirty="0">
                <a:solidFill>
                  <a:schemeClr val="tx2"/>
                </a:solidFill>
                <a:latin typeface="Miriam Libre" panose="00000500000000000000" pitchFamily="2" charset="-79"/>
                <a:cs typeface="Miriam Libre" panose="00000500000000000000" pitchFamily="2" charset="-79"/>
              </a:rPr>
              <a:t> loop</a:t>
            </a:r>
            <a:endParaRPr lang="en-US" sz="2800" dirty="0">
              <a:solidFill>
                <a:schemeClr val="tx2"/>
              </a:solidFill>
              <a:latin typeface="Miriam Libre" panose="00000500000000000000" pitchFamily="2" charset="-79"/>
              <a:cs typeface="Miriam Libre" panose="00000500000000000000" pitchFamily="2" charset="-79"/>
            </a:endParaRPr>
          </a:p>
        </p:txBody>
      </p:sp>
    </p:spTree>
    <p:extLst>
      <p:ext uri="{BB962C8B-B14F-4D97-AF65-F5344CB8AC3E}">
        <p14:creationId xmlns:p14="http://schemas.microsoft.com/office/powerpoint/2010/main" val="36731739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6"/>
                </p:tgtEl>
              </p:cMediaNode>
            </p:video>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AE00-D688-47A2-9EC4-27032CAA4196}"/>
              </a:ext>
            </a:extLst>
          </p:cNvPr>
          <p:cNvSpPr>
            <a:spLocks noGrp="1"/>
          </p:cNvSpPr>
          <p:nvPr>
            <p:ph type="title"/>
          </p:nvPr>
        </p:nvSpPr>
        <p:spPr/>
        <p:txBody>
          <a:bodyPr/>
          <a:lstStyle/>
          <a:p>
            <a:r>
              <a:rPr lang="en-US" dirty="0"/>
              <a:t>For Loop Example: A Mantra</a:t>
            </a:r>
          </a:p>
        </p:txBody>
      </p:sp>
      <p:sp>
        <p:nvSpPr>
          <p:cNvPr id="4" name="TextBox 3">
            <a:extLst>
              <a:ext uri="{FF2B5EF4-FFF2-40B4-BE49-F238E27FC236}">
                <a16:creationId xmlns:a16="http://schemas.microsoft.com/office/drawing/2014/main" id="{80B1FB6A-D283-428B-BFA6-E277CEF509BD}"/>
              </a:ext>
            </a:extLst>
          </p:cNvPr>
          <p:cNvSpPr txBox="1"/>
          <p:nvPr/>
        </p:nvSpPr>
        <p:spPr>
          <a:xfrm>
            <a:off x="719999" y="1394691"/>
            <a:ext cx="7703999" cy="1431161"/>
          </a:xfrm>
          <a:prstGeom prst="rect">
            <a:avLst/>
          </a:prstGeom>
          <a:noFill/>
        </p:spPr>
        <p:txBody>
          <a:bodyPr wrap="square">
            <a:spAutoFit/>
          </a:bodyPr>
          <a:lstStyle/>
          <a:p>
            <a:r>
              <a:rPr lang="en-US" sz="2900" b="0" dirty="0">
                <a:solidFill>
                  <a:srgbClr val="FF16B0"/>
                </a:solidFill>
                <a:effectLst/>
                <a:latin typeface="Consolas" panose="020B0609020204030204" pitchFamily="49" charset="0"/>
              </a:rPr>
              <a:t>for</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let</a:t>
            </a:r>
            <a:r>
              <a:rPr lang="en-US" sz="2900" b="0" dirty="0">
                <a:solidFill>
                  <a:srgbClr val="3F374B"/>
                </a:solidFill>
                <a:effectLst/>
                <a:latin typeface="Consolas" panose="020B0609020204030204" pitchFamily="49" charset="0"/>
              </a:rPr>
              <a:t> </a:t>
            </a:r>
            <a:r>
              <a:rPr lang="en-US" sz="2900" b="0" dirty="0" err="1">
                <a:solidFill>
                  <a:srgbClr val="4D5EFF"/>
                </a:solidFill>
                <a:effectLst/>
                <a:latin typeface="Consolas" panose="020B0609020204030204" pitchFamily="49" charset="0"/>
              </a:rPr>
              <a:t>i</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0</a:t>
            </a:r>
            <a:r>
              <a:rPr lang="en-US" sz="2900" b="0" dirty="0">
                <a:solidFill>
                  <a:srgbClr val="3F374B"/>
                </a:solidFill>
                <a:effectLst/>
                <a:latin typeface="Consolas" panose="020B0609020204030204" pitchFamily="49" charset="0"/>
              </a:rPr>
              <a:t>; </a:t>
            </a:r>
            <a:r>
              <a:rPr lang="en-US" sz="2900" b="0" dirty="0" err="1">
                <a:solidFill>
                  <a:srgbClr val="4D5EFF"/>
                </a:solidFill>
                <a:effectLst/>
                <a:latin typeface="Consolas" panose="020B0609020204030204" pitchFamily="49" charset="0"/>
              </a:rPr>
              <a:t>i</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&lt;</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10</a:t>
            </a:r>
            <a:r>
              <a:rPr lang="en-US" sz="2900" b="0" dirty="0">
                <a:solidFill>
                  <a:srgbClr val="3F374B"/>
                </a:solidFill>
                <a:effectLst/>
                <a:latin typeface="Consolas" panose="020B0609020204030204" pitchFamily="49" charset="0"/>
              </a:rPr>
              <a:t>; </a:t>
            </a:r>
            <a:r>
              <a:rPr lang="en-US" sz="2900" b="0" dirty="0" err="1">
                <a:solidFill>
                  <a:srgbClr val="4D5EFF"/>
                </a:solidFill>
                <a:effectLst/>
                <a:latin typeface="Consolas" panose="020B0609020204030204" pitchFamily="49" charset="0"/>
              </a:rPr>
              <a:t>i</a:t>
            </a:r>
            <a:r>
              <a:rPr lang="en-US" sz="2900" b="0" dirty="0">
                <a:solidFill>
                  <a:srgbClr val="FF16B0"/>
                </a:solidFill>
                <a:effectLst/>
                <a:latin typeface="Consolas" panose="020B0609020204030204" pitchFamily="49" charset="0"/>
              </a:rPr>
              <a:t>++</a:t>
            </a:r>
            <a:r>
              <a:rPr lang="en-US" sz="2900" b="0" dirty="0">
                <a:solidFill>
                  <a:srgbClr val="3F374B"/>
                </a:solidFill>
                <a:effectLst/>
                <a:latin typeface="Consolas" panose="020B0609020204030204" pitchFamily="49" charset="0"/>
              </a:rPr>
              <a:t>) {</a:t>
            </a:r>
            <a:endParaRPr lang="en-US" sz="2900" b="0" dirty="0">
              <a:solidFill>
                <a:srgbClr val="19152C"/>
              </a:solidFill>
              <a:effectLst/>
              <a:latin typeface="Consolas" panose="020B0609020204030204" pitchFamily="49" charset="0"/>
            </a:endParaRPr>
          </a:p>
          <a:p>
            <a:r>
              <a:rPr lang="en-US" sz="2900" b="0" dirty="0">
                <a:solidFill>
                  <a:srgbClr val="3F374B"/>
                </a:solidFill>
                <a:effectLst/>
                <a:latin typeface="Consolas" panose="020B0609020204030204" pitchFamily="49" charset="0"/>
              </a:rPr>
              <a:t>  </a:t>
            </a:r>
            <a:r>
              <a:rPr lang="en-US" sz="2900" b="0" dirty="0">
                <a:solidFill>
                  <a:srgbClr val="251B50"/>
                </a:solidFill>
                <a:effectLst/>
                <a:latin typeface="Consolas" panose="020B0609020204030204" pitchFamily="49" charset="0"/>
              </a:rPr>
              <a:t>alert</a:t>
            </a:r>
            <a:r>
              <a:rPr lang="en-US" sz="2900" b="0" dirty="0">
                <a:solidFill>
                  <a:srgbClr val="3F374B"/>
                </a:solidFill>
                <a:effectLst/>
                <a:latin typeface="Consolas" panose="020B0609020204030204" pitchFamily="49" charset="0"/>
              </a:rPr>
              <a:t>(</a:t>
            </a:r>
            <a:r>
              <a:rPr lang="en-US" sz="2900" b="0" dirty="0">
                <a:solidFill>
                  <a:srgbClr val="C300FF"/>
                </a:solidFill>
                <a:effectLst/>
                <a:latin typeface="Consolas" panose="020B0609020204030204" pitchFamily="49" charset="0"/>
              </a:rPr>
              <a:t>"</a:t>
            </a:r>
            <a:r>
              <a:rPr lang="en-US" sz="2900" dirty="0">
                <a:solidFill>
                  <a:srgbClr val="C300FF"/>
                </a:solidFill>
                <a:latin typeface="Consolas" panose="020B0609020204030204" pitchFamily="49" charset="0"/>
              </a:rPr>
              <a:t>All</a:t>
            </a:r>
            <a:r>
              <a:rPr lang="en-US" sz="2900" b="0" dirty="0">
                <a:solidFill>
                  <a:srgbClr val="C300FF"/>
                </a:solidFill>
                <a:effectLst/>
                <a:latin typeface="Consolas" panose="020B0609020204030204" pitchFamily="49" charset="0"/>
              </a:rPr>
              <a:t> I need is within me."</a:t>
            </a:r>
            <a:r>
              <a:rPr lang="en-US" sz="2900" b="0" dirty="0">
                <a:solidFill>
                  <a:srgbClr val="3F374B"/>
                </a:solidFill>
                <a:effectLst/>
                <a:latin typeface="Consolas" panose="020B0609020204030204" pitchFamily="49" charset="0"/>
              </a:rPr>
              <a:t>);</a:t>
            </a:r>
            <a:endParaRPr lang="en-US" sz="2900" b="0" dirty="0">
              <a:solidFill>
                <a:srgbClr val="19152C"/>
              </a:solidFill>
              <a:effectLst/>
              <a:latin typeface="Consolas" panose="020B0609020204030204" pitchFamily="49" charset="0"/>
            </a:endParaRPr>
          </a:p>
          <a:p>
            <a:r>
              <a:rPr lang="en-US" sz="2900" b="0" dirty="0">
                <a:solidFill>
                  <a:srgbClr val="3F374B"/>
                </a:solidFill>
                <a:effectLst/>
                <a:latin typeface="Consolas" panose="020B0609020204030204" pitchFamily="49" charset="0"/>
              </a:rPr>
              <a:t>}</a:t>
            </a:r>
            <a:endParaRPr lang="en-US" sz="2900" b="0" dirty="0">
              <a:solidFill>
                <a:srgbClr val="19152C"/>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115A5676-C3D4-45F4-9FBE-61B583CC14F0}"/>
              </a:ext>
            </a:extLst>
          </p:cNvPr>
          <p:cNvSpPr/>
          <p:nvPr/>
        </p:nvSpPr>
        <p:spPr>
          <a:xfrm>
            <a:off x="4793672" y="1461260"/>
            <a:ext cx="683491" cy="407470"/>
          </a:xfrm>
          <a:prstGeom prst="rect">
            <a:avLst/>
          </a:prstGeom>
          <a:solidFill>
            <a:schemeClr val="accent2">
              <a:alpha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493BE-DD05-483F-BC81-B5F6273BC737}"/>
              </a:ext>
            </a:extLst>
          </p:cNvPr>
          <p:cNvSpPr/>
          <p:nvPr/>
        </p:nvSpPr>
        <p:spPr>
          <a:xfrm>
            <a:off x="2770910" y="2534165"/>
            <a:ext cx="5310909" cy="451951"/>
          </a:xfrm>
          <a:prstGeom prst="rect">
            <a:avLst/>
          </a:prstGeom>
          <a:solidFill>
            <a:schemeClr val="accent2">
              <a:alpha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Miriam Libre" panose="00000500000000000000" pitchFamily="2" charset="-79"/>
                <a:cs typeface="Miriam Libre" panose="00000500000000000000" pitchFamily="2" charset="-79"/>
              </a:rPr>
              <a:t>This loop will execute __ times</a:t>
            </a:r>
          </a:p>
        </p:txBody>
      </p:sp>
      <p:sp>
        <p:nvSpPr>
          <p:cNvPr id="12" name="TextBox 11">
            <a:extLst>
              <a:ext uri="{FF2B5EF4-FFF2-40B4-BE49-F238E27FC236}">
                <a16:creationId xmlns:a16="http://schemas.microsoft.com/office/drawing/2014/main" id="{CBFBD9F1-17DF-4A28-827C-D69053B1386E}"/>
              </a:ext>
            </a:extLst>
          </p:cNvPr>
          <p:cNvSpPr txBox="1"/>
          <p:nvPr/>
        </p:nvSpPr>
        <p:spPr>
          <a:xfrm>
            <a:off x="6359238" y="2524451"/>
            <a:ext cx="595745" cy="461665"/>
          </a:xfrm>
          <a:prstGeom prst="rect">
            <a:avLst/>
          </a:prstGeom>
          <a:noFill/>
        </p:spPr>
        <p:txBody>
          <a:bodyPr wrap="square">
            <a:spAutoFit/>
          </a:bodyPr>
          <a:lstStyle/>
          <a:p>
            <a:r>
              <a:rPr kumimoji="0" lang="en-US" sz="2400" b="1" i="0" u="none" strike="noStrike" kern="0" cap="none" spc="0" normalizeH="0" baseline="0" noProof="0" dirty="0">
                <a:ln>
                  <a:noFill/>
                </a:ln>
                <a:solidFill>
                  <a:srgbClr val="000000"/>
                </a:solidFill>
                <a:effectLst/>
                <a:uLnTx/>
                <a:uFillTx/>
                <a:latin typeface="Miriam Libre" panose="00000500000000000000" pitchFamily="2" charset="-79"/>
                <a:ea typeface="+mn-ea"/>
                <a:cs typeface="Miriam Libre" panose="00000500000000000000" pitchFamily="2" charset="-79"/>
                <a:sym typeface="Arial"/>
              </a:rPr>
              <a:t>10</a:t>
            </a:r>
            <a:endParaRPr lang="en-US" b="1" dirty="0"/>
          </a:p>
        </p:txBody>
      </p:sp>
      <p:sp>
        <p:nvSpPr>
          <p:cNvPr id="13" name="Rectangle 12">
            <a:extLst>
              <a:ext uri="{FF2B5EF4-FFF2-40B4-BE49-F238E27FC236}">
                <a16:creationId xmlns:a16="http://schemas.microsoft.com/office/drawing/2014/main" id="{55644FAF-D858-4F6A-B3AC-501345B0E931}"/>
              </a:ext>
            </a:extLst>
          </p:cNvPr>
          <p:cNvSpPr/>
          <p:nvPr/>
        </p:nvSpPr>
        <p:spPr>
          <a:xfrm>
            <a:off x="719999" y="3245706"/>
            <a:ext cx="7784163" cy="498765"/>
          </a:xfrm>
          <a:prstGeom prst="rect">
            <a:avLst/>
          </a:prstGeom>
          <a:solidFill>
            <a:schemeClr val="tx2">
              <a:alpha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Miriam Libre" panose="00000500000000000000" pitchFamily="2" charset="-79"/>
                <a:cs typeface="Miriam Libre" panose="00000500000000000000" pitchFamily="2" charset="-79"/>
              </a:rPr>
              <a:t>It will ____________________________ when executed</a:t>
            </a:r>
          </a:p>
        </p:txBody>
      </p:sp>
      <p:sp>
        <p:nvSpPr>
          <p:cNvPr id="14" name="TextBox 13">
            <a:extLst>
              <a:ext uri="{FF2B5EF4-FFF2-40B4-BE49-F238E27FC236}">
                <a16:creationId xmlns:a16="http://schemas.microsoft.com/office/drawing/2014/main" id="{E6936CDC-3E67-435F-9230-6190900B0292}"/>
              </a:ext>
            </a:extLst>
          </p:cNvPr>
          <p:cNvSpPr txBox="1"/>
          <p:nvPr/>
        </p:nvSpPr>
        <p:spPr>
          <a:xfrm>
            <a:off x="1863218" y="3245783"/>
            <a:ext cx="4636654" cy="461665"/>
          </a:xfrm>
          <a:prstGeom prst="rect">
            <a:avLst/>
          </a:prstGeom>
          <a:noFill/>
        </p:spPr>
        <p:txBody>
          <a:bodyPr wrap="square">
            <a:spAutoFit/>
          </a:bodyPr>
          <a:lstStyle/>
          <a:p>
            <a:r>
              <a:rPr lang="en-US" sz="2400" dirty="0">
                <a:latin typeface="Miriam Libre" panose="00000500000000000000" pitchFamily="2" charset="-79"/>
                <a:ea typeface="+mn-ea"/>
                <a:cs typeface="Miriam Libre" panose="00000500000000000000" pitchFamily="2" charset="-79"/>
              </a:rPr>
              <a:t>s</a:t>
            </a:r>
            <a:r>
              <a:rPr kumimoji="0" lang="en-US" sz="2400" i="0" u="none" strike="noStrike" kern="0" cap="none" spc="0" normalizeH="0" baseline="0" noProof="0" dirty="0">
                <a:ln>
                  <a:noFill/>
                </a:ln>
                <a:solidFill>
                  <a:srgbClr val="000000"/>
                </a:solidFill>
                <a:effectLst/>
                <a:uLnTx/>
                <a:uFillTx/>
                <a:latin typeface="Miriam Libre" panose="00000500000000000000" pitchFamily="2" charset="-79"/>
                <a:ea typeface="+mn-ea"/>
                <a:cs typeface="Miriam Libre" panose="00000500000000000000" pitchFamily="2" charset="-79"/>
                <a:sym typeface="Arial"/>
              </a:rPr>
              <a:t>ay</a:t>
            </a:r>
            <a:r>
              <a:rPr kumimoji="0" lang="en-US" sz="2400" b="1" i="0" u="none" strike="noStrike" kern="0" cap="none" spc="0" normalizeH="0" baseline="0" noProof="0" dirty="0">
                <a:ln>
                  <a:noFill/>
                </a:ln>
                <a:solidFill>
                  <a:srgbClr val="000000"/>
                </a:solidFill>
                <a:effectLst/>
                <a:uLnTx/>
                <a:uFillTx/>
                <a:latin typeface="Miriam Libre" panose="00000500000000000000" pitchFamily="2" charset="-79"/>
                <a:ea typeface="+mn-ea"/>
                <a:cs typeface="Miriam Libre" panose="00000500000000000000" pitchFamily="2" charset="-79"/>
                <a:sym typeface="Arial"/>
              </a:rPr>
              <a:t> </a:t>
            </a:r>
            <a:r>
              <a:rPr kumimoji="0" lang="en-US" sz="2400" b="1" i="0" u="none" strike="noStrike" kern="0" cap="none" spc="0" normalizeH="0" baseline="0" noProof="0" dirty="0">
                <a:ln>
                  <a:noFill/>
                </a:ln>
                <a:solidFill>
                  <a:schemeClr val="bg2">
                    <a:lumMod val="75000"/>
                  </a:schemeClr>
                </a:solidFill>
                <a:effectLst/>
                <a:uLnTx/>
                <a:uFillTx/>
                <a:latin typeface="Miriam Libre" panose="00000500000000000000" pitchFamily="2" charset="-79"/>
                <a:ea typeface="+mn-ea"/>
                <a:cs typeface="Miriam Libre" panose="00000500000000000000" pitchFamily="2" charset="-79"/>
                <a:sym typeface="Arial"/>
              </a:rPr>
              <a:t>All I need is within me.</a:t>
            </a:r>
            <a:endParaRPr lang="en-US" b="1" dirty="0">
              <a:solidFill>
                <a:schemeClr val="bg2">
                  <a:lumMod val="75000"/>
                </a:schemeClr>
              </a:solidFill>
            </a:endParaRPr>
          </a:p>
        </p:txBody>
      </p:sp>
      <p:sp>
        <p:nvSpPr>
          <p:cNvPr id="15" name="Rectangle 14">
            <a:extLst>
              <a:ext uri="{FF2B5EF4-FFF2-40B4-BE49-F238E27FC236}">
                <a16:creationId xmlns:a16="http://schemas.microsoft.com/office/drawing/2014/main" id="{F564CF16-CA01-4511-847B-8522E10F178B}"/>
              </a:ext>
            </a:extLst>
          </p:cNvPr>
          <p:cNvSpPr/>
          <p:nvPr/>
        </p:nvSpPr>
        <p:spPr>
          <a:xfrm>
            <a:off x="741000" y="1912406"/>
            <a:ext cx="7516310" cy="451068"/>
          </a:xfrm>
          <a:prstGeom prst="rect">
            <a:avLst/>
          </a:prstGeom>
          <a:solidFill>
            <a:schemeClr val="tx2">
              <a:alpha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Miriam Libre" panose="00000500000000000000" pitchFamily="2" charset="-79"/>
              <a:cs typeface="Miriam Libre" panose="00000500000000000000" pitchFamily="2" charset="-79"/>
            </a:endParaRPr>
          </a:p>
        </p:txBody>
      </p:sp>
      <p:sp>
        <p:nvSpPr>
          <p:cNvPr id="17" name="Rectangle 16">
            <a:extLst>
              <a:ext uri="{FF2B5EF4-FFF2-40B4-BE49-F238E27FC236}">
                <a16:creationId xmlns:a16="http://schemas.microsoft.com/office/drawing/2014/main" id="{AF5E19CE-0209-4799-ADB9-82AE5FB66358}"/>
              </a:ext>
            </a:extLst>
          </p:cNvPr>
          <p:cNvSpPr/>
          <p:nvPr/>
        </p:nvSpPr>
        <p:spPr>
          <a:xfrm>
            <a:off x="741001" y="2359155"/>
            <a:ext cx="321182" cy="451068"/>
          </a:xfrm>
          <a:prstGeom prst="rect">
            <a:avLst/>
          </a:prstGeom>
          <a:solidFill>
            <a:schemeClr val="accent4">
              <a:lumMod val="60000"/>
              <a:lumOff val="40000"/>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Miriam Libre" panose="00000500000000000000" pitchFamily="2" charset="-79"/>
              <a:cs typeface="Miriam Libre" panose="00000500000000000000" pitchFamily="2" charset="-79"/>
            </a:endParaRPr>
          </a:p>
        </p:txBody>
      </p:sp>
      <p:sp>
        <p:nvSpPr>
          <p:cNvPr id="19" name="Rectangle 18">
            <a:extLst>
              <a:ext uri="{FF2B5EF4-FFF2-40B4-BE49-F238E27FC236}">
                <a16:creationId xmlns:a16="http://schemas.microsoft.com/office/drawing/2014/main" id="{4E5D5881-05F6-4F4F-8088-DA183257A675}"/>
              </a:ext>
            </a:extLst>
          </p:cNvPr>
          <p:cNvSpPr/>
          <p:nvPr/>
        </p:nvSpPr>
        <p:spPr>
          <a:xfrm>
            <a:off x="6647656" y="1461338"/>
            <a:ext cx="321182" cy="451068"/>
          </a:xfrm>
          <a:prstGeom prst="rect">
            <a:avLst/>
          </a:prstGeom>
          <a:solidFill>
            <a:schemeClr val="accent4">
              <a:lumMod val="60000"/>
              <a:lumOff val="40000"/>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Miriam Libre" panose="00000500000000000000" pitchFamily="2" charset="-79"/>
              <a:cs typeface="Miriam Libre" panose="00000500000000000000" pitchFamily="2" charset="-79"/>
            </a:endParaRPr>
          </a:p>
        </p:txBody>
      </p:sp>
      <p:sp>
        <p:nvSpPr>
          <p:cNvPr id="20" name="Rectangle 19">
            <a:extLst>
              <a:ext uri="{FF2B5EF4-FFF2-40B4-BE49-F238E27FC236}">
                <a16:creationId xmlns:a16="http://schemas.microsoft.com/office/drawing/2014/main" id="{ED69C3EF-2000-46BF-80A8-4981E34CCB0D}"/>
              </a:ext>
            </a:extLst>
          </p:cNvPr>
          <p:cNvSpPr/>
          <p:nvPr/>
        </p:nvSpPr>
        <p:spPr>
          <a:xfrm>
            <a:off x="719998" y="3992681"/>
            <a:ext cx="7761073" cy="451068"/>
          </a:xfrm>
          <a:prstGeom prst="rect">
            <a:avLst/>
          </a:prstGeom>
          <a:solidFill>
            <a:schemeClr val="accent4">
              <a:lumMod val="60000"/>
              <a:lumOff val="40000"/>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Miriam Libre" panose="00000500000000000000" pitchFamily="2" charset="-79"/>
                <a:cs typeface="Miriam Libre" panose="00000500000000000000" pitchFamily="2" charset="-79"/>
              </a:rPr>
              <a:t>The </a:t>
            </a:r>
            <a:r>
              <a:rPr lang="en-US" sz="2400" b="1" i="1" dirty="0">
                <a:solidFill>
                  <a:schemeClr val="tx1"/>
                </a:solidFill>
                <a:latin typeface="Miriam Libre" panose="00000500000000000000" pitchFamily="2" charset="-79"/>
                <a:cs typeface="Miriam Libre" panose="00000500000000000000" pitchFamily="2" charset="-79"/>
              </a:rPr>
              <a:t>body</a:t>
            </a:r>
            <a:r>
              <a:rPr lang="en-US" sz="2400" dirty="0">
                <a:solidFill>
                  <a:schemeClr val="tx1"/>
                </a:solidFill>
                <a:latin typeface="Miriam Libre" panose="00000500000000000000" pitchFamily="2" charset="-79"/>
                <a:cs typeface="Miriam Libre" panose="00000500000000000000" pitchFamily="2" charset="-79"/>
              </a:rPr>
              <a:t> of a for loop goes between curly brackets</a:t>
            </a:r>
          </a:p>
        </p:txBody>
      </p:sp>
    </p:spTree>
    <p:extLst>
      <p:ext uri="{BB962C8B-B14F-4D97-AF65-F5344CB8AC3E}">
        <p14:creationId xmlns:p14="http://schemas.microsoft.com/office/powerpoint/2010/main" val="16767919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500"/>
                            </p:stCondLst>
                            <p:childTnLst>
                              <p:par>
                                <p:cTn id="33" presetID="10" presetClass="entr" presetSubtype="0" fill="hold" grpId="0" nodeType="afterEffect">
                                  <p:stCondLst>
                                    <p:cond delay="5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par>
                          <p:cTn id="41" fill="hold">
                            <p:stCondLst>
                              <p:cond delay="500"/>
                            </p:stCondLst>
                            <p:childTnLst>
                              <p:par>
                                <p:cTn id="42" presetID="10" presetClass="entr" presetSubtype="0" fill="hold" grpId="0" nodeType="afterEffect">
                                  <p:stCondLst>
                                    <p:cond delay="50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50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12" grpId="0"/>
      <p:bldP spid="13" grpId="0" animBg="1"/>
      <p:bldP spid="14" grpId="0"/>
      <p:bldP spid="15" grpId="0" animBg="1"/>
      <p:bldP spid="17" grpId="0" animBg="1"/>
      <p:bldP spid="19"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AE00-D688-47A2-9EC4-27032CAA4196}"/>
              </a:ext>
            </a:extLst>
          </p:cNvPr>
          <p:cNvSpPr>
            <a:spLocks noGrp="1"/>
          </p:cNvSpPr>
          <p:nvPr>
            <p:ph type="title"/>
          </p:nvPr>
        </p:nvSpPr>
        <p:spPr/>
        <p:txBody>
          <a:bodyPr/>
          <a:lstStyle/>
          <a:p>
            <a:r>
              <a:rPr lang="en-US" dirty="0"/>
              <a:t>For Loop Example: A Mantra</a:t>
            </a:r>
          </a:p>
        </p:txBody>
      </p:sp>
      <p:sp>
        <p:nvSpPr>
          <p:cNvPr id="4" name="TextBox 3">
            <a:extLst>
              <a:ext uri="{FF2B5EF4-FFF2-40B4-BE49-F238E27FC236}">
                <a16:creationId xmlns:a16="http://schemas.microsoft.com/office/drawing/2014/main" id="{80B1FB6A-D283-428B-BFA6-E277CEF509BD}"/>
              </a:ext>
            </a:extLst>
          </p:cNvPr>
          <p:cNvSpPr txBox="1"/>
          <p:nvPr/>
        </p:nvSpPr>
        <p:spPr>
          <a:xfrm>
            <a:off x="719999" y="1394691"/>
            <a:ext cx="7703999" cy="1431161"/>
          </a:xfrm>
          <a:prstGeom prst="rect">
            <a:avLst/>
          </a:prstGeom>
          <a:noFill/>
        </p:spPr>
        <p:txBody>
          <a:bodyPr wrap="square">
            <a:spAutoFit/>
          </a:bodyPr>
          <a:lstStyle/>
          <a:p>
            <a:r>
              <a:rPr lang="en-US" sz="2900" b="0" dirty="0">
                <a:solidFill>
                  <a:srgbClr val="FF16B0"/>
                </a:solidFill>
                <a:effectLst/>
                <a:latin typeface="Consolas" panose="020B0609020204030204" pitchFamily="49" charset="0"/>
              </a:rPr>
              <a:t>for</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let</a:t>
            </a:r>
            <a:r>
              <a:rPr lang="en-US" sz="2900" b="0" dirty="0">
                <a:solidFill>
                  <a:srgbClr val="3F374B"/>
                </a:solidFill>
                <a:effectLst/>
                <a:latin typeface="Consolas" panose="020B0609020204030204" pitchFamily="49" charset="0"/>
              </a:rPr>
              <a:t> </a:t>
            </a:r>
            <a:r>
              <a:rPr lang="en-US" sz="2900" b="0" dirty="0" err="1">
                <a:solidFill>
                  <a:srgbClr val="4D5EFF"/>
                </a:solidFill>
                <a:effectLst/>
                <a:latin typeface="Consolas" panose="020B0609020204030204" pitchFamily="49" charset="0"/>
              </a:rPr>
              <a:t>i</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0</a:t>
            </a:r>
            <a:r>
              <a:rPr lang="en-US" sz="2900" b="0" dirty="0">
                <a:solidFill>
                  <a:srgbClr val="3F374B"/>
                </a:solidFill>
                <a:effectLst/>
                <a:latin typeface="Consolas" panose="020B0609020204030204" pitchFamily="49" charset="0"/>
              </a:rPr>
              <a:t>; </a:t>
            </a:r>
            <a:r>
              <a:rPr lang="en-US" sz="2900" b="0" dirty="0" err="1">
                <a:solidFill>
                  <a:srgbClr val="4D5EFF"/>
                </a:solidFill>
                <a:effectLst/>
                <a:latin typeface="Consolas" panose="020B0609020204030204" pitchFamily="49" charset="0"/>
              </a:rPr>
              <a:t>i</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&lt;</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10</a:t>
            </a:r>
            <a:r>
              <a:rPr lang="en-US" sz="2900" b="0" dirty="0">
                <a:solidFill>
                  <a:srgbClr val="3F374B"/>
                </a:solidFill>
                <a:effectLst/>
                <a:latin typeface="Consolas" panose="020B0609020204030204" pitchFamily="49" charset="0"/>
              </a:rPr>
              <a:t>; </a:t>
            </a:r>
            <a:r>
              <a:rPr lang="en-US" sz="2900" b="0" dirty="0" err="1">
                <a:solidFill>
                  <a:srgbClr val="4D5EFF"/>
                </a:solidFill>
                <a:effectLst/>
                <a:latin typeface="Consolas" panose="020B0609020204030204" pitchFamily="49" charset="0"/>
              </a:rPr>
              <a:t>i</a:t>
            </a:r>
            <a:r>
              <a:rPr lang="en-US" sz="2900" b="0" dirty="0">
                <a:solidFill>
                  <a:srgbClr val="FF16B0"/>
                </a:solidFill>
                <a:effectLst/>
                <a:latin typeface="Consolas" panose="020B0609020204030204" pitchFamily="49" charset="0"/>
              </a:rPr>
              <a:t>++</a:t>
            </a:r>
            <a:r>
              <a:rPr lang="en-US" sz="2900" b="0" dirty="0">
                <a:solidFill>
                  <a:srgbClr val="3F374B"/>
                </a:solidFill>
                <a:effectLst/>
                <a:latin typeface="Consolas" panose="020B0609020204030204" pitchFamily="49" charset="0"/>
              </a:rPr>
              <a:t>) {</a:t>
            </a:r>
            <a:endParaRPr lang="en-US" sz="2900" b="0" dirty="0">
              <a:solidFill>
                <a:srgbClr val="19152C"/>
              </a:solidFill>
              <a:effectLst/>
              <a:latin typeface="Consolas" panose="020B0609020204030204" pitchFamily="49" charset="0"/>
            </a:endParaRPr>
          </a:p>
          <a:p>
            <a:r>
              <a:rPr lang="en-US" sz="2900" b="0" dirty="0">
                <a:solidFill>
                  <a:srgbClr val="3F374B"/>
                </a:solidFill>
                <a:effectLst/>
                <a:latin typeface="Consolas" panose="020B0609020204030204" pitchFamily="49" charset="0"/>
              </a:rPr>
              <a:t>  </a:t>
            </a:r>
            <a:r>
              <a:rPr lang="en-US" sz="2900" b="0" dirty="0">
                <a:solidFill>
                  <a:srgbClr val="251B50"/>
                </a:solidFill>
                <a:effectLst/>
                <a:latin typeface="Consolas" panose="020B0609020204030204" pitchFamily="49" charset="0"/>
              </a:rPr>
              <a:t>alert</a:t>
            </a:r>
            <a:r>
              <a:rPr lang="en-US" sz="2900" b="0" dirty="0">
                <a:solidFill>
                  <a:srgbClr val="3F374B"/>
                </a:solidFill>
                <a:effectLst/>
                <a:latin typeface="Consolas" panose="020B0609020204030204" pitchFamily="49" charset="0"/>
              </a:rPr>
              <a:t>(</a:t>
            </a:r>
            <a:r>
              <a:rPr lang="en-US" sz="2900" b="0" dirty="0">
                <a:solidFill>
                  <a:srgbClr val="C300FF"/>
                </a:solidFill>
                <a:effectLst/>
                <a:latin typeface="Consolas" panose="020B0609020204030204" pitchFamily="49" charset="0"/>
              </a:rPr>
              <a:t>"</a:t>
            </a:r>
            <a:r>
              <a:rPr lang="en-US" sz="2900" dirty="0">
                <a:solidFill>
                  <a:srgbClr val="C300FF"/>
                </a:solidFill>
                <a:latin typeface="Consolas" panose="020B0609020204030204" pitchFamily="49" charset="0"/>
              </a:rPr>
              <a:t>All</a:t>
            </a:r>
            <a:r>
              <a:rPr lang="en-US" sz="2900" b="0" dirty="0">
                <a:solidFill>
                  <a:srgbClr val="C300FF"/>
                </a:solidFill>
                <a:effectLst/>
                <a:latin typeface="Consolas" panose="020B0609020204030204" pitchFamily="49" charset="0"/>
              </a:rPr>
              <a:t> I need is within me."</a:t>
            </a:r>
            <a:r>
              <a:rPr lang="en-US" sz="2900" b="0" dirty="0">
                <a:solidFill>
                  <a:srgbClr val="3F374B"/>
                </a:solidFill>
                <a:effectLst/>
                <a:latin typeface="Consolas" panose="020B0609020204030204" pitchFamily="49" charset="0"/>
              </a:rPr>
              <a:t>);</a:t>
            </a:r>
            <a:endParaRPr lang="en-US" sz="2900" b="0" dirty="0">
              <a:solidFill>
                <a:srgbClr val="19152C"/>
              </a:solidFill>
              <a:effectLst/>
              <a:latin typeface="Consolas" panose="020B0609020204030204" pitchFamily="49" charset="0"/>
            </a:endParaRPr>
          </a:p>
          <a:p>
            <a:r>
              <a:rPr lang="en-US" sz="2900" b="0" dirty="0">
                <a:solidFill>
                  <a:srgbClr val="3F374B"/>
                </a:solidFill>
                <a:effectLst/>
                <a:latin typeface="Consolas" panose="020B0609020204030204" pitchFamily="49" charset="0"/>
              </a:rPr>
              <a:t>}</a:t>
            </a:r>
            <a:endParaRPr lang="en-US" sz="2900" b="0" dirty="0">
              <a:solidFill>
                <a:srgbClr val="19152C"/>
              </a:solidFill>
              <a:effectLst/>
              <a:latin typeface="Consolas" panose="020B0609020204030204" pitchFamily="49" charset="0"/>
            </a:endParaRPr>
          </a:p>
        </p:txBody>
      </p:sp>
      <p:sp>
        <p:nvSpPr>
          <p:cNvPr id="20" name="Rectangle 19">
            <a:extLst>
              <a:ext uri="{FF2B5EF4-FFF2-40B4-BE49-F238E27FC236}">
                <a16:creationId xmlns:a16="http://schemas.microsoft.com/office/drawing/2014/main" id="{ED69C3EF-2000-46BF-80A8-4981E34CCB0D}"/>
              </a:ext>
            </a:extLst>
          </p:cNvPr>
          <p:cNvSpPr/>
          <p:nvPr/>
        </p:nvSpPr>
        <p:spPr>
          <a:xfrm>
            <a:off x="719999" y="3078281"/>
            <a:ext cx="7761073" cy="451068"/>
          </a:xfrm>
          <a:prstGeom prst="rect">
            <a:avLst/>
          </a:prstGeom>
          <a:solidFill>
            <a:schemeClr val="accent3">
              <a:lumMod val="60000"/>
              <a:lumOff val="40000"/>
              <a:alpha val="2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Miriam Libre" panose="00000500000000000000" pitchFamily="2" charset="-79"/>
                <a:cs typeface="Miriam Libre" panose="00000500000000000000" pitchFamily="2" charset="-79"/>
              </a:rPr>
              <a:t>In total, what will these three lines do?</a:t>
            </a:r>
          </a:p>
        </p:txBody>
      </p:sp>
      <p:sp>
        <p:nvSpPr>
          <p:cNvPr id="16" name="Rectangle 15">
            <a:extLst>
              <a:ext uri="{FF2B5EF4-FFF2-40B4-BE49-F238E27FC236}">
                <a16:creationId xmlns:a16="http://schemas.microsoft.com/office/drawing/2014/main" id="{B1AD6E30-129C-444E-8EEA-7F512236B385}"/>
              </a:ext>
            </a:extLst>
          </p:cNvPr>
          <p:cNvSpPr/>
          <p:nvPr/>
        </p:nvSpPr>
        <p:spPr>
          <a:xfrm>
            <a:off x="719998" y="1394691"/>
            <a:ext cx="7761073" cy="1529578"/>
          </a:xfrm>
          <a:prstGeom prst="rect">
            <a:avLst/>
          </a:prstGeom>
          <a:solidFill>
            <a:schemeClr val="accent3">
              <a:lumMod val="60000"/>
              <a:lumOff val="40000"/>
              <a:alpha val="2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Miriam Libre" panose="00000500000000000000" pitchFamily="2" charset="-79"/>
              <a:cs typeface="Miriam Libre" panose="00000500000000000000" pitchFamily="2" charset="-79"/>
            </a:endParaRPr>
          </a:p>
        </p:txBody>
      </p:sp>
      <p:sp>
        <p:nvSpPr>
          <p:cNvPr id="18" name="Rectangle 17">
            <a:extLst>
              <a:ext uri="{FF2B5EF4-FFF2-40B4-BE49-F238E27FC236}">
                <a16:creationId xmlns:a16="http://schemas.microsoft.com/office/drawing/2014/main" id="{BAFE71F9-B5BF-42BB-AB18-730B4AAE8A06}"/>
              </a:ext>
            </a:extLst>
          </p:cNvPr>
          <p:cNvSpPr/>
          <p:nvPr/>
        </p:nvSpPr>
        <p:spPr>
          <a:xfrm>
            <a:off x="719997" y="3683361"/>
            <a:ext cx="7761073" cy="7618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latin typeface="Miriam Libre" panose="00000500000000000000" pitchFamily="2" charset="-79"/>
                <a:cs typeface="Miriam Libre" panose="00000500000000000000" pitchFamily="2" charset="-79"/>
              </a:rPr>
              <a:t>Display the message 10 times!</a:t>
            </a:r>
          </a:p>
        </p:txBody>
      </p:sp>
    </p:spTree>
    <p:extLst>
      <p:ext uri="{BB962C8B-B14F-4D97-AF65-F5344CB8AC3E}">
        <p14:creationId xmlns:p14="http://schemas.microsoft.com/office/powerpoint/2010/main" val="646132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1000" fill="hold"/>
                                        <p:tgtEl>
                                          <p:spTgt spid="18"/>
                                        </p:tgtEl>
                                        <p:attrNameLst>
                                          <p:attrName>ppt_w</p:attrName>
                                        </p:attrNameLst>
                                      </p:cBhvr>
                                      <p:tavLst>
                                        <p:tav tm="0">
                                          <p:val>
                                            <p:fltVal val="0"/>
                                          </p:val>
                                        </p:tav>
                                        <p:tav tm="100000">
                                          <p:val>
                                            <p:strVal val="#ppt_w"/>
                                          </p:val>
                                        </p:tav>
                                      </p:tavLst>
                                    </p:anim>
                                    <p:anim calcmode="lin" valueType="num">
                                      <p:cBhvr>
                                        <p:cTn id="13" dur="1000" fill="hold"/>
                                        <p:tgtEl>
                                          <p:spTgt spid="18"/>
                                        </p:tgtEl>
                                        <p:attrNameLst>
                                          <p:attrName>ppt_h</p:attrName>
                                        </p:attrNameLst>
                                      </p:cBhvr>
                                      <p:tavLst>
                                        <p:tav tm="0">
                                          <p:val>
                                            <p:fltVal val="0"/>
                                          </p:val>
                                        </p:tav>
                                        <p:tav tm="100000">
                                          <p:val>
                                            <p:strVal val="#ppt_h"/>
                                          </p:val>
                                        </p:tav>
                                      </p:tavLst>
                                    </p:anim>
                                    <p:animEffect transition="in" filter="fade">
                                      <p:cBhvr>
                                        <p:cTn id="14"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AE00-D688-47A2-9EC4-27032CAA4196}"/>
              </a:ext>
            </a:extLst>
          </p:cNvPr>
          <p:cNvSpPr>
            <a:spLocks noGrp="1"/>
          </p:cNvSpPr>
          <p:nvPr>
            <p:ph type="title"/>
          </p:nvPr>
        </p:nvSpPr>
        <p:spPr/>
        <p:txBody>
          <a:bodyPr/>
          <a:lstStyle/>
          <a:p>
            <a:r>
              <a:rPr lang="en-US" dirty="0"/>
              <a:t>For Loop Example: A Mantra</a:t>
            </a:r>
          </a:p>
        </p:txBody>
      </p:sp>
      <p:sp>
        <p:nvSpPr>
          <p:cNvPr id="4" name="TextBox 3">
            <a:extLst>
              <a:ext uri="{FF2B5EF4-FFF2-40B4-BE49-F238E27FC236}">
                <a16:creationId xmlns:a16="http://schemas.microsoft.com/office/drawing/2014/main" id="{80B1FB6A-D283-428B-BFA6-E277CEF509BD}"/>
              </a:ext>
            </a:extLst>
          </p:cNvPr>
          <p:cNvSpPr txBox="1"/>
          <p:nvPr/>
        </p:nvSpPr>
        <p:spPr>
          <a:xfrm>
            <a:off x="719999" y="1394691"/>
            <a:ext cx="7703999" cy="1431161"/>
          </a:xfrm>
          <a:prstGeom prst="rect">
            <a:avLst/>
          </a:prstGeom>
          <a:noFill/>
        </p:spPr>
        <p:txBody>
          <a:bodyPr wrap="square">
            <a:spAutoFit/>
          </a:bodyPr>
          <a:lstStyle/>
          <a:p>
            <a:r>
              <a:rPr lang="en-US" sz="2900" b="0" dirty="0">
                <a:solidFill>
                  <a:schemeClr val="accent5">
                    <a:lumMod val="85000"/>
                  </a:schemeClr>
                </a:solidFill>
                <a:effectLst/>
                <a:latin typeface="Consolas" panose="020B0609020204030204" pitchFamily="49" charset="0"/>
              </a:rPr>
              <a:t>for (let </a:t>
            </a:r>
            <a:r>
              <a:rPr lang="en-US" sz="2900" b="0" dirty="0" err="1">
                <a:solidFill>
                  <a:schemeClr val="accent5">
                    <a:lumMod val="85000"/>
                  </a:schemeClr>
                </a:solidFill>
                <a:effectLst/>
                <a:latin typeface="Consolas" panose="020B0609020204030204" pitchFamily="49" charset="0"/>
              </a:rPr>
              <a:t>i</a:t>
            </a:r>
            <a:r>
              <a:rPr lang="en-US" sz="2900" b="0" dirty="0">
                <a:solidFill>
                  <a:schemeClr val="accent5">
                    <a:lumMod val="85000"/>
                  </a:schemeClr>
                </a:solidFill>
                <a:effectLst/>
                <a:latin typeface="Consolas" panose="020B0609020204030204" pitchFamily="49" charset="0"/>
              </a:rPr>
              <a:t> = 0; </a:t>
            </a:r>
            <a:r>
              <a:rPr lang="en-US" sz="2900" b="0" dirty="0" err="1">
                <a:solidFill>
                  <a:schemeClr val="accent5">
                    <a:lumMod val="85000"/>
                  </a:schemeClr>
                </a:solidFill>
                <a:effectLst/>
                <a:latin typeface="Consolas" panose="020B0609020204030204" pitchFamily="49" charset="0"/>
              </a:rPr>
              <a:t>i</a:t>
            </a:r>
            <a:r>
              <a:rPr lang="en-US" sz="2900" b="0" dirty="0">
                <a:solidFill>
                  <a:schemeClr val="accent5">
                    <a:lumMod val="85000"/>
                  </a:schemeClr>
                </a:solidFill>
                <a:effectLst/>
                <a:latin typeface="Consolas" panose="020B0609020204030204" pitchFamily="49" charset="0"/>
              </a:rPr>
              <a:t> &lt; </a:t>
            </a:r>
            <a:r>
              <a:rPr lang="en-US" sz="2900" dirty="0">
                <a:solidFill>
                  <a:srgbClr val="FF16B0"/>
                </a:solidFill>
                <a:effectLst/>
                <a:latin typeface="Consolas" panose="020B0609020204030204" pitchFamily="49" charset="0"/>
              </a:rPr>
              <a:t>10</a:t>
            </a:r>
            <a:r>
              <a:rPr lang="en-US" sz="2900" b="0" dirty="0">
                <a:solidFill>
                  <a:schemeClr val="accent5">
                    <a:lumMod val="85000"/>
                  </a:schemeClr>
                </a:solidFill>
                <a:effectLst/>
                <a:latin typeface="Consolas" panose="020B0609020204030204" pitchFamily="49" charset="0"/>
              </a:rPr>
              <a:t>; </a:t>
            </a:r>
            <a:r>
              <a:rPr lang="en-US" sz="2900" b="0" dirty="0" err="1">
                <a:solidFill>
                  <a:schemeClr val="accent5">
                    <a:lumMod val="85000"/>
                  </a:schemeClr>
                </a:solidFill>
                <a:effectLst/>
                <a:latin typeface="Consolas" panose="020B0609020204030204" pitchFamily="49" charset="0"/>
              </a:rPr>
              <a:t>i</a:t>
            </a:r>
            <a:r>
              <a:rPr lang="en-US" sz="2900" b="0" dirty="0">
                <a:solidFill>
                  <a:schemeClr val="accent5">
                    <a:lumMod val="85000"/>
                  </a:schemeClr>
                </a:solidFill>
                <a:effectLst/>
                <a:latin typeface="Consolas" panose="020B0609020204030204" pitchFamily="49" charset="0"/>
              </a:rPr>
              <a:t>++) {</a:t>
            </a:r>
          </a:p>
          <a:p>
            <a:r>
              <a:rPr lang="en-US" sz="2900" b="0" dirty="0">
                <a:solidFill>
                  <a:srgbClr val="3F374B"/>
                </a:solidFill>
                <a:effectLst/>
                <a:latin typeface="Consolas" panose="020B0609020204030204" pitchFamily="49" charset="0"/>
              </a:rPr>
              <a:t>  </a:t>
            </a:r>
            <a:r>
              <a:rPr lang="en-US" sz="2900" dirty="0">
                <a:solidFill>
                  <a:srgbClr val="251B50"/>
                </a:solidFill>
                <a:effectLst/>
                <a:latin typeface="Consolas" panose="020B0609020204030204" pitchFamily="49" charset="0"/>
              </a:rPr>
              <a:t>alert</a:t>
            </a:r>
            <a:r>
              <a:rPr lang="en-US" sz="2900" dirty="0">
                <a:solidFill>
                  <a:srgbClr val="3F374B"/>
                </a:solidFill>
                <a:effectLst/>
                <a:latin typeface="Consolas" panose="020B0609020204030204" pitchFamily="49" charset="0"/>
              </a:rPr>
              <a:t>(</a:t>
            </a:r>
            <a:r>
              <a:rPr lang="en-US" sz="2900" dirty="0">
                <a:solidFill>
                  <a:srgbClr val="C300FF"/>
                </a:solidFill>
                <a:effectLst/>
                <a:latin typeface="Consolas" panose="020B0609020204030204" pitchFamily="49" charset="0"/>
              </a:rPr>
              <a:t>"</a:t>
            </a:r>
            <a:r>
              <a:rPr lang="en-US" sz="2900" dirty="0">
                <a:solidFill>
                  <a:srgbClr val="C300FF"/>
                </a:solidFill>
                <a:latin typeface="Consolas" panose="020B0609020204030204" pitchFamily="49" charset="0"/>
              </a:rPr>
              <a:t>All</a:t>
            </a:r>
            <a:r>
              <a:rPr lang="en-US" sz="2900" dirty="0">
                <a:solidFill>
                  <a:srgbClr val="C300FF"/>
                </a:solidFill>
                <a:effectLst/>
                <a:latin typeface="Consolas" panose="020B0609020204030204" pitchFamily="49" charset="0"/>
              </a:rPr>
              <a:t> I need is within me."</a:t>
            </a:r>
            <a:r>
              <a:rPr lang="en-US" sz="2900" dirty="0">
                <a:solidFill>
                  <a:srgbClr val="3F374B"/>
                </a:solidFill>
                <a:effectLst/>
                <a:latin typeface="Consolas" panose="020B0609020204030204" pitchFamily="49" charset="0"/>
              </a:rPr>
              <a:t>);</a:t>
            </a:r>
            <a:endParaRPr lang="en-US" sz="2900" dirty="0">
              <a:solidFill>
                <a:srgbClr val="19152C"/>
              </a:solidFill>
              <a:effectLst/>
              <a:latin typeface="Consolas" panose="020B0609020204030204" pitchFamily="49" charset="0"/>
            </a:endParaRPr>
          </a:p>
          <a:p>
            <a:r>
              <a:rPr lang="en-US" sz="2900" b="0" dirty="0">
                <a:solidFill>
                  <a:schemeClr val="accent5">
                    <a:lumMod val="85000"/>
                  </a:schemeClr>
                </a:solidFill>
                <a:effectLst/>
                <a:latin typeface="Consolas" panose="020B0609020204030204" pitchFamily="49" charset="0"/>
              </a:rPr>
              <a:t>}</a:t>
            </a:r>
          </a:p>
        </p:txBody>
      </p:sp>
    </p:spTree>
    <p:extLst>
      <p:ext uri="{BB962C8B-B14F-4D97-AF65-F5344CB8AC3E}">
        <p14:creationId xmlns:p14="http://schemas.microsoft.com/office/powerpoint/2010/main" val="31952430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AE00-D688-47A2-9EC4-27032CAA4196}"/>
              </a:ext>
            </a:extLst>
          </p:cNvPr>
          <p:cNvSpPr>
            <a:spLocks noGrp="1"/>
          </p:cNvSpPr>
          <p:nvPr>
            <p:ph type="title"/>
          </p:nvPr>
        </p:nvSpPr>
        <p:spPr/>
        <p:txBody>
          <a:bodyPr/>
          <a:lstStyle/>
          <a:p>
            <a:r>
              <a:rPr lang="en-US" dirty="0"/>
              <a:t>For Loop Example: A Mantra</a:t>
            </a:r>
          </a:p>
        </p:txBody>
      </p:sp>
      <p:sp>
        <p:nvSpPr>
          <p:cNvPr id="4" name="TextBox 3">
            <a:extLst>
              <a:ext uri="{FF2B5EF4-FFF2-40B4-BE49-F238E27FC236}">
                <a16:creationId xmlns:a16="http://schemas.microsoft.com/office/drawing/2014/main" id="{80B1FB6A-D283-428B-BFA6-E277CEF509BD}"/>
              </a:ext>
            </a:extLst>
          </p:cNvPr>
          <p:cNvSpPr txBox="1"/>
          <p:nvPr/>
        </p:nvSpPr>
        <p:spPr>
          <a:xfrm>
            <a:off x="719999" y="1394691"/>
            <a:ext cx="7703999" cy="1431161"/>
          </a:xfrm>
          <a:prstGeom prst="rect">
            <a:avLst/>
          </a:prstGeom>
          <a:noFill/>
        </p:spPr>
        <p:txBody>
          <a:bodyPr wrap="square">
            <a:spAutoFit/>
          </a:bodyPr>
          <a:lstStyle/>
          <a:p>
            <a:r>
              <a:rPr lang="en-US" sz="2900" b="0" dirty="0">
                <a:solidFill>
                  <a:srgbClr val="FF16B0"/>
                </a:solidFill>
                <a:effectLst/>
                <a:latin typeface="Consolas" panose="020B0609020204030204" pitchFamily="49" charset="0"/>
              </a:rPr>
              <a:t>for</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let</a:t>
            </a:r>
            <a:r>
              <a:rPr lang="en-US" sz="2900" b="0" dirty="0">
                <a:solidFill>
                  <a:srgbClr val="3F374B"/>
                </a:solidFill>
                <a:effectLst/>
                <a:latin typeface="Consolas" panose="020B0609020204030204" pitchFamily="49" charset="0"/>
              </a:rPr>
              <a:t> </a:t>
            </a:r>
            <a:r>
              <a:rPr lang="en-US" sz="2900" b="0" dirty="0" err="1">
                <a:solidFill>
                  <a:srgbClr val="4D5EFF"/>
                </a:solidFill>
                <a:effectLst/>
                <a:latin typeface="Consolas" panose="020B0609020204030204" pitchFamily="49" charset="0"/>
              </a:rPr>
              <a:t>i</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0</a:t>
            </a:r>
            <a:r>
              <a:rPr lang="en-US" sz="2900" b="0" dirty="0">
                <a:solidFill>
                  <a:srgbClr val="3F374B"/>
                </a:solidFill>
                <a:effectLst/>
                <a:latin typeface="Consolas" panose="020B0609020204030204" pitchFamily="49" charset="0"/>
              </a:rPr>
              <a:t>; </a:t>
            </a:r>
            <a:r>
              <a:rPr lang="en-US" sz="2900" b="0" dirty="0" err="1">
                <a:solidFill>
                  <a:srgbClr val="4D5EFF"/>
                </a:solidFill>
                <a:effectLst/>
                <a:latin typeface="Consolas" panose="020B0609020204030204" pitchFamily="49" charset="0"/>
              </a:rPr>
              <a:t>i</a:t>
            </a:r>
            <a:r>
              <a:rPr lang="en-US" sz="2900" b="0" dirty="0">
                <a:solidFill>
                  <a:srgbClr val="3F374B"/>
                </a:solidFill>
                <a:effectLst/>
                <a:latin typeface="Consolas" panose="020B0609020204030204" pitchFamily="49" charset="0"/>
              </a:rPr>
              <a:t> </a:t>
            </a:r>
            <a:r>
              <a:rPr lang="en-US" sz="2900" b="0" dirty="0">
                <a:solidFill>
                  <a:srgbClr val="FF16B0"/>
                </a:solidFill>
                <a:effectLst/>
                <a:latin typeface="Consolas" panose="020B0609020204030204" pitchFamily="49" charset="0"/>
              </a:rPr>
              <a:t>&lt;</a:t>
            </a:r>
            <a:r>
              <a:rPr lang="en-US" sz="2900" b="0" dirty="0">
                <a:solidFill>
                  <a:srgbClr val="3F374B"/>
                </a:solidFill>
                <a:effectLst/>
                <a:latin typeface="Consolas" panose="020B0609020204030204" pitchFamily="49" charset="0"/>
              </a:rPr>
              <a:t> </a:t>
            </a:r>
            <a:r>
              <a:rPr lang="en-US" sz="2900" b="0" dirty="0">
                <a:solidFill>
                  <a:schemeClr val="accent5">
                    <a:lumMod val="85000"/>
                  </a:schemeClr>
                </a:solidFill>
                <a:effectLst/>
                <a:latin typeface="Consolas" panose="020B0609020204030204" pitchFamily="49" charset="0"/>
              </a:rPr>
              <a:t>10</a:t>
            </a:r>
            <a:r>
              <a:rPr lang="en-US" sz="2900" b="0" dirty="0">
                <a:solidFill>
                  <a:srgbClr val="3F374B"/>
                </a:solidFill>
                <a:effectLst/>
                <a:latin typeface="Consolas" panose="020B0609020204030204" pitchFamily="49" charset="0"/>
              </a:rPr>
              <a:t>; </a:t>
            </a:r>
            <a:r>
              <a:rPr lang="en-US" sz="2900" b="0" dirty="0" err="1">
                <a:solidFill>
                  <a:srgbClr val="4D5EFF"/>
                </a:solidFill>
                <a:effectLst/>
                <a:latin typeface="Consolas" panose="020B0609020204030204" pitchFamily="49" charset="0"/>
              </a:rPr>
              <a:t>i</a:t>
            </a:r>
            <a:r>
              <a:rPr lang="en-US" sz="2900" b="0" dirty="0">
                <a:solidFill>
                  <a:srgbClr val="FF16B0"/>
                </a:solidFill>
                <a:effectLst/>
                <a:latin typeface="Consolas" panose="020B0609020204030204" pitchFamily="49" charset="0"/>
              </a:rPr>
              <a:t>++</a:t>
            </a:r>
            <a:r>
              <a:rPr lang="en-US" sz="2900" b="0" dirty="0">
                <a:solidFill>
                  <a:srgbClr val="3F374B"/>
                </a:solidFill>
                <a:effectLst/>
                <a:latin typeface="Consolas" panose="020B0609020204030204" pitchFamily="49" charset="0"/>
              </a:rPr>
              <a:t>) {</a:t>
            </a:r>
            <a:endParaRPr lang="en-US" sz="2900" b="0" dirty="0">
              <a:solidFill>
                <a:srgbClr val="19152C"/>
              </a:solidFill>
              <a:effectLst/>
              <a:latin typeface="Consolas" panose="020B0609020204030204" pitchFamily="49" charset="0"/>
            </a:endParaRPr>
          </a:p>
          <a:p>
            <a:r>
              <a:rPr lang="en-US" sz="2900" b="0" dirty="0">
                <a:solidFill>
                  <a:srgbClr val="3F374B"/>
                </a:solidFill>
                <a:effectLst/>
                <a:latin typeface="Consolas" panose="020B0609020204030204" pitchFamily="49" charset="0"/>
              </a:rPr>
              <a:t>  </a:t>
            </a:r>
            <a:r>
              <a:rPr lang="en-US" sz="2900" b="0" dirty="0">
                <a:solidFill>
                  <a:schemeClr val="accent5">
                    <a:lumMod val="85000"/>
                  </a:schemeClr>
                </a:solidFill>
                <a:effectLst/>
                <a:latin typeface="Consolas" panose="020B0609020204030204" pitchFamily="49" charset="0"/>
              </a:rPr>
              <a:t>alert("</a:t>
            </a:r>
            <a:r>
              <a:rPr lang="en-US" sz="2900" dirty="0">
                <a:solidFill>
                  <a:schemeClr val="accent5">
                    <a:lumMod val="85000"/>
                  </a:schemeClr>
                </a:solidFill>
                <a:latin typeface="Consolas" panose="020B0609020204030204" pitchFamily="49" charset="0"/>
              </a:rPr>
              <a:t>All</a:t>
            </a:r>
            <a:r>
              <a:rPr lang="en-US" sz="2900" b="0" dirty="0">
                <a:solidFill>
                  <a:schemeClr val="accent5">
                    <a:lumMod val="85000"/>
                  </a:schemeClr>
                </a:solidFill>
                <a:effectLst/>
                <a:latin typeface="Consolas" panose="020B0609020204030204" pitchFamily="49" charset="0"/>
              </a:rPr>
              <a:t> I need is within me.");</a:t>
            </a:r>
          </a:p>
          <a:p>
            <a:r>
              <a:rPr lang="en-US" sz="2900" b="0" dirty="0">
                <a:solidFill>
                  <a:srgbClr val="3F374B"/>
                </a:solidFill>
                <a:effectLst/>
                <a:latin typeface="Consolas" panose="020B0609020204030204" pitchFamily="49" charset="0"/>
              </a:rPr>
              <a:t>}</a:t>
            </a:r>
            <a:endParaRPr lang="en-US" sz="2900" b="0" dirty="0">
              <a:solidFill>
                <a:srgbClr val="19152C"/>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753493BE-DD05-483F-BC81-B5F6273BC737}"/>
              </a:ext>
            </a:extLst>
          </p:cNvPr>
          <p:cNvSpPr/>
          <p:nvPr/>
        </p:nvSpPr>
        <p:spPr>
          <a:xfrm>
            <a:off x="1991762" y="2462006"/>
            <a:ext cx="6432236" cy="860830"/>
          </a:xfrm>
          <a:prstGeom prst="rect">
            <a:avLst/>
          </a:prstGeom>
          <a:solidFill>
            <a:schemeClr val="accent4">
              <a:lumMod val="60000"/>
              <a:lumOff val="40000"/>
              <a:alpha val="2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Miriam Libre" panose="00000500000000000000" pitchFamily="2" charset="-79"/>
                <a:cs typeface="Miriam Libre" panose="00000500000000000000" pitchFamily="2" charset="-79"/>
              </a:rPr>
              <a:t>This is all </a:t>
            </a:r>
            <a:r>
              <a:rPr lang="en-US" sz="2400" b="1" i="1" dirty="0">
                <a:solidFill>
                  <a:schemeClr val="tx1"/>
                </a:solidFill>
                <a:latin typeface="Miriam Libre" panose="00000500000000000000" pitchFamily="2" charset="-79"/>
                <a:cs typeface="Miriam Libre" panose="00000500000000000000" pitchFamily="2" charset="-79"/>
              </a:rPr>
              <a:t>boiler-plate</a:t>
            </a:r>
            <a:r>
              <a:rPr lang="en-US" sz="2400" dirty="0">
                <a:solidFill>
                  <a:schemeClr val="tx1"/>
                </a:solidFill>
                <a:latin typeface="Miriam Libre" panose="00000500000000000000" pitchFamily="2" charset="-79"/>
                <a:cs typeface="Miriam Libre" panose="00000500000000000000" pitchFamily="2" charset="-79"/>
              </a:rPr>
              <a:t> code – it can look </a:t>
            </a:r>
            <a:r>
              <a:rPr lang="en-US" sz="2400" u="sng" dirty="0">
                <a:solidFill>
                  <a:schemeClr val="tx1"/>
                </a:solidFill>
                <a:latin typeface="Miriam Libre" panose="00000500000000000000" pitchFamily="2" charset="-79"/>
                <a:cs typeface="Miriam Libre" panose="00000500000000000000" pitchFamily="2" charset="-79"/>
              </a:rPr>
              <a:t>exactly the same</a:t>
            </a:r>
            <a:r>
              <a:rPr lang="en-US" sz="2400" dirty="0">
                <a:solidFill>
                  <a:schemeClr val="tx1"/>
                </a:solidFill>
                <a:latin typeface="Miriam Libre" panose="00000500000000000000" pitchFamily="2" charset="-79"/>
                <a:cs typeface="Miriam Libre" panose="00000500000000000000" pitchFamily="2" charset="-79"/>
              </a:rPr>
              <a:t> every time you write it</a:t>
            </a:r>
          </a:p>
        </p:txBody>
      </p:sp>
    </p:spTree>
    <p:extLst>
      <p:ext uri="{BB962C8B-B14F-4D97-AF65-F5344CB8AC3E}">
        <p14:creationId xmlns:p14="http://schemas.microsoft.com/office/powerpoint/2010/main" val="11443581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AE00-D688-47A2-9EC4-27032CAA4196}"/>
              </a:ext>
            </a:extLst>
          </p:cNvPr>
          <p:cNvSpPr>
            <a:spLocks noGrp="1"/>
          </p:cNvSpPr>
          <p:nvPr>
            <p:ph type="title"/>
          </p:nvPr>
        </p:nvSpPr>
        <p:spPr/>
        <p:txBody>
          <a:bodyPr/>
          <a:lstStyle/>
          <a:p>
            <a:r>
              <a:rPr lang="en-US" dirty="0"/>
              <a:t>For Loop Example: A Mantra</a:t>
            </a:r>
          </a:p>
        </p:txBody>
      </p:sp>
      <p:sp>
        <p:nvSpPr>
          <p:cNvPr id="4" name="TextBox 3">
            <a:extLst>
              <a:ext uri="{FF2B5EF4-FFF2-40B4-BE49-F238E27FC236}">
                <a16:creationId xmlns:a16="http://schemas.microsoft.com/office/drawing/2014/main" id="{80B1FB6A-D283-428B-BFA6-E277CEF509BD}"/>
              </a:ext>
            </a:extLst>
          </p:cNvPr>
          <p:cNvSpPr txBox="1"/>
          <p:nvPr/>
        </p:nvSpPr>
        <p:spPr>
          <a:xfrm>
            <a:off x="719999" y="1394691"/>
            <a:ext cx="7703999" cy="1431161"/>
          </a:xfrm>
          <a:prstGeom prst="rect">
            <a:avLst/>
          </a:prstGeom>
          <a:noFill/>
        </p:spPr>
        <p:txBody>
          <a:bodyPr wrap="square">
            <a:spAutoFit/>
          </a:bodyPr>
          <a:lstStyle/>
          <a:p>
            <a:r>
              <a:rPr lang="en-US" sz="2900" b="1" dirty="0">
                <a:solidFill>
                  <a:srgbClr val="FF16B0"/>
                </a:solidFill>
                <a:effectLst/>
                <a:latin typeface="Consolas" panose="020B0609020204030204" pitchFamily="49" charset="0"/>
              </a:rPr>
              <a:t>for</a:t>
            </a:r>
            <a:r>
              <a:rPr lang="en-US" sz="2900" b="1" dirty="0">
                <a:solidFill>
                  <a:srgbClr val="3F374B"/>
                </a:solidFill>
                <a:effectLst/>
                <a:latin typeface="Consolas" panose="020B0609020204030204" pitchFamily="49" charset="0"/>
              </a:rPr>
              <a:t> (</a:t>
            </a:r>
            <a:r>
              <a:rPr lang="en-US" sz="2900" b="1" dirty="0">
                <a:solidFill>
                  <a:srgbClr val="FF16B0"/>
                </a:solidFill>
                <a:effectLst/>
                <a:latin typeface="Consolas" panose="020B0609020204030204" pitchFamily="49" charset="0"/>
              </a:rPr>
              <a:t>let</a:t>
            </a:r>
            <a:r>
              <a:rPr lang="en-US" sz="2900" b="1" dirty="0">
                <a:solidFill>
                  <a:srgbClr val="3F374B"/>
                </a:solidFill>
                <a:effectLst/>
                <a:latin typeface="Consolas" panose="020B0609020204030204" pitchFamily="49" charset="0"/>
              </a:rPr>
              <a:t> </a:t>
            </a:r>
            <a:r>
              <a:rPr lang="en-US" sz="2900" b="1" dirty="0" err="1">
                <a:solidFill>
                  <a:srgbClr val="4D5EFF"/>
                </a:solidFill>
                <a:effectLst/>
                <a:latin typeface="Consolas" panose="020B0609020204030204" pitchFamily="49" charset="0"/>
              </a:rPr>
              <a:t>i</a:t>
            </a:r>
            <a:r>
              <a:rPr lang="en-US" sz="2900" b="1" dirty="0">
                <a:solidFill>
                  <a:srgbClr val="3F374B"/>
                </a:solidFill>
                <a:effectLst/>
                <a:latin typeface="Consolas" panose="020B0609020204030204" pitchFamily="49" charset="0"/>
              </a:rPr>
              <a:t> </a:t>
            </a:r>
            <a:r>
              <a:rPr lang="en-US" sz="2900" b="1" dirty="0">
                <a:solidFill>
                  <a:srgbClr val="FF16B0"/>
                </a:solidFill>
                <a:effectLst/>
                <a:latin typeface="Consolas" panose="020B0609020204030204" pitchFamily="49" charset="0"/>
              </a:rPr>
              <a:t>=</a:t>
            </a:r>
            <a:r>
              <a:rPr lang="en-US" sz="2900" b="1" dirty="0">
                <a:solidFill>
                  <a:srgbClr val="3F374B"/>
                </a:solidFill>
                <a:effectLst/>
                <a:latin typeface="Consolas" panose="020B0609020204030204" pitchFamily="49" charset="0"/>
              </a:rPr>
              <a:t> </a:t>
            </a:r>
            <a:r>
              <a:rPr lang="en-US" sz="2900" b="1" dirty="0">
                <a:solidFill>
                  <a:srgbClr val="FF16B0"/>
                </a:solidFill>
                <a:effectLst/>
                <a:latin typeface="Consolas" panose="020B0609020204030204" pitchFamily="49" charset="0"/>
              </a:rPr>
              <a:t>0</a:t>
            </a:r>
            <a:r>
              <a:rPr lang="en-US" sz="2900" b="1" dirty="0">
                <a:solidFill>
                  <a:srgbClr val="3F374B"/>
                </a:solidFill>
                <a:effectLst/>
                <a:latin typeface="Consolas" panose="020B0609020204030204" pitchFamily="49" charset="0"/>
              </a:rPr>
              <a:t>; </a:t>
            </a:r>
            <a:r>
              <a:rPr lang="en-US" sz="2900" b="1" dirty="0" err="1">
                <a:solidFill>
                  <a:srgbClr val="4D5EFF"/>
                </a:solidFill>
                <a:effectLst/>
                <a:latin typeface="Consolas" panose="020B0609020204030204" pitchFamily="49" charset="0"/>
              </a:rPr>
              <a:t>i</a:t>
            </a:r>
            <a:r>
              <a:rPr lang="en-US" sz="2900" b="1" dirty="0">
                <a:solidFill>
                  <a:srgbClr val="3F374B"/>
                </a:solidFill>
                <a:effectLst/>
                <a:latin typeface="Consolas" panose="020B0609020204030204" pitchFamily="49" charset="0"/>
              </a:rPr>
              <a:t> </a:t>
            </a:r>
            <a:r>
              <a:rPr lang="en-US" sz="2900" b="1" dirty="0">
                <a:solidFill>
                  <a:srgbClr val="FF16B0"/>
                </a:solidFill>
                <a:effectLst/>
                <a:latin typeface="Consolas" panose="020B0609020204030204" pitchFamily="49" charset="0"/>
              </a:rPr>
              <a:t>&lt;</a:t>
            </a:r>
            <a:r>
              <a:rPr lang="en-US" sz="2900" b="1" dirty="0">
                <a:solidFill>
                  <a:srgbClr val="3F374B"/>
                </a:solidFill>
                <a:effectLst/>
                <a:latin typeface="Consolas" panose="020B0609020204030204" pitchFamily="49" charset="0"/>
              </a:rPr>
              <a:t> </a:t>
            </a:r>
            <a:r>
              <a:rPr lang="en-US" sz="2900" b="1" dirty="0">
                <a:solidFill>
                  <a:schemeClr val="accent5"/>
                </a:solidFill>
                <a:effectLst/>
                <a:latin typeface="Consolas" panose="020B0609020204030204" pitchFamily="49" charset="0"/>
              </a:rPr>
              <a:t>10</a:t>
            </a:r>
            <a:r>
              <a:rPr lang="en-US" sz="2900" b="1" dirty="0">
                <a:solidFill>
                  <a:srgbClr val="3F374B"/>
                </a:solidFill>
                <a:effectLst/>
                <a:latin typeface="Consolas" panose="020B0609020204030204" pitchFamily="49" charset="0"/>
              </a:rPr>
              <a:t>; </a:t>
            </a:r>
            <a:r>
              <a:rPr lang="en-US" sz="2900" b="1" dirty="0" err="1">
                <a:solidFill>
                  <a:srgbClr val="4D5EFF"/>
                </a:solidFill>
                <a:effectLst/>
                <a:latin typeface="Consolas" panose="020B0609020204030204" pitchFamily="49" charset="0"/>
              </a:rPr>
              <a:t>i</a:t>
            </a:r>
            <a:r>
              <a:rPr lang="en-US" sz="2900" b="1" dirty="0">
                <a:solidFill>
                  <a:srgbClr val="FF16B0"/>
                </a:solidFill>
                <a:effectLst/>
                <a:latin typeface="Consolas" panose="020B0609020204030204" pitchFamily="49" charset="0"/>
              </a:rPr>
              <a:t>++</a:t>
            </a:r>
            <a:r>
              <a:rPr lang="en-US" sz="2900" b="1" dirty="0">
                <a:solidFill>
                  <a:srgbClr val="3F374B"/>
                </a:solidFill>
                <a:effectLst/>
                <a:latin typeface="Consolas" panose="020B0609020204030204" pitchFamily="49" charset="0"/>
              </a:rPr>
              <a:t>) {</a:t>
            </a:r>
            <a:endParaRPr lang="en-US" sz="2900" b="1" dirty="0">
              <a:solidFill>
                <a:srgbClr val="19152C"/>
              </a:solidFill>
              <a:effectLst/>
              <a:latin typeface="Consolas" panose="020B0609020204030204" pitchFamily="49" charset="0"/>
            </a:endParaRPr>
          </a:p>
          <a:p>
            <a:r>
              <a:rPr lang="en-US" sz="2900" b="1" dirty="0">
                <a:solidFill>
                  <a:srgbClr val="3F374B"/>
                </a:solidFill>
                <a:effectLst/>
                <a:latin typeface="Consolas" panose="020B0609020204030204" pitchFamily="49" charset="0"/>
              </a:rPr>
              <a:t>  </a:t>
            </a:r>
            <a:r>
              <a:rPr lang="en-US" sz="2900" b="1" dirty="0">
                <a:solidFill>
                  <a:schemeClr val="accent5"/>
                </a:solidFill>
                <a:effectLst/>
                <a:latin typeface="Consolas" panose="020B0609020204030204" pitchFamily="49" charset="0"/>
              </a:rPr>
              <a:t>alert("</a:t>
            </a:r>
            <a:r>
              <a:rPr lang="en-US" sz="2900" b="1" dirty="0">
                <a:solidFill>
                  <a:schemeClr val="accent5"/>
                </a:solidFill>
                <a:latin typeface="Consolas" panose="020B0609020204030204" pitchFamily="49" charset="0"/>
              </a:rPr>
              <a:t>All</a:t>
            </a:r>
            <a:r>
              <a:rPr lang="en-US" sz="2900" b="1" dirty="0">
                <a:solidFill>
                  <a:schemeClr val="accent5"/>
                </a:solidFill>
                <a:effectLst/>
                <a:latin typeface="Consolas" panose="020B0609020204030204" pitchFamily="49" charset="0"/>
              </a:rPr>
              <a:t> I need is within me.");</a:t>
            </a:r>
          </a:p>
          <a:p>
            <a:r>
              <a:rPr lang="en-US" sz="2900" b="1" dirty="0">
                <a:solidFill>
                  <a:srgbClr val="3F374B"/>
                </a:solidFill>
                <a:effectLst/>
                <a:latin typeface="Consolas" panose="020B0609020204030204" pitchFamily="49" charset="0"/>
              </a:rPr>
              <a:t>}</a:t>
            </a:r>
            <a:endParaRPr lang="en-US" sz="2900" b="1" dirty="0">
              <a:solidFill>
                <a:srgbClr val="19152C"/>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753493BE-DD05-483F-BC81-B5F6273BC737}"/>
              </a:ext>
            </a:extLst>
          </p:cNvPr>
          <p:cNvSpPr/>
          <p:nvPr/>
        </p:nvSpPr>
        <p:spPr>
          <a:xfrm>
            <a:off x="1991762" y="2462006"/>
            <a:ext cx="6432236" cy="860830"/>
          </a:xfrm>
          <a:prstGeom prst="rect">
            <a:avLst/>
          </a:prstGeom>
          <a:solidFill>
            <a:schemeClr val="accent4">
              <a:lumMod val="60000"/>
              <a:lumOff val="40000"/>
              <a:alpha val="2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Miriam Libre" panose="00000500000000000000" pitchFamily="2" charset="-79"/>
                <a:cs typeface="Miriam Libre" panose="00000500000000000000" pitchFamily="2" charset="-79"/>
              </a:rPr>
              <a:t>This is all </a:t>
            </a:r>
            <a:r>
              <a:rPr lang="en-US" sz="2400" b="1" i="1" dirty="0">
                <a:solidFill>
                  <a:schemeClr val="tx1"/>
                </a:solidFill>
                <a:latin typeface="Miriam Libre" panose="00000500000000000000" pitchFamily="2" charset="-79"/>
                <a:cs typeface="Miriam Libre" panose="00000500000000000000" pitchFamily="2" charset="-79"/>
              </a:rPr>
              <a:t>boiler-plate</a:t>
            </a:r>
            <a:r>
              <a:rPr lang="en-US" sz="2400" dirty="0">
                <a:solidFill>
                  <a:schemeClr val="tx1"/>
                </a:solidFill>
                <a:latin typeface="Miriam Libre" panose="00000500000000000000" pitchFamily="2" charset="-79"/>
                <a:cs typeface="Miriam Libre" panose="00000500000000000000" pitchFamily="2" charset="-79"/>
              </a:rPr>
              <a:t> code – it can look </a:t>
            </a:r>
            <a:r>
              <a:rPr lang="en-US" sz="2400" u="sng" dirty="0">
                <a:solidFill>
                  <a:schemeClr val="tx1"/>
                </a:solidFill>
                <a:latin typeface="Miriam Libre" panose="00000500000000000000" pitchFamily="2" charset="-79"/>
                <a:cs typeface="Miriam Libre" panose="00000500000000000000" pitchFamily="2" charset="-79"/>
              </a:rPr>
              <a:t>exactly the same</a:t>
            </a:r>
            <a:r>
              <a:rPr lang="en-US" sz="2400" dirty="0">
                <a:solidFill>
                  <a:schemeClr val="tx1"/>
                </a:solidFill>
                <a:latin typeface="Miriam Libre" panose="00000500000000000000" pitchFamily="2" charset="-79"/>
                <a:cs typeface="Miriam Libre" panose="00000500000000000000" pitchFamily="2" charset="-79"/>
              </a:rPr>
              <a:t> every time you write it</a:t>
            </a:r>
          </a:p>
        </p:txBody>
      </p:sp>
      <p:sp>
        <p:nvSpPr>
          <p:cNvPr id="8" name="Rectangle 7">
            <a:extLst>
              <a:ext uri="{FF2B5EF4-FFF2-40B4-BE49-F238E27FC236}">
                <a16:creationId xmlns:a16="http://schemas.microsoft.com/office/drawing/2014/main" id="{3BF06FA4-88A8-443B-AC4F-6E6F1DE97694}"/>
              </a:ext>
            </a:extLst>
          </p:cNvPr>
          <p:cNvSpPr/>
          <p:nvPr/>
        </p:nvSpPr>
        <p:spPr>
          <a:xfrm>
            <a:off x="719998" y="3529321"/>
            <a:ext cx="7703999" cy="860830"/>
          </a:xfrm>
          <a:prstGeom prst="rect">
            <a:avLst/>
          </a:prstGeom>
          <a:solidFill>
            <a:schemeClr val="accent1">
              <a:alpha val="2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900" dirty="0">
                <a:solidFill>
                  <a:schemeClr val="tx1"/>
                </a:solidFill>
                <a:latin typeface="Miriam Libre" panose="00000500000000000000" pitchFamily="2" charset="-79"/>
                <a:cs typeface="Miriam Libre" panose="00000500000000000000" pitchFamily="2" charset="-79"/>
              </a:rPr>
              <a:t>For simple loops, just memorize this part!</a:t>
            </a:r>
          </a:p>
        </p:txBody>
      </p:sp>
      <p:cxnSp>
        <p:nvCxnSpPr>
          <p:cNvPr id="5" name="Straight Arrow Connector 4">
            <a:extLst>
              <a:ext uri="{FF2B5EF4-FFF2-40B4-BE49-F238E27FC236}">
                <a16:creationId xmlns:a16="http://schemas.microsoft.com/office/drawing/2014/main" id="{29C024FE-F9C0-41D4-88D5-56474AF50954}"/>
              </a:ext>
            </a:extLst>
          </p:cNvPr>
          <p:cNvCxnSpPr/>
          <p:nvPr/>
        </p:nvCxnSpPr>
        <p:spPr>
          <a:xfrm flipV="1">
            <a:off x="1430448" y="2055137"/>
            <a:ext cx="0" cy="1474184"/>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52826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AE00-D688-47A2-9EC4-27032CAA4196}"/>
              </a:ext>
            </a:extLst>
          </p:cNvPr>
          <p:cNvSpPr>
            <a:spLocks noGrp="1"/>
          </p:cNvSpPr>
          <p:nvPr>
            <p:ph type="title"/>
          </p:nvPr>
        </p:nvSpPr>
        <p:spPr/>
        <p:txBody>
          <a:bodyPr/>
          <a:lstStyle/>
          <a:p>
            <a:r>
              <a:rPr lang="en-US" dirty="0"/>
              <a:t>For Loop Example: A Mantra</a:t>
            </a:r>
          </a:p>
        </p:txBody>
      </p:sp>
      <p:sp>
        <p:nvSpPr>
          <p:cNvPr id="6" name="Rectangle 5">
            <a:extLst>
              <a:ext uri="{FF2B5EF4-FFF2-40B4-BE49-F238E27FC236}">
                <a16:creationId xmlns:a16="http://schemas.microsoft.com/office/drawing/2014/main" id="{753493BE-DD05-483F-BC81-B5F6273BC737}"/>
              </a:ext>
            </a:extLst>
          </p:cNvPr>
          <p:cNvSpPr/>
          <p:nvPr/>
        </p:nvSpPr>
        <p:spPr>
          <a:xfrm>
            <a:off x="720000" y="1430448"/>
            <a:ext cx="7704000" cy="3096285"/>
          </a:xfrm>
          <a:prstGeom prst="rect">
            <a:avLst/>
          </a:prstGeom>
          <a:solidFill>
            <a:srgbClr val="00B1F0"/>
          </a:solidFill>
          <a:ln>
            <a:solidFill>
              <a:srgbClr val="008E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accent2">
                    <a:lumMod val="40000"/>
                    <a:lumOff val="60000"/>
                  </a:schemeClr>
                </a:solidFill>
                <a:latin typeface="Miriam Libre" panose="00000500000000000000" pitchFamily="2" charset="-79"/>
                <a:cs typeface="Miriam Libre" panose="00000500000000000000" pitchFamily="2" charset="-79"/>
                <a:hlinkClick r:id="rId3">
                  <a:extLst>
                    <a:ext uri="{A12FA001-AC4F-418D-AE19-62706E023703}">
                      <ahyp:hlinkClr xmlns:ahyp="http://schemas.microsoft.com/office/drawing/2018/hyperlinkcolor" val="tx"/>
                    </a:ext>
                  </a:extLst>
                </a:hlinkClick>
              </a:rPr>
              <a:t>https://jsfiddle.net/t6rpyqfe/</a:t>
            </a:r>
            <a:endParaRPr lang="en-US" sz="6000" dirty="0">
              <a:solidFill>
                <a:schemeClr val="accent2">
                  <a:lumMod val="40000"/>
                  <a:lumOff val="60000"/>
                </a:schemeClr>
              </a:solidFill>
              <a:latin typeface="Miriam Libre" panose="00000500000000000000" pitchFamily="2" charset="-79"/>
              <a:cs typeface="Miriam Libre" panose="00000500000000000000" pitchFamily="2" charset="-79"/>
            </a:endParaRPr>
          </a:p>
        </p:txBody>
      </p:sp>
    </p:spTree>
    <p:extLst>
      <p:ext uri="{BB962C8B-B14F-4D97-AF65-F5344CB8AC3E}">
        <p14:creationId xmlns:p14="http://schemas.microsoft.com/office/powerpoint/2010/main" val="41188731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Breaking Down the Boiler-Plate</a:t>
            </a:r>
          </a:p>
        </p:txBody>
      </p:sp>
      <p:sp>
        <p:nvSpPr>
          <p:cNvPr id="6" name="TextBox 5">
            <a:extLst>
              <a:ext uri="{FF2B5EF4-FFF2-40B4-BE49-F238E27FC236}">
                <a16:creationId xmlns:a16="http://schemas.microsoft.com/office/drawing/2014/main" id="{0B15D75A-89AC-4382-8B17-4730DC6DA8D7}"/>
              </a:ext>
            </a:extLst>
          </p:cNvPr>
          <p:cNvSpPr txBox="1"/>
          <p:nvPr/>
        </p:nvSpPr>
        <p:spPr>
          <a:xfrm>
            <a:off x="845921" y="1400590"/>
            <a:ext cx="7452157" cy="21236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400" b="0" i="0" u="none" strike="noStrike" kern="0" cap="none" spc="0" normalizeH="0" baseline="0" noProof="0" dirty="0">
                <a:ln>
                  <a:noFill/>
                </a:ln>
                <a:solidFill>
                  <a:schemeClr val="accent5">
                    <a:lumMod val="85000"/>
                  </a:schemeClr>
                </a:solidFill>
                <a:effectLst/>
                <a:uLnTx/>
                <a:uFillTx/>
                <a:latin typeface="Consolas" panose="020B0609020204030204" pitchFamily="49" charset="0"/>
                <a:cs typeface="Arial"/>
                <a:sym typeface="Arial"/>
              </a:rPr>
              <a:t>for (</a:t>
            </a:r>
            <a:r>
              <a:rPr kumimoji="0" lang="en-US" sz="4400" b="1" i="1" u="none" strike="noStrike" kern="0" cap="none" spc="0" normalizeH="0" baseline="0" noProof="0" dirty="0" err="1">
                <a:ln>
                  <a:noFill/>
                </a:ln>
                <a:solidFill>
                  <a:srgbClr val="AA2FE6"/>
                </a:solidFill>
                <a:effectLst/>
                <a:uLnTx/>
                <a:uFillTx/>
                <a:latin typeface="Consolas" panose="020B0609020204030204" pitchFamily="49" charset="0"/>
                <a:cs typeface="Arial"/>
                <a:sym typeface="Arial"/>
              </a:rPr>
              <a:t>init</a:t>
            </a:r>
            <a:r>
              <a:rPr kumimoji="0" lang="en-US" sz="4400" b="0" i="0" u="none" strike="noStrike" kern="0" cap="none" spc="0" normalizeH="0" baseline="0" noProof="0" dirty="0">
                <a:ln>
                  <a:noFill/>
                </a:ln>
                <a:solidFill>
                  <a:schemeClr val="accent5">
                    <a:lumMod val="85000"/>
                  </a:schemeClr>
                </a:solidFill>
                <a:effectLst/>
                <a:uLnTx/>
                <a:uFillTx/>
                <a:latin typeface="Consolas" panose="020B0609020204030204" pitchFamily="49" charset="0"/>
                <a:cs typeface="Arial"/>
                <a:sym typeface="Arial"/>
              </a:rPr>
              <a:t>;</a:t>
            </a:r>
            <a:r>
              <a:rPr kumimoji="0" lang="en-US" sz="4400" b="0" i="0" u="none" strike="noStrike" kern="0" cap="none" spc="0" normalizeH="0" baseline="0" noProof="0" dirty="0">
                <a:ln>
                  <a:noFill/>
                </a:ln>
                <a:solidFill>
                  <a:srgbClr val="3F374B"/>
                </a:solidFill>
                <a:effectLst/>
                <a:uLnTx/>
                <a:uFillTx/>
                <a:latin typeface="Consolas" panose="020B0609020204030204" pitchFamily="49" charset="0"/>
                <a:cs typeface="Arial"/>
                <a:sym typeface="Arial"/>
              </a:rPr>
              <a:t> </a:t>
            </a:r>
            <a:r>
              <a:rPr kumimoji="0" lang="en-US" sz="4400" b="1" i="1" u="none" strike="noStrike" kern="0" cap="none" spc="0" normalizeH="0" baseline="0" noProof="0" dirty="0" err="1">
                <a:ln>
                  <a:noFill/>
                </a:ln>
                <a:solidFill>
                  <a:srgbClr val="FFA27A"/>
                </a:solidFill>
                <a:effectLst/>
                <a:uLnTx/>
                <a:uFillTx/>
                <a:latin typeface="Consolas" panose="020B0609020204030204" pitchFamily="49" charset="0"/>
                <a:cs typeface="Arial"/>
                <a:sym typeface="Arial"/>
              </a:rPr>
              <a:t>cond</a:t>
            </a:r>
            <a:r>
              <a:rPr kumimoji="0" lang="en-US" sz="4400" b="0" i="0" u="none" strike="noStrike" kern="0" cap="none" spc="0" normalizeH="0" baseline="0" noProof="0" dirty="0">
                <a:ln>
                  <a:noFill/>
                </a:ln>
                <a:solidFill>
                  <a:schemeClr val="accent5">
                    <a:lumMod val="85000"/>
                  </a:schemeClr>
                </a:solidFill>
                <a:effectLst/>
                <a:uLnTx/>
                <a:uFillTx/>
                <a:latin typeface="Consolas" panose="020B0609020204030204" pitchFamily="49" charset="0"/>
                <a:cs typeface="Arial"/>
                <a:sym typeface="Arial"/>
              </a:rPr>
              <a:t>;</a:t>
            </a:r>
            <a:r>
              <a:rPr kumimoji="0" lang="en-US" sz="4400" b="0" i="0" u="none" strike="noStrike" kern="0" cap="none" spc="0" normalizeH="0" baseline="0" noProof="0" dirty="0">
                <a:ln>
                  <a:noFill/>
                </a:ln>
                <a:solidFill>
                  <a:srgbClr val="3F374B"/>
                </a:solidFill>
                <a:effectLst/>
                <a:uLnTx/>
                <a:uFillTx/>
                <a:latin typeface="Consolas" panose="020B0609020204030204" pitchFamily="49" charset="0"/>
                <a:cs typeface="Arial"/>
                <a:sym typeface="Arial"/>
              </a:rPr>
              <a:t> </a:t>
            </a:r>
            <a:r>
              <a:rPr kumimoji="0" lang="en-US" sz="4400" b="1" i="1" u="none" strike="noStrike" kern="0" cap="none" spc="0" normalizeH="0" baseline="0" noProof="0" dirty="0" err="1">
                <a:ln>
                  <a:noFill/>
                </a:ln>
                <a:solidFill>
                  <a:srgbClr val="FFDF6D">
                    <a:lumMod val="75000"/>
                  </a:srgbClr>
                </a:solidFill>
                <a:effectLst/>
                <a:uLnTx/>
                <a:uFillTx/>
                <a:latin typeface="Consolas" panose="020B0609020204030204" pitchFamily="49" charset="0"/>
                <a:cs typeface="Arial"/>
                <a:sym typeface="Arial"/>
              </a:rPr>
              <a:t>inc</a:t>
            </a:r>
            <a:r>
              <a:rPr kumimoji="0" lang="en-US" sz="4400" b="0" i="0" u="none" strike="noStrike" kern="0" cap="none" spc="0" normalizeH="0" baseline="0" noProof="0" dirty="0">
                <a:ln>
                  <a:noFill/>
                </a:ln>
                <a:solidFill>
                  <a:schemeClr val="accent5">
                    <a:lumMod val="85000"/>
                  </a:schemeClr>
                </a:solidFill>
                <a:effectLst/>
                <a:uLnTx/>
                <a:uFillTx/>
                <a:latin typeface="Consolas" panose="020B0609020204030204" pitchFamily="49" charset="0"/>
                <a:cs typeface="Arial"/>
                <a:sym typeface="Arial"/>
              </a:rPr>
              <a:t>)</a:t>
            </a:r>
            <a:r>
              <a:rPr kumimoji="0" lang="en-US" sz="4400" b="0" i="0" u="none" strike="noStrike" kern="0" cap="none" spc="0" normalizeH="0" baseline="0" noProof="0" dirty="0">
                <a:ln>
                  <a:noFill/>
                </a:ln>
                <a:solidFill>
                  <a:srgbClr val="3F374B"/>
                </a:solidFill>
                <a:effectLst/>
                <a:uLnTx/>
                <a:uFillTx/>
                <a:latin typeface="Consolas" panose="020B0609020204030204" pitchFamily="49" charset="0"/>
                <a:cs typeface="Arial"/>
                <a:sym typeface="Arial"/>
              </a:rPr>
              <a:t> </a:t>
            </a:r>
            <a:r>
              <a:rPr kumimoji="0" lang="en-US" sz="4400" i="0" u="none" strike="noStrike" kern="0" cap="none" spc="0" normalizeH="0" baseline="0" noProof="0" dirty="0">
                <a:ln>
                  <a:noFill/>
                </a:ln>
                <a:solidFill>
                  <a:schemeClr val="accent5">
                    <a:lumMod val="85000"/>
                  </a:schemeClr>
                </a:solidFill>
                <a:effectLst/>
                <a:uLnTx/>
                <a:uFillTx/>
                <a:latin typeface="Consolas" panose="020B0609020204030204" pitchFamily="49" charset="0"/>
                <a:cs typeface="Arial"/>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400" b="1" i="0" u="none" strike="noStrike" kern="0" cap="none" spc="0" normalizeH="0" baseline="0" noProof="0" dirty="0">
                <a:ln>
                  <a:noFill/>
                </a:ln>
                <a:solidFill>
                  <a:srgbClr val="3F374B"/>
                </a:solidFill>
                <a:effectLst/>
                <a:uLnTx/>
                <a:uFillTx/>
                <a:latin typeface="Consolas" panose="020B0609020204030204" pitchFamily="49" charset="0"/>
                <a:cs typeface="Arial"/>
                <a:sym typeface="Arial"/>
              </a:rPr>
              <a:t> </a:t>
            </a:r>
            <a:r>
              <a:rPr kumimoji="0" lang="en-US" sz="1800" b="1" i="0" u="none" strike="noStrike" kern="0" cap="none" spc="0" normalizeH="0" baseline="0" noProof="0" dirty="0">
                <a:ln>
                  <a:noFill/>
                </a:ln>
                <a:solidFill>
                  <a:srgbClr val="3F374B"/>
                </a:solidFill>
                <a:effectLst/>
                <a:uLnTx/>
                <a:uFillTx/>
                <a:latin typeface="Consolas" panose="020B0609020204030204" pitchFamily="49" charset="0"/>
                <a:cs typeface="Arial"/>
                <a:sym typeface="Arial"/>
              </a:rPr>
              <a:t> </a:t>
            </a:r>
            <a:r>
              <a:rPr kumimoji="0" lang="en-US" sz="4400" b="1" i="1" u="none" strike="noStrike" kern="0" cap="none" spc="0" normalizeH="0" baseline="0" noProof="0" dirty="0">
                <a:ln>
                  <a:noFill/>
                </a:ln>
                <a:solidFill>
                  <a:srgbClr val="24069D"/>
                </a:solidFill>
                <a:effectLst/>
                <a:uLnTx/>
                <a:uFillTx/>
                <a:latin typeface="Consolas" panose="020B0609020204030204" pitchFamily="49" charset="0"/>
                <a:cs typeface="Arial"/>
                <a:sym typeface="Arial"/>
              </a:rPr>
              <a:t>body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400" i="0" u="none" strike="noStrike" kern="0" cap="none" spc="0" normalizeH="0" baseline="0" noProof="0" dirty="0">
                <a:ln>
                  <a:noFill/>
                </a:ln>
                <a:solidFill>
                  <a:schemeClr val="accent5">
                    <a:lumMod val="85000"/>
                  </a:schemeClr>
                </a:solidFill>
                <a:effectLst/>
                <a:uLnTx/>
                <a:uFillTx/>
                <a:latin typeface="Consolas" panose="020B0609020204030204" pitchFamily="49" charset="0"/>
                <a:cs typeface="Arial"/>
                <a:sym typeface="Arial"/>
              </a:rPr>
              <a:t>}</a:t>
            </a:r>
          </a:p>
        </p:txBody>
      </p:sp>
      <p:sp>
        <p:nvSpPr>
          <p:cNvPr id="8" name="TextBox 7">
            <a:extLst>
              <a:ext uri="{FF2B5EF4-FFF2-40B4-BE49-F238E27FC236}">
                <a16:creationId xmlns:a16="http://schemas.microsoft.com/office/drawing/2014/main" id="{11D31603-2A49-49E3-9577-4E4243E7E03C}"/>
              </a:ext>
            </a:extLst>
          </p:cNvPr>
          <p:cNvSpPr txBox="1"/>
          <p:nvPr/>
        </p:nvSpPr>
        <p:spPr>
          <a:xfrm>
            <a:off x="546652" y="4066139"/>
            <a:ext cx="8050695" cy="523220"/>
          </a:xfrm>
          <a:prstGeom prst="rect">
            <a:avLst/>
          </a:prstGeom>
          <a:noFill/>
        </p:spPr>
        <p:txBody>
          <a:bodyPr wrap="square">
            <a:spAutoFit/>
          </a:bodyPr>
          <a:lstStyle/>
          <a:p>
            <a:r>
              <a:rPr lang="en-US" sz="2800" dirty="0">
                <a:solidFill>
                  <a:srgbClr val="FF16B0"/>
                </a:solidFill>
                <a:effectLst/>
                <a:latin typeface="Consolas" panose="020B0609020204030204" pitchFamily="49" charset="0"/>
              </a:rPr>
              <a:t>for</a:t>
            </a:r>
            <a:r>
              <a:rPr lang="en-US" sz="2800" dirty="0">
                <a:solidFill>
                  <a:srgbClr val="3F374B"/>
                </a:solidFill>
                <a:effectLst/>
                <a:latin typeface="Consolas" panose="020B0609020204030204" pitchFamily="49" charset="0"/>
              </a:rPr>
              <a:t> (</a:t>
            </a:r>
            <a:r>
              <a:rPr lang="en-US" sz="2800" dirty="0">
                <a:solidFill>
                  <a:srgbClr val="FF16B0"/>
                </a:solidFill>
                <a:effectLst/>
                <a:latin typeface="Consolas" panose="020B0609020204030204" pitchFamily="49" charset="0"/>
              </a:rPr>
              <a:t>let</a:t>
            </a:r>
            <a:r>
              <a:rPr lang="en-US" sz="2800" dirty="0">
                <a:solidFill>
                  <a:srgbClr val="3F374B"/>
                </a:solidFill>
                <a:effectLst/>
                <a:latin typeface="Consolas" panose="020B0609020204030204" pitchFamily="49" charset="0"/>
              </a:rPr>
              <a:t> </a:t>
            </a:r>
            <a:r>
              <a:rPr lang="en-US" sz="2800" dirty="0" err="1">
                <a:solidFill>
                  <a:srgbClr val="4D5EFF"/>
                </a:solidFill>
                <a:effectLst/>
                <a:latin typeface="Consolas" panose="020B0609020204030204" pitchFamily="49" charset="0"/>
              </a:rPr>
              <a:t>i</a:t>
            </a:r>
            <a:r>
              <a:rPr lang="en-US" sz="2800" dirty="0">
                <a:solidFill>
                  <a:srgbClr val="FF16B0"/>
                </a:solidFill>
                <a:effectLst/>
                <a:latin typeface="Consolas" panose="020B0609020204030204" pitchFamily="49" charset="0"/>
              </a:rPr>
              <a:t>=</a:t>
            </a:r>
            <a:r>
              <a:rPr lang="en-US" sz="2800" dirty="0">
                <a:solidFill>
                  <a:schemeClr val="accent1"/>
                </a:solidFill>
                <a:effectLst/>
                <a:latin typeface="Consolas" panose="020B0609020204030204" pitchFamily="49" charset="0"/>
              </a:rPr>
              <a:t>0</a:t>
            </a:r>
            <a:r>
              <a:rPr lang="en-US" sz="2800" dirty="0">
                <a:solidFill>
                  <a:srgbClr val="3F374B"/>
                </a:solidFill>
                <a:effectLst/>
                <a:latin typeface="Consolas" panose="020B0609020204030204" pitchFamily="49" charset="0"/>
              </a:rPr>
              <a:t>; </a:t>
            </a:r>
            <a:r>
              <a:rPr lang="en-US" sz="2800" dirty="0" err="1">
                <a:solidFill>
                  <a:srgbClr val="4D5EFF"/>
                </a:solidFill>
                <a:effectLst/>
                <a:latin typeface="Consolas" panose="020B0609020204030204" pitchFamily="49" charset="0"/>
              </a:rPr>
              <a:t>i</a:t>
            </a:r>
            <a:r>
              <a:rPr lang="en-US" sz="2800" dirty="0">
                <a:solidFill>
                  <a:srgbClr val="FF16B0"/>
                </a:solidFill>
                <a:effectLst/>
                <a:latin typeface="Consolas" panose="020B0609020204030204" pitchFamily="49" charset="0"/>
              </a:rPr>
              <a:t>&lt;</a:t>
            </a:r>
            <a:r>
              <a:rPr lang="en-US" sz="2800" dirty="0">
                <a:solidFill>
                  <a:schemeClr val="accent1"/>
                </a:solidFill>
                <a:effectLst/>
                <a:latin typeface="Consolas" panose="020B0609020204030204" pitchFamily="49" charset="0"/>
              </a:rPr>
              <a:t>1</a:t>
            </a:r>
            <a:r>
              <a:rPr lang="en-US" sz="2800" dirty="0">
                <a:solidFill>
                  <a:srgbClr val="3F374B"/>
                </a:solidFill>
                <a:effectLst/>
                <a:latin typeface="Consolas" panose="020B0609020204030204" pitchFamily="49" charset="0"/>
              </a:rPr>
              <a:t>; </a:t>
            </a:r>
            <a:r>
              <a:rPr lang="en-US" sz="2800" dirty="0" err="1">
                <a:solidFill>
                  <a:srgbClr val="4D5EFF"/>
                </a:solidFill>
                <a:effectLst/>
                <a:latin typeface="Consolas" panose="020B0609020204030204" pitchFamily="49" charset="0"/>
              </a:rPr>
              <a:t>i</a:t>
            </a:r>
            <a:r>
              <a:rPr lang="en-US" sz="2800" dirty="0">
                <a:solidFill>
                  <a:srgbClr val="FF16B0"/>
                </a:solidFill>
                <a:effectLst/>
                <a:latin typeface="Consolas" panose="020B0609020204030204" pitchFamily="49" charset="0"/>
              </a:rPr>
              <a:t>++</a:t>
            </a:r>
            <a:r>
              <a:rPr lang="en-US" sz="2800" dirty="0">
                <a:solidFill>
                  <a:srgbClr val="3F374B"/>
                </a:solidFill>
                <a:effectLst/>
                <a:latin typeface="Consolas" panose="020B0609020204030204" pitchFamily="49" charset="0"/>
              </a:rPr>
              <a:t>) { </a:t>
            </a:r>
            <a:r>
              <a:rPr lang="en-US" sz="2800" dirty="0">
                <a:solidFill>
                  <a:srgbClr val="251B50"/>
                </a:solidFill>
                <a:effectLst/>
                <a:latin typeface="Consolas" panose="020B0609020204030204" pitchFamily="49" charset="0"/>
              </a:rPr>
              <a:t>alert</a:t>
            </a:r>
            <a:r>
              <a:rPr lang="en-US" sz="2800" dirty="0">
                <a:solidFill>
                  <a:srgbClr val="3F374B"/>
                </a:solidFill>
                <a:effectLst/>
                <a:latin typeface="Consolas" panose="020B0609020204030204" pitchFamily="49" charset="0"/>
              </a:rPr>
              <a:t>(</a:t>
            </a:r>
            <a:r>
              <a:rPr lang="en-US" sz="2800" dirty="0">
                <a:solidFill>
                  <a:srgbClr val="C300FF"/>
                </a:solidFill>
                <a:effectLst/>
                <a:latin typeface="Consolas" panose="020B0609020204030204" pitchFamily="49" charset="0"/>
              </a:rPr>
              <a:t>"</a:t>
            </a:r>
            <a:r>
              <a:rPr lang="en-US" sz="2800" dirty="0">
                <a:solidFill>
                  <a:srgbClr val="C300FF"/>
                </a:solidFill>
                <a:latin typeface="Consolas" panose="020B0609020204030204" pitchFamily="49" charset="0"/>
              </a:rPr>
              <a:t>hi</a:t>
            </a:r>
            <a:r>
              <a:rPr lang="en-US" sz="2800" dirty="0">
                <a:solidFill>
                  <a:srgbClr val="C300FF"/>
                </a:solidFill>
                <a:effectLst/>
                <a:latin typeface="Consolas" panose="020B0609020204030204" pitchFamily="49" charset="0"/>
              </a:rPr>
              <a:t>"</a:t>
            </a:r>
            <a:r>
              <a:rPr lang="en-US" sz="2800" dirty="0">
                <a:solidFill>
                  <a:srgbClr val="3F374B"/>
                </a:solidFill>
                <a:effectLst/>
                <a:latin typeface="Consolas" panose="020B0609020204030204" pitchFamily="49" charset="0"/>
              </a:rPr>
              <a:t>); }</a:t>
            </a:r>
            <a:endParaRPr lang="en-US" sz="2800" dirty="0">
              <a:solidFill>
                <a:srgbClr val="19152C"/>
              </a:solidFill>
              <a:effectLst/>
              <a:latin typeface="Consolas" panose="020B0609020204030204" pitchFamily="49" charset="0"/>
            </a:endParaRPr>
          </a:p>
        </p:txBody>
      </p:sp>
      <p:cxnSp>
        <p:nvCxnSpPr>
          <p:cNvPr id="10" name="Straight Arrow Connector 9">
            <a:extLst>
              <a:ext uri="{FF2B5EF4-FFF2-40B4-BE49-F238E27FC236}">
                <a16:creationId xmlns:a16="http://schemas.microsoft.com/office/drawing/2014/main" id="{C88D9005-F450-4A61-92D2-1C044027E373}"/>
              </a:ext>
            </a:extLst>
          </p:cNvPr>
          <p:cNvCxnSpPr>
            <a:cxnSpLocks/>
          </p:cNvCxnSpPr>
          <p:nvPr/>
        </p:nvCxnSpPr>
        <p:spPr>
          <a:xfrm flipV="1">
            <a:off x="2569267" y="2109425"/>
            <a:ext cx="611805" cy="1956715"/>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3CF5558-6D3D-40F2-ADF4-F06AB2BA2340}"/>
              </a:ext>
            </a:extLst>
          </p:cNvPr>
          <p:cNvCxnSpPr>
            <a:cxnSpLocks/>
          </p:cNvCxnSpPr>
          <p:nvPr/>
        </p:nvCxnSpPr>
        <p:spPr>
          <a:xfrm flipV="1">
            <a:off x="3707296" y="2109425"/>
            <a:ext cx="1197122" cy="1956714"/>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6746405-6451-4C74-8E78-90233D65367F}"/>
              </a:ext>
            </a:extLst>
          </p:cNvPr>
          <p:cNvCxnSpPr>
            <a:cxnSpLocks/>
          </p:cNvCxnSpPr>
          <p:nvPr/>
        </p:nvCxnSpPr>
        <p:spPr>
          <a:xfrm flipV="1">
            <a:off x="4740419" y="2109425"/>
            <a:ext cx="1789590" cy="195671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A802DF6-D582-4B2A-8C22-9E8331D7D029}"/>
              </a:ext>
            </a:extLst>
          </p:cNvPr>
          <p:cNvCxnSpPr>
            <a:cxnSpLocks/>
          </p:cNvCxnSpPr>
          <p:nvPr/>
        </p:nvCxnSpPr>
        <p:spPr>
          <a:xfrm flipH="1" flipV="1">
            <a:off x="2643809" y="2571750"/>
            <a:ext cx="4094922" cy="1555284"/>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B6C431A-A093-41F7-BDD1-52D8620C2401}"/>
              </a:ext>
            </a:extLst>
          </p:cNvPr>
          <p:cNvSpPr/>
          <p:nvPr/>
        </p:nvSpPr>
        <p:spPr>
          <a:xfrm>
            <a:off x="3181072" y="970178"/>
            <a:ext cx="556592" cy="523220"/>
          </a:xfrm>
          <a:prstGeom prst="ellipse">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solidFill>
                <a:latin typeface="Miriam Libre" panose="00000500000000000000" pitchFamily="2" charset="-79"/>
                <a:cs typeface="Miriam Libre" panose="00000500000000000000" pitchFamily="2" charset="-79"/>
              </a:rPr>
              <a:t>1</a:t>
            </a:r>
            <a:endParaRPr lang="en-US" b="1" dirty="0">
              <a:solidFill>
                <a:schemeClr val="bg2"/>
              </a:solidFill>
              <a:latin typeface="Miriam Libre" panose="00000500000000000000" pitchFamily="2" charset="-79"/>
              <a:cs typeface="Miriam Libre" panose="00000500000000000000" pitchFamily="2" charset="-79"/>
            </a:endParaRPr>
          </a:p>
        </p:txBody>
      </p:sp>
      <p:sp>
        <p:nvSpPr>
          <p:cNvPr id="27" name="Oval 26">
            <a:extLst>
              <a:ext uri="{FF2B5EF4-FFF2-40B4-BE49-F238E27FC236}">
                <a16:creationId xmlns:a16="http://schemas.microsoft.com/office/drawing/2014/main" id="{38B36C3E-AA98-4475-AA2F-1CC1D4CBE771}"/>
              </a:ext>
            </a:extLst>
          </p:cNvPr>
          <p:cNvSpPr/>
          <p:nvPr/>
        </p:nvSpPr>
        <p:spPr>
          <a:xfrm>
            <a:off x="4691270" y="1000625"/>
            <a:ext cx="556592" cy="52322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1"/>
                </a:solidFill>
                <a:latin typeface="Miriam Libre" panose="00000500000000000000" pitchFamily="2" charset="-79"/>
                <a:cs typeface="Miriam Libre" panose="00000500000000000000" pitchFamily="2" charset="-79"/>
              </a:rPr>
              <a:t>2</a:t>
            </a:r>
            <a:endParaRPr lang="en-US" b="1" dirty="0">
              <a:solidFill>
                <a:schemeClr val="accent1"/>
              </a:solidFill>
              <a:latin typeface="Miriam Libre" panose="00000500000000000000" pitchFamily="2" charset="-79"/>
              <a:cs typeface="Miriam Libre" panose="00000500000000000000" pitchFamily="2" charset="-79"/>
            </a:endParaRPr>
          </a:p>
        </p:txBody>
      </p:sp>
      <p:sp>
        <p:nvSpPr>
          <p:cNvPr id="28" name="Oval 27">
            <a:extLst>
              <a:ext uri="{FF2B5EF4-FFF2-40B4-BE49-F238E27FC236}">
                <a16:creationId xmlns:a16="http://schemas.microsoft.com/office/drawing/2014/main" id="{125B7A5B-8534-4C48-9843-4FD2C1F8A345}"/>
              </a:ext>
            </a:extLst>
          </p:cNvPr>
          <p:cNvSpPr/>
          <p:nvPr/>
        </p:nvSpPr>
        <p:spPr>
          <a:xfrm>
            <a:off x="1382635" y="2746071"/>
            <a:ext cx="556592" cy="523220"/>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4"/>
                </a:solidFill>
                <a:latin typeface="Miriam Libre" panose="00000500000000000000" pitchFamily="2" charset="-79"/>
                <a:cs typeface="Miriam Libre" panose="00000500000000000000" pitchFamily="2" charset="-79"/>
              </a:rPr>
              <a:t>3</a:t>
            </a:r>
            <a:endParaRPr lang="en-US" b="1" dirty="0">
              <a:solidFill>
                <a:schemeClr val="accent4"/>
              </a:solidFill>
              <a:latin typeface="Miriam Libre" panose="00000500000000000000" pitchFamily="2" charset="-79"/>
              <a:cs typeface="Miriam Libre" panose="00000500000000000000" pitchFamily="2" charset="-79"/>
            </a:endParaRPr>
          </a:p>
        </p:txBody>
      </p:sp>
      <p:sp>
        <p:nvSpPr>
          <p:cNvPr id="29" name="Oval 28">
            <a:extLst>
              <a:ext uri="{FF2B5EF4-FFF2-40B4-BE49-F238E27FC236}">
                <a16:creationId xmlns:a16="http://schemas.microsoft.com/office/drawing/2014/main" id="{34976D78-73B4-4B76-A282-07BE53C4349B}"/>
              </a:ext>
            </a:extLst>
          </p:cNvPr>
          <p:cNvSpPr/>
          <p:nvPr/>
        </p:nvSpPr>
        <p:spPr>
          <a:xfrm>
            <a:off x="6683516" y="2146696"/>
            <a:ext cx="556592" cy="523220"/>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2"/>
                </a:solidFill>
                <a:latin typeface="Miriam Libre" panose="00000500000000000000" pitchFamily="2" charset="-79"/>
                <a:cs typeface="Miriam Libre" panose="00000500000000000000" pitchFamily="2" charset="-79"/>
              </a:rPr>
              <a:t>4</a:t>
            </a:r>
            <a:endParaRPr lang="en-US" b="1" dirty="0">
              <a:solidFill>
                <a:schemeClr val="accent2"/>
              </a:solidFill>
              <a:latin typeface="Miriam Libre" panose="00000500000000000000" pitchFamily="2" charset="-79"/>
              <a:cs typeface="Miriam Libre" panose="00000500000000000000" pitchFamily="2" charset="-79"/>
            </a:endParaRPr>
          </a:p>
        </p:txBody>
      </p:sp>
      <p:sp>
        <p:nvSpPr>
          <p:cNvPr id="30" name="Oval 29">
            <a:extLst>
              <a:ext uri="{FF2B5EF4-FFF2-40B4-BE49-F238E27FC236}">
                <a16:creationId xmlns:a16="http://schemas.microsoft.com/office/drawing/2014/main" id="{3DE85BE5-1CC3-43D0-8F59-15C19C079703}"/>
              </a:ext>
            </a:extLst>
          </p:cNvPr>
          <p:cNvSpPr/>
          <p:nvPr/>
        </p:nvSpPr>
        <p:spPr>
          <a:xfrm>
            <a:off x="5057925" y="2112582"/>
            <a:ext cx="556592" cy="52322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1"/>
                </a:solidFill>
                <a:latin typeface="Miriam Libre" panose="00000500000000000000" pitchFamily="2" charset="-79"/>
                <a:cs typeface="Miriam Libre" panose="00000500000000000000" pitchFamily="2" charset="-79"/>
              </a:rPr>
              <a:t>5</a:t>
            </a:r>
            <a:endParaRPr lang="en-US" b="1" dirty="0">
              <a:solidFill>
                <a:schemeClr val="accent1"/>
              </a:solidFill>
              <a:latin typeface="Miriam Libre" panose="00000500000000000000" pitchFamily="2" charset="-79"/>
              <a:cs typeface="Miriam Libre" panose="00000500000000000000" pitchFamily="2" charset="-79"/>
            </a:endParaRPr>
          </a:p>
        </p:txBody>
      </p:sp>
    </p:spTree>
    <p:extLst>
      <p:ext uri="{BB962C8B-B14F-4D97-AF65-F5344CB8AC3E}">
        <p14:creationId xmlns:p14="http://schemas.microsoft.com/office/powerpoint/2010/main" val="27157272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6" presetClass="emph" presetSubtype="0" fill="hold" grpId="1" nodeType="clickEffect">
                                  <p:stCondLst>
                                    <p:cond delay="0"/>
                                  </p:stCondLst>
                                  <p:childTnLst>
                                    <p:animEffect transition="out" filter="fade">
                                      <p:cBhvr>
                                        <p:cTn id="51" dur="500" tmFilter="0, 0; .2, .5; .8, .5; 1, 0"/>
                                        <p:tgtEl>
                                          <p:spTgt spid="28"/>
                                        </p:tgtEl>
                                      </p:cBhvr>
                                    </p:animEffect>
                                    <p:animScale>
                                      <p:cBhvr>
                                        <p:cTn id="52" dur="250" autoRev="1" fill="hold"/>
                                        <p:tgtEl>
                                          <p:spTgt spid="28"/>
                                        </p:tgtEl>
                                      </p:cBhvr>
                                      <p:by x="105000" y="105000"/>
                                    </p:animScale>
                                  </p:childTnLst>
                                </p:cTn>
                              </p:par>
                            </p:childTnLst>
                          </p:cTn>
                        </p:par>
                        <p:par>
                          <p:cTn id="53" fill="hold">
                            <p:stCondLst>
                              <p:cond delay="500"/>
                            </p:stCondLst>
                            <p:childTnLst>
                              <p:par>
                                <p:cTn id="54" presetID="26" presetClass="emph" presetSubtype="0" fill="hold" grpId="2" nodeType="afterEffect">
                                  <p:stCondLst>
                                    <p:cond delay="0"/>
                                  </p:stCondLst>
                                  <p:childTnLst>
                                    <p:animEffect transition="out" filter="fade">
                                      <p:cBhvr>
                                        <p:cTn id="55" dur="500" tmFilter="0, 0; .2, .5; .8, .5; 1, 0"/>
                                        <p:tgtEl>
                                          <p:spTgt spid="28"/>
                                        </p:tgtEl>
                                      </p:cBhvr>
                                    </p:animEffect>
                                    <p:animScale>
                                      <p:cBhvr>
                                        <p:cTn id="56" dur="250" autoRev="1" fill="hold"/>
                                        <p:tgtEl>
                                          <p:spTgt spid="28"/>
                                        </p:tgtEl>
                                      </p:cBhvr>
                                      <p:by x="105000" y="105000"/>
                                    </p:animScale>
                                  </p:childTnLst>
                                </p:cTn>
                              </p:par>
                            </p:childTnLst>
                          </p:cTn>
                        </p:par>
                        <p:par>
                          <p:cTn id="57" fill="hold">
                            <p:stCondLst>
                              <p:cond delay="1000"/>
                            </p:stCondLst>
                            <p:childTnLst>
                              <p:par>
                                <p:cTn id="58" presetID="26" presetClass="emph" presetSubtype="0" fill="hold" grpId="1" nodeType="afterEffect">
                                  <p:stCondLst>
                                    <p:cond delay="0"/>
                                  </p:stCondLst>
                                  <p:childTnLst>
                                    <p:animEffect transition="out" filter="fade">
                                      <p:cBhvr>
                                        <p:cTn id="59" dur="500" tmFilter="0, 0; .2, .5; .8, .5; 1, 0"/>
                                        <p:tgtEl>
                                          <p:spTgt spid="29"/>
                                        </p:tgtEl>
                                      </p:cBhvr>
                                    </p:animEffect>
                                    <p:animScale>
                                      <p:cBhvr>
                                        <p:cTn id="60" dur="250" autoRev="1" fill="hold"/>
                                        <p:tgtEl>
                                          <p:spTgt spid="29"/>
                                        </p:tgtEl>
                                      </p:cBhvr>
                                      <p:by x="105000" y="105000"/>
                                    </p:animScale>
                                  </p:childTnLst>
                                </p:cTn>
                              </p:par>
                            </p:childTnLst>
                          </p:cTn>
                        </p:par>
                        <p:par>
                          <p:cTn id="61" fill="hold">
                            <p:stCondLst>
                              <p:cond delay="1500"/>
                            </p:stCondLst>
                            <p:childTnLst>
                              <p:par>
                                <p:cTn id="62" presetID="26" presetClass="emph" presetSubtype="0" fill="hold" grpId="2" nodeType="afterEffect">
                                  <p:stCondLst>
                                    <p:cond delay="0"/>
                                  </p:stCondLst>
                                  <p:childTnLst>
                                    <p:animEffect transition="out" filter="fade">
                                      <p:cBhvr>
                                        <p:cTn id="63" dur="500" tmFilter="0, 0; .2, .5; .8, .5; 1, 0"/>
                                        <p:tgtEl>
                                          <p:spTgt spid="29"/>
                                        </p:tgtEl>
                                      </p:cBhvr>
                                    </p:animEffect>
                                    <p:animScale>
                                      <p:cBhvr>
                                        <p:cTn id="64" dur="250" autoRev="1" fill="hold"/>
                                        <p:tgtEl>
                                          <p:spTgt spid="29"/>
                                        </p:tgtEl>
                                      </p:cBhvr>
                                      <p:by x="105000" y="105000"/>
                                    </p:animScale>
                                  </p:childTnLst>
                                </p:cTn>
                              </p:par>
                            </p:childTnLst>
                          </p:cTn>
                        </p:par>
                        <p:par>
                          <p:cTn id="65" fill="hold">
                            <p:stCondLst>
                              <p:cond delay="2000"/>
                            </p:stCondLst>
                            <p:childTnLst>
                              <p:par>
                                <p:cTn id="66" presetID="26" presetClass="emph" presetSubtype="0" fill="hold" grpId="1" nodeType="afterEffect">
                                  <p:stCondLst>
                                    <p:cond delay="0"/>
                                  </p:stCondLst>
                                  <p:childTnLst>
                                    <p:animEffect transition="out" filter="fade">
                                      <p:cBhvr>
                                        <p:cTn id="67" dur="500" tmFilter="0, 0; .2, .5; .8, .5; 1, 0"/>
                                        <p:tgtEl>
                                          <p:spTgt spid="30"/>
                                        </p:tgtEl>
                                      </p:cBhvr>
                                    </p:animEffect>
                                    <p:animScale>
                                      <p:cBhvr>
                                        <p:cTn id="68" dur="250" autoRev="1" fill="hold"/>
                                        <p:tgtEl>
                                          <p:spTgt spid="30"/>
                                        </p:tgtEl>
                                      </p:cBhvr>
                                      <p:by x="105000" y="105000"/>
                                    </p:animScale>
                                  </p:childTnLst>
                                </p:cTn>
                              </p:par>
                            </p:childTnLst>
                          </p:cTn>
                        </p:par>
                        <p:par>
                          <p:cTn id="69" fill="hold">
                            <p:stCondLst>
                              <p:cond delay="2500"/>
                            </p:stCondLst>
                            <p:childTnLst>
                              <p:par>
                                <p:cTn id="70" presetID="26" presetClass="emph" presetSubtype="0" fill="hold" grpId="2" nodeType="afterEffect">
                                  <p:stCondLst>
                                    <p:cond delay="0"/>
                                  </p:stCondLst>
                                  <p:childTnLst>
                                    <p:animEffect transition="out" filter="fade">
                                      <p:cBhvr>
                                        <p:cTn id="71" dur="500" tmFilter="0, 0; .2, .5; .8, .5; 1, 0"/>
                                        <p:tgtEl>
                                          <p:spTgt spid="30"/>
                                        </p:tgtEl>
                                      </p:cBhvr>
                                    </p:animEffect>
                                    <p:animScale>
                                      <p:cBhvr>
                                        <p:cTn id="72" dur="250" autoRev="1" fill="hold"/>
                                        <p:tgtEl>
                                          <p:spTgt spid="30"/>
                                        </p:tgtEl>
                                      </p:cBhvr>
                                      <p:by x="105000" y="105000"/>
                                    </p:animScale>
                                  </p:childTnLst>
                                </p:cTn>
                              </p:par>
                            </p:childTnLst>
                          </p:cTn>
                        </p:par>
                        <p:par>
                          <p:cTn id="73" fill="hold">
                            <p:stCondLst>
                              <p:cond delay="3000"/>
                            </p:stCondLst>
                            <p:childTnLst>
                              <p:par>
                                <p:cTn id="74" presetID="26" presetClass="emph" presetSubtype="0" fill="hold" grpId="3" nodeType="afterEffect">
                                  <p:stCondLst>
                                    <p:cond delay="1000"/>
                                  </p:stCondLst>
                                  <p:childTnLst>
                                    <p:animEffect transition="out" filter="fade">
                                      <p:cBhvr>
                                        <p:cTn id="75" dur="500" tmFilter="0, 0; .2, .5; .8, .5; 1, 0"/>
                                        <p:tgtEl>
                                          <p:spTgt spid="28"/>
                                        </p:tgtEl>
                                      </p:cBhvr>
                                    </p:animEffect>
                                    <p:animScale>
                                      <p:cBhvr>
                                        <p:cTn id="76" dur="250" autoRev="1" fill="hold"/>
                                        <p:tgtEl>
                                          <p:spTgt spid="28"/>
                                        </p:tgtEl>
                                      </p:cBhvr>
                                      <p:by x="105000" y="105000"/>
                                    </p:animScale>
                                  </p:childTnLst>
                                </p:cTn>
                              </p:par>
                            </p:childTnLst>
                          </p:cTn>
                        </p:par>
                        <p:par>
                          <p:cTn id="77" fill="hold">
                            <p:stCondLst>
                              <p:cond delay="4500"/>
                            </p:stCondLst>
                            <p:childTnLst>
                              <p:par>
                                <p:cTn id="78" presetID="26" presetClass="emph" presetSubtype="0" fill="hold" grpId="4" nodeType="afterEffect">
                                  <p:stCondLst>
                                    <p:cond delay="0"/>
                                  </p:stCondLst>
                                  <p:childTnLst>
                                    <p:animEffect transition="out" filter="fade">
                                      <p:cBhvr>
                                        <p:cTn id="79" dur="500" tmFilter="0, 0; .2, .5; .8, .5; 1, 0"/>
                                        <p:tgtEl>
                                          <p:spTgt spid="28"/>
                                        </p:tgtEl>
                                      </p:cBhvr>
                                    </p:animEffect>
                                    <p:animScale>
                                      <p:cBhvr>
                                        <p:cTn id="80" dur="250" autoRev="1" fill="hold"/>
                                        <p:tgtEl>
                                          <p:spTgt spid="28"/>
                                        </p:tgtEl>
                                      </p:cBhvr>
                                      <p:by x="105000" y="105000"/>
                                    </p:animScale>
                                  </p:childTnLst>
                                </p:cTn>
                              </p:par>
                            </p:childTnLst>
                          </p:cTn>
                        </p:par>
                        <p:par>
                          <p:cTn id="81" fill="hold">
                            <p:stCondLst>
                              <p:cond delay="5000"/>
                            </p:stCondLst>
                            <p:childTnLst>
                              <p:par>
                                <p:cTn id="82" presetID="26" presetClass="emph" presetSubtype="0" fill="hold" grpId="3" nodeType="afterEffect">
                                  <p:stCondLst>
                                    <p:cond delay="0"/>
                                  </p:stCondLst>
                                  <p:childTnLst>
                                    <p:animEffect transition="out" filter="fade">
                                      <p:cBhvr>
                                        <p:cTn id="83" dur="500" tmFilter="0, 0; .2, .5; .8, .5; 1, 0"/>
                                        <p:tgtEl>
                                          <p:spTgt spid="29"/>
                                        </p:tgtEl>
                                      </p:cBhvr>
                                    </p:animEffect>
                                    <p:animScale>
                                      <p:cBhvr>
                                        <p:cTn id="84" dur="250" autoRev="1" fill="hold"/>
                                        <p:tgtEl>
                                          <p:spTgt spid="29"/>
                                        </p:tgtEl>
                                      </p:cBhvr>
                                      <p:by x="105000" y="105000"/>
                                    </p:animScale>
                                  </p:childTnLst>
                                </p:cTn>
                              </p:par>
                            </p:childTnLst>
                          </p:cTn>
                        </p:par>
                        <p:par>
                          <p:cTn id="85" fill="hold">
                            <p:stCondLst>
                              <p:cond delay="5500"/>
                            </p:stCondLst>
                            <p:childTnLst>
                              <p:par>
                                <p:cTn id="86" presetID="26" presetClass="emph" presetSubtype="0" fill="hold" grpId="4" nodeType="afterEffect">
                                  <p:stCondLst>
                                    <p:cond delay="0"/>
                                  </p:stCondLst>
                                  <p:childTnLst>
                                    <p:animEffect transition="out" filter="fade">
                                      <p:cBhvr>
                                        <p:cTn id="87" dur="500" tmFilter="0, 0; .2, .5; .8, .5; 1, 0"/>
                                        <p:tgtEl>
                                          <p:spTgt spid="29"/>
                                        </p:tgtEl>
                                      </p:cBhvr>
                                    </p:animEffect>
                                    <p:animScale>
                                      <p:cBhvr>
                                        <p:cTn id="88" dur="250" autoRev="1" fill="hold"/>
                                        <p:tgtEl>
                                          <p:spTgt spid="29"/>
                                        </p:tgtEl>
                                      </p:cBhvr>
                                      <p:by x="105000" y="105000"/>
                                    </p:animScale>
                                  </p:childTnLst>
                                </p:cTn>
                              </p:par>
                            </p:childTnLst>
                          </p:cTn>
                        </p:par>
                        <p:par>
                          <p:cTn id="89" fill="hold">
                            <p:stCondLst>
                              <p:cond delay="6000"/>
                            </p:stCondLst>
                            <p:childTnLst>
                              <p:par>
                                <p:cTn id="90" presetID="26" presetClass="emph" presetSubtype="0" fill="hold" grpId="3" nodeType="afterEffect">
                                  <p:stCondLst>
                                    <p:cond delay="0"/>
                                  </p:stCondLst>
                                  <p:childTnLst>
                                    <p:animEffect transition="out" filter="fade">
                                      <p:cBhvr>
                                        <p:cTn id="91" dur="500" tmFilter="0, 0; .2, .5; .8, .5; 1, 0"/>
                                        <p:tgtEl>
                                          <p:spTgt spid="30"/>
                                        </p:tgtEl>
                                      </p:cBhvr>
                                    </p:animEffect>
                                    <p:animScale>
                                      <p:cBhvr>
                                        <p:cTn id="92" dur="250" autoRev="1" fill="hold"/>
                                        <p:tgtEl>
                                          <p:spTgt spid="30"/>
                                        </p:tgtEl>
                                      </p:cBhvr>
                                      <p:by x="105000" y="105000"/>
                                    </p:animScale>
                                  </p:childTnLst>
                                </p:cTn>
                              </p:par>
                            </p:childTnLst>
                          </p:cTn>
                        </p:par>
                        <p:par>
                          <p:cTn id="93" fill="hold">
                            <p:stCondLst>
                              <p:cond delay="6500"/>
                            </p:stCondLst>
                            <p:childTnLst>
                              <p:par>
                                <p:cTn id="94" presetID="26" presetClass="emph" presetSubtype="0" fill="hold" grpId="4" nodeType="afterEffect">
                                  <p:stCondLst>
                                    <p:cond delay="0"/>
                                  </p:stCondLst>
                                  <p:childTnLst>
                                    <p:animEffect transition="out" filter="fade">
                                      <p:cBhvr>
                                        <p:cTn id="95" dur="500" tmFilter="0, 0; .2, .5; .8, .5; 1, 0"/>
                                        <p:tgtEl>
                                          <p:spTgt spid="30"/>
                                        </p:tgtEl>
                                      </p:cBhvr>
                                    </p:animEffect>
                                    <p:animScale>
                                      <p:cBhvr>
                                        <p:cTn id="96" dur="250" autoRev="1" fill="hold"/>
                                        <p:tgtEl>
                                          <p:spTgt spid="3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6" grpId="0" animBg="1"/>
      <p:bldP spid="27" grpId="0" animBg="1"/>
      <p:bldP spid="28" grpId="0" animBg="1"/>
      <p:bldP spid="28" grpId="1" animBg="1"/>
      <p:bldP spid="28" grpId="2" animBg="1"/>
      <p:bldP spid="28" grpId="3" animBg="1"/>
      <p:bldP spid="28" grpId="4" animBg="1"/>
      <p:bldP spid="29" grpId="0" animBg="1"/>
      <p:bldP spid="29" grpId="1" animBg="1"/>
      <p:bldP spid="29" grpId="2" animBg="1"/>
      <p:bldP spid="29" grpId="3" animBg="1"/>
      <p:bldP spid="29" grpId="4" animBg="1"/>
      <p:bldP spid="30" grpId="0" animBg="1"/>
      <p:bldP spid="30" grpId="1" animBg="1"/>
      <p:bldP spid="30" grpId="2" animBg="1"/>
      <p:bldP spid="30" grpId="3" animBg="1"/>
      <p:bldP spid="30" grpId="4"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rgbClr val="FF16B0"/>
                </a:solidFill>
                <a:effectLst/>
                <a:latin typeface="Consolas" panose="020B0609020204030204" pitchFamily="49" charset="0"/>
              </a:rPr>
              <a:t>for</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let</a:t>
            </a:r>
            <a:r>
              <a:rPr lang="en-US" sz="3600" b="0" dirty="0">
                <a:solidFill>
                  <a:srgbClr val="3F374B"/>
                </a:solidFill>
                <a:effectLst/>
                <a:latin typeface="Consolas" panose="020B0609020204030204" pitchFamily="49" charset="0"/>
              </a:rPr>
              <a:t> </a:t>
            </a:r>
            <a:r>
              <a:rPr lang="en-US" sz="3600" b="0" dirty="0" err="1">
                <a:solidFill>
                  <a:srgbClr val="4D5EFF"/>
                </a:solidFill>
                <a:effectLst/>
                <a:latin typeface="Consolas" panose="020B0609020204030204" pitchFamily="49" charset="0"/>
              </a:rPr>
              <a:t>i</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0</a:t>
            </a:r>
            <a:r>
              <a:rPr lang="en-US" sz="3600" b="0" dirty="0">
                <a:solidFill>
                  <a:srgbClr val="3F374B"/>
                </a:solidFill>
                <a:effectLst/>
                <a:latin typeface="Consolas" panose="020B0609020204030204" pitchFamily="49" charset="0"/>
              </a:rPr>
              <a:t>; </a:t>
            </a:r>
            <a:r>
              <a:rPr lang="en-US" sz="3600" b="0" dirty="0" err="1">
                <a:solidFill>
                  <a:srgbClr val="4D5EFF"/>
                </a:solidFill>
                <a:effectLst/>
                <a:latin typeface="Consolas" panose="020B0609020204030204" pitchFamily="49" charset="0"/>
              </a:rPr>
              <a:t>i</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&lt;</a:t>
            </a:r>
            <a:r>
              <a:rPr lang="en-US" sz="3600" b="0" dirty="0">
                <a:solidFill>
                  <a:srgbClr val="3F374B"/>
                </a:solidFill>
                <a:effectLst/>
                <a:latin typeface="Consolas" panose="020B0609020204030204" pitchFamily="49" charset="0"/>
              </a:rPr>
              <a:t> </a:t>
            </a:r>
            <a:r>
              <a:rPr lang="en-US" sz="3600" b="0" dirty="0">
                <a:solidFill>
                  <a:srgbClr val="FF16B0"/>
                </a:solidFill>
                <a:latin typeface="Consolas" panose="020B0609020204030204" pitchFamily="49" charset="0"/>
              </a:rPr>
              <a:t>3</a:t>
            </a:r>
            <a:r>
              <a:rPr lang="en-US" sz="3600" b="0" dirty="0">
                <a:solidFill>
                  <a:srgbClr val="3F374B"/>
                </a:solidFill>
                <a:effectLst/>
                <a:latin typeface="Consolas" panose="020B0609020204030204" pitchFamily="49" charset="0"/>
              </a:rPr>
              <a:t>; </a:t>
            </a:r>
            <a:r>
              <a:rPr lang="en-US" sz="3600" b="0" dirty="0" err="1">
                <a:solidFill>
                  <a:srgbClr val="4D5EFF"/>
                </a:solidFill>
                <a:effectLst/>
                <a:latin typeface="Consolas" panose="020B0609020204030204" pitchFamily="49" charset="0"/>
              </a:rPr>
              <a:t>i</a:t>
            </a:r>
            <a:r>
              <a:rPr lang="en-US" sz="3600" b="0" dirty="0">
                <a:solidFill>
                  <a:srgbClr val="FF16B0"/>
                </a:solidFill>
                <a:effectLst/>
                <a:latin typeface="Consolas" panose="020B0609020204030204" pitchFamily="49" charset="0"/>
              </a:rPr>
              <a:t>++</a:t>
            </a:r>
            <a:r>
              <a:rPr lang="en-US" sz="3600" b="0" dirty="0">
                <a:solidFill>
                  <a:srgbClr val="3F374B"/>
                </a:solidFill>
                <a:effectLst/>
                <a:latin typeface="Consolas" panose="020B0609020204030204" pitchFamily="49" charset="0"/>
              </a:rPr>
              <a:t>) {</a:t>
            </a:r>
            <a:endParaRPr lang="en-US" sz="3600" b="0"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let</a:t>
            </a:r>
            <a:r>
              <a:rPr lang="en-US" sz="3600" b="0" dirty="0">
                <a:solidFill>
                  <a:srgbClr val="3F374B"/>
                </a:solidFill>
                <a:effectLst/>
                <a:latin typeface="Consolas" panose="020B0609020204030204" pitchFamily="49" charset="0"/>
              </a:rPr>
              <a:t> </a:t>
            </a:r>
            <a:r>
              <a:rPr lang="en-US" sz="3600" b="0" dirty="0">
                <a:solidFill>
                  <a:srgbClr val="4D5EFF"/>
                </a:solidFill>
                <a:effectLst/>
                <a:latin typeface="Consolas" panose="020B0609020204030204" pitchFamily="49" charset="0"/>
              </a:rPr>
              <a:t>current</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a:t>
            </a:r>
            <a:r>
              <a:rPr lang="en-US" sz="3600" b="0" dirty="0">
                <a:solidFill>
                  <a:srgbClr val="3F374B"/>
                </a:solidFill>
                <a:effectLst/>
                <a:latin typeface="Consolas" panose="020B0609020204030204" pitchFamily="49" charset="0"/>
              </a:rPr>
              <a:t> </a:t>
            </a:r>
            <a:r>
              <a:rPr lang="en-US" sz="3600" b="0" dirty="0" err="1">
                <a:solidFill>
                  <a:srgbClr val="4D5EFF"/>
                </a:solidFill>
                <a:effectLst/>
                <a:latin typeface="Consolas" panose="020B0609020204030204" pitchFamily="49" charset="0"/>
              </a:rPr>
              <a:t>i</a:t>
            </a:r>
            <a:r>
              <a:rPr lang="en-US" sz="3600" b="0" dirty="0">
                <a:solidFill>
                  <a:srgbClr val="4D5EFF"/>
                </a:solidFill>
                <a:effectLst/>
                <a:latin typeface="Consolas" panose="020B0609020204030204" pitchFamily="49" charset="0"/>
              </a:rPr>
              <a:t> </a:t>
            </a:r>
            <a:r>
              <a:rPr lang="en-US" sz="3600" b="0" dirty="0">
                <a:solidFill>
                  <a:srgbClr val="FF16B0"/>
                </a:solidFill>
                <a:effectLst/>
                <a:latin typeface="Consolas" panose="020B0609020204030204" pitchFamily="49" charset="0"/>
              </a:rPr>
              <a:t>+ 1</a:t>
            </a:r>
            <a:r>
              <a:rPr lang="en-US" sz="3600" b="0" dirty="0">
                <a:solidFill>
                  <a:srgbClr val="3F374B"/>
                </a:solidFill>
                <a:effectLst/>
                <a:latin typeface="Consolas" panose="020B0609020204030204" pitchFamily="49" charset="0"/>
              </a:rPr>
              <a:t>;</a:t>
            </a:r>
            <a:endParaRPr lang="en-US" sz="3600" b="0"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  </a:t>
            </a:r>
            <a:r>
              <a:rPr lang="en-US" sz="3600" b="0" dirty="0">
                <a:solidFill>
                  <a:srgbClr val="251B50"/>
                </a:solidFill>
                <a:effectLst/>
                <a:latin typeface="Consolas" panose="020B0609020204030204" pitchFamily="49" charset="0"/>
              </a:rPr>
              <a:t>alert</a:t>
            </a:r>
            <a:r>
              <a:rPr lang="en-US" sz="3600" b="0" dirty="0">
                <a:solidFill>
                  <a:srgbClr val="3F374B"/>
                </a:solidFill>
                <a:effectLst/>
                <a:latin typeface="Consolas" panose="020B0609020204030204" pitchFamily="49" charset="0"/>
              </a:rPr>
              <a:t>(</a:t>
            </a:r>
            <a:r>
              <a:rPr lang="en-US" sz="3600" b="0" dirty="0">
                <a:solidFill>
                  <a:srgbClr val="C300FF"/>
                </a:solidFill>
                <a:effectLst/>
                <a:latin typeface="Consolas" panose="020B0609020204030204" pitchFamily="49" charset="0"/>
              </a:rPr>
              <a:t>`Now: </a:t>
            </a:r>
            <a:r>
              <a:rPr lang="en-US" sz="3600" b="0" dirty="0">
                <a:solidFill>
                  <a:srgbClr val="FF16B0"/>
                </a:solidFill>
                <a:effectLst/>
                <a:latin typeface="Consolas" panose="020B0609020204030204" pitchFamily="49" charset="0"/>
              </a:rPr>
              <a:t>${</a:t>
            </a:r>
            <a:r>
              <a:rPr lang="en-US" sz="3600" b="0" dirty="0">
                <a:solidFill>
                  <a:srgbClr val="4D5EFF"/>
                </a:solidFill>
                <a:effectLst/>
                <a:latin typeface="Consolas" panose="020B0609020204030204" pitchFamily="49" charset="0"/>
              </a:rPr>
              <a:t>current</a:t>
            </a:r>
            <a:r>
              <a:rPr lang="en-US" sz="3600" b="0" dirty="0">
                <a:solidFill>
                  <a:srgbClr val="FF16B0"/>
                </a:solidFill>
                <a:effectLst/>
                <a:latin typeface="Consolas" panose="020B0609020204030204" pitchFamily="49" charset="0"/>
              </a:rPr>
              <a:t>}</a:t>
            </a:r>
            <a:r>
              <a:rPr lang="en-US" sz="3600" b="0" dirty="0">
                <a:solidFill>
                  <a:srgbClr val="C300FF"/>
                </a:solidFill>
                <a:effectLst/>
                <a:latin typeface="Consolas" panose="020B0609020204030204" pitchFamily="49" charset="0"/>
              </a:rPr>
              <a:t>`</a:t>
            </a:r>
            <a:r>
              <a:rPr lang="en-US" sz="3600" b="0" dirty="0">
                <a:solidFill>
                  <a:srgbClr val="3F374B"/>
                </a:solidFill>
                <a:effectLst/>
                <a:latin typeface="Consolas" panose="020B0609020204030204" pitchFamily="49" charset="0"/>
              </a:rPr>
              <a:t>);</a:t>
            </a:r>
            <a:endParaRPr lang="en-US" sz="3600" b="0"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a:t>
            </a:r>
            <a:endParaRPr lang="en-US" sz="3600" b="0" dirty="0">
              <a:solidFill>
                <a:srgbClr val="19152C"/>
              </a:solidFill>
              <a:effectLst/>
              <a:latin typeface="Consolas" panose="020B0609020204030204" pitchFamily="49" charset="0"/>
            </a:endParaRPr>
          </a:p>
        </p:txBody>
      </p:sp>
    </p:spTree>
    <p:extLst>
      <p:ext uri="{BB962C8B-B14F-4D97-AF65-F5344CB8AC3E}">
        <p14:creationId xmlns:p14="http://schemas.microsoft.com/office/powerpoint/2010/main" val="4337798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rgbClr val="FF16B0"/>
                </a:solidFill>
                <a:effectLst/>
                <a:latin typeface="Consolas" panose="020B0609020204030204" pitchFamily="49" charset="0"/>
              </a:rPr>
              <a:t>for</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let</a:t>
            </a:r>
            <a:r>
              <a:rPr lang="en-US" sz="3600" b="0" dirty="0">
                <a:solidFill>
                  <a:srgbClr val="3F374B"/>
                </a:solidFill>
                <a:effectLst/>
                <a:latin typeface="Consolas" panose="020B0609020204030204" pitchFamily="49" charset="0"/>
              </a:rPr>
              <a:t> </a:t>
            </a:r>
            <a:r>
              <a:rPr lang="en-US" sz="3600" b="0" dirty="0" err="1">
                <a:solidFill>
                  <a:srgbClr val="4D5EFF"/>
                </a:solidFill>
                <a:effectLst/>
                <a:latin typeface="Consolas" panose="020B0609020204030204" pitchFamily="49" charset="0"/>
              </a:rPr>
              <a:t>i</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0</a:t>
            </a:r>
            <a:r>
              <a:rPr lang="en-US" sz="3600" b="0" dirty="0">
                <a:solidFill>
                  <a:srgbClr val="3F374B"/>
                </a:solidFill>
                <a:effectLst/>
                <a:latin typeface="Consolas" panose="020B0609020204030204" pitchFamily="49" charset="0"/>
              </a:rPr>
              <a:t>; </a:t>
            </a:r>
            <a:r>
              <a:rPr lang="en-US" sz="3600" b="0" dirty="0" err="1">
                <a:solidFill>
                  <a:srgbClr val="4D5EFF"/>
                </a:solidFill>
                <a:effectLst/>
                <a:latin typeface="Consolas" panose="020B0609020204030204" pitchFamily="49" charset="0"/>
              </a:rPr>
              <a:t>i</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&lt;</a:t>
            </a:r>
            <a:r>
              <a:rPr lang="en-US" sz="3600" b="0" dirty="0">
                <a:solidFill>
                  <a:srgbClr val="3F374B"/>
                </a:solidFill>
                <a:effectLst/>
                <a:latin typeface="Consolas" panose="020B0609020204030204" pitchFamily="49" charset="0"/>
              </a:rPr>
              <a:t> </a:t>
            </a:r>
            <a:r>
              <a:rPr lang="en-US" sz="3600" b="0" dirty="0">
                <a:solidFill>
                  <a:srgbClr val="FF16B0"/>
                </a:solidFill>
                <a:latin typeface="Consolas" panose="020B0609020204030204" pitchFamily="49" charset="0"/>
              </a:rPr>
              <a:t>3</a:t>
            </a:r>
            <a:r>
              <a:rPr lang="en-US" sz="3600" b="0" dirty="0">
                <a:solidFill>
                  <a:srgbClr val="3F374B"/>
                </a:solidFill>
                <a:effectLst/>
                <a:latin typeface="Consolas" panose="020B0609020204030204" pitchFamily="49" charset="0"/>
              </a:rPr>
              <a:t>; </a:t>
            </a:r>
            <a:r>
              <a:rPr lang="en-US" sz="3600" b="0" dirty="0" err="1">
                <a:solidFill>
                  <a:srgbClr val="4D5EFF"/>
                </a:solidFill>
                <a:effectLst/>
                <a:latin typeface="Consolas" panose="020B0609020204030204" pitchFamily="49" charset="0"/>
              </a:rPr>
              <a:t>i</a:t>
            </a:r>
            <a:r>
              <a:rPr lang="en-US" sz="3600" b="0" dirty="0">
                <a:solidFill>
                  <a:srgbClr val="FF16B0"/>
                </a:solidFill>
                <a:effectLst/>
                <a:latin typeface="Consolas" panose="020B0609020204030204" pitchFamily="49" charset="0"/>
              </a:rPr>
              <a:t>++</a:t>
            </a:r>
            <a:r>
              <a:rPr lang="en-US" sz="3600" b="0" dirty="0">
                <a:solidFill>
                  <a:srgbClr val="3F374B"/>
                </a:solidFill>
                <a:effectLst/>
                <a:latin typeface="Consolas" panose="020B0609020204030204" pitchFamily="49" charset="0"/>
              </a:rPr>
              <a:t>) {</a:t>
            </a:r>
            <a:endParaRPr lang="en-US" sz="3600" b="0"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let</a:t>
            </a:r>
            <a:r>
              <a:rPr lang="en-US" sz="3600" b="0" dirty="0">
                <a:solidFill>
                  <a:srgbClr val="3F374B"/>
                </a:solidFill>
                <a:effectLst/>
                <a:latin typeface="Consolas" panose="020B0609020204030204" pitchFamily="49" charset="0"/>
              </a:rPr>
              <a:t> </a:t>
            </a:r>
            <a:r>
              <a:rPr lang="en-US" sz="3600" b="0" dirty="0">
                <a:solidFill>
                  <a:srgbClr val="4D5EFF"/>
                </a:solidFill>
                <a:effectLst/>
                <a:latin typeface="Consolas" panose="020B0609020204030204" pitchFamily="49" charset="0"/>
              </a:rPr>
              <a:t>current</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a:t>
            </a:r>
            <a:r>
              <a:rPr lang="en-US" sz="3600" b="0" dirty="0">
                <a:solidFill>
                  <a:srgbClr val="3F374B"/>
                </a:solidFill>
                <a:effectLst/>
                <a:latin typeface="Consolas" panose="020B0609020204030204" pitchFamily="49" charset="0"/>
              </a:rPr>
              <a:t> </a:t>
            </a:r>
            <a:r>
              <a:rPr lang="en-US" sz="3600" b="0" dirty="0" err="1">
                <a:solidFill>
                  <a:srgbClr val="4D5EFF"/>
                </a:solidFill>
                <a:effectLst/>
                <a:latin typeface="Consolas" panose="020B0609020204030204" pitchFamily="49" charset="0"/>
              </a:rPr>
              <a:t>i</a:t>
            </a:r>
            <a:r>
              <a:rPr lang="en-US" sz="3600" b="0" dirty="0">
                <a:solidFill>
                  <a:srgbClr val="4D5EFF"/>
                </a:solidFill>
                <a:effectLst/>
                <a:latin typeface="Consolas" panose="020B0609020204030204" pitchFamily="49" charset="0"/>
              </a:rPr>
              <a:t> </a:t>
            </a:r>
            <a:r>
              <a:rPr lang="en-US" sz="3600" b="0" dirty="0">
                <a:solidFill>
                  <a:srgbClr val="FF16B0"/>
                </a:solidFill>
                <a:effectLst/>
                <a:latin typeface="Consolas" panose="020B0609020204030204" pitchFamily="49" charset="0"/>
              </a:rPr>
              <a:t>+ 1</a:t>
            </a:r>
            <a:r>
              <a:rPr lang="en-US" sz="3600" b="0" dirty="0">
                <a:solidFill>
                  <a:srgbClr val="3F374B"/>
                </a:solidFill>
                <a:effectLst/>
                <a:latin typeface="Consolas" panose="020B0609020204030204" pitchFamily="49" charset="0"/>
              </a:rPr>
              <a:t>;</a:t>
            </a:r>
            <a:endParaRPr lang="en-US" sz="3600" b="0"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  </a:t>
            </a:r>
            <a:r>
              <a:rPr lang="en-US" sz="3600" b="0" dirty="0">
                <a:solidFill>
                  <a:srgbClr val="251B50"/>
                </a:solidFill>
                <a:effectLst/>
                <a:latin typeface="Consolas" panose="020B0609020204030204" pitchFamily="49" charset="0"/>
              </a:rPr>
              <a:t>alert</a:t>
            </a:r>
            <a:r>
              <a:rPr lang="en-US" sz="3600" b="0" dirty="0">
                <a:solidFill>
                  <a:srgbClr val="3F374B"/>
                </a:solidFill>
                <a:effectLst/>
                <a:latin typeface="Consolas" panose="020B0609020204030204" pitchFamily="49" charset="0"/>
              </a:rPr>
              <a:t>(</a:t>
            </a:r>
            <a:r>
              <a:rPr lang="en-US" sz="3600" b="0" dirty="0">
                <a:solidFill>
                  <a:srgbClr val="C300FF"/>
                </a:solidFill>
                <a:effectLst/>
                <a:latin typeface="Consolas" panose="020B0609020204030204" pitchFamily="49" charset="0"/>
              </a:rPr>
              <a:t>`Now: </a:t>
            </a:r>
            <a:r>
              <a:rPr lang="en-US" sz="3600" b="0" dirty="0">
                <a:solidFill>
                  <a:srgbClr val="FF16B0"/>
                </a:solidFill>
                <a:effectLst/>
                <a:latin typeface="Consolas" panose="020B0609020204030204" pitchFamily="49" charset="0"/>
              </a:rPr>
              <a:t>${</a:t>
            </a:r>
            <a:r>
              <a:rPr lang="en-US" sz="3600" b="0" dirty="0">
                <a:solidFill>
                  <a:srgbClr val="4D5EFF"/>
                </a:solidFill>
                <a:effectLst/>
                <a:latin typeface="Consolas" panose="020B0609020204030204" pitchFamily="49" charset="0"/>
              </a:rPr>
              <a:t>current</a:t>
            </a:r>
            <a:r>
              <a:rPr lang="en-US" sz="3600" b="0" dirty="0">
                <a:solidFill>
                  <a:srgbClr val="FF16B0"/>
                </a:solidFill>
                <a:effectLst/>
                <a:latin typeface="Consolas" panose="020B0609020204030204" pitchFamily="49" charset="0"/>
              </a:rPr>
              <a:t>}</a:t>
            </a:r>
            <a:r>
              <a:rPr lang="en-US" sz="3600" b="0" dirty="0">
                <a:solidFill>
                  <a:srgbClr val="C300FF"/>
                </a:solidFill>
                <a:effectLst/>
                <a:latin typeface="Consolas" panose="020B0609020204030204" pitchFamily="49" charset="0"/>
              </a:rPr>
              <a:t>`</a:t>
            </a:r>
            <a:r>
              <a:rPr lang="en-US" sz="3600" b="0" dirty="0">
                <a:solidFill>
                  <a:srgbClr val="3F374B"/>
                </a:solidFill>
                <a:effectLst/>
                <a:latin typeface="Consolas" panose="020B0609020204030204" pitchFamily="49" charset="0"/>
              </a:rPr>
              <a:t>);</a:t>
            </a:r>
            <a:endParaRPr lang="en-US" sz="3600" b="0"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a:t>
            </a:r>
            <a:endParaRPr lang="en-US" sz="3600" b="0" dirty="0">
              <a:solidFill>
                <a:srgbClr val="19152C"/>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3706"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Tree>
    <p:extLst>
      <p:ext uri="{BB962C8B-B14F-4D97-AF65-F5344CB8AC3E}">
        <p14:creationId xmlns:p14="http://schemas.microsoft.com/office/powerpoint/2010/main" val="14701491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1" dirty="0">
                <a:solidFill>
                  <a:srgbClr val="FF16B0"/>
                </a:solidFill>
                <a:effectLst/>
                <a:latin typeface="Consolas" panose="020B0609020204030204" pitchFamily="49" charset="0"/>
              </a:rPr>
              <a:t>for</a:t>
            </a:r>
            <a:r>
              <a:rPr lang="en-US" sz="3600" b="0" dirty="0">
                <a:solidFill>
                  <a:srgbClr val="3F374B"/>
                </a:solidFill>
                <a:effectLst/>
                <a:latin typeface="Consolas" panose="020B0609020204030204" pitchFamily="49" charset="0"/>
              </a:rPr>
              <a:t> </a:t>
            </a:r>
            <a:r>
              <a:rPr lang="en-US" sz="3600" b="0" dirty="0">
                <a:solidFill>
                  <a:schemeClr val="accent5">
                    <a:lumMod val="85000"/>
                  </a:schemeClr>
                </a:solidFill>
                <a:effectLst/>
                <a:latin typeface="Consolas" panose="020B0609020204030204" pitchFamily="49" charset="0"/>
              </a:rPr>
              <a:t>(let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&lt; </a:t>
            </a:r>
            <a:r>
              <a:rPr lang="en-US" sz="3600" b="0" dirty="0">
                <a:solidFill>
                  <a:schemeClr val="accent5">
                    <a:lumMod val="85000"/>
                  </a:schemeClr>
                </a:solidFill>
                <a:latin typeface="Consolas" panose="020B0609020204030204" pitchFamily="49" charset="0"/>
              </a:rPr>
              <a:t>3</a:t>
            </a:r>
            <a:r>
              <a:rPr lang="en-US" sz="3600" b="0" dirty="0">
                <a:solidFill>
                  <a:schemeClr val="accent5">
                    <a:lumMod val="85000"/>
                  </a:schemeClr>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p>
          <a:p>
            <a:r>
              <a:rPr lang="en-US" sz="3600" b="0" dirty="0">
                <a:solidFill>
                  <a:schemeClr val="accent5">
                    <a:lumMod val="85000"/>
                  </a:schemeClr>
                </a:solidFill>
                <a:effectLst/>
                <a:latin typeface="Consolas" panose="020B0609020204030204" pitchFamily="49" charset="0"/>
              </a:rPr>
              <a:t>  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chemeClr val="accent5">
                    <a:lumMod val="85000"/>
                  </a:schemeClr>
                </a:solidFill>
                <a:effectLst/>
                <a:latin typeface="Consolas" panose="020B0609020204030204" pitchFamily="49" charset="0"/>
              </a:rPr>
              <a:t>  alert(`Now: ${current}`);</a:t>
            </a:r>
          </a:p>
          <a:p>
            <a:r>
              <a:rPr lang="en-US" sz="3600" b="0" dirty="0">
                <a:solidFill>
                  <a:schemeClr val="accent5">
                    <a:lumMod val="85000"/>
                  </a:schemeClr>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3706"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Tree>
    <p:extLst>
      <p:ext uri="{BB962C8B-B14F-4D97-AF65-F5344CB8AC3E}">
        <p14:creationId xmlns:p14="http://schemas.microsoft.com/office/powerpoint/2010/main" val="17643416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a:t>
            </a:r>
            <a:r>
              <a:rPr lang="en-US" sz="3600" b="1" dirty="0">
                <a:solidFill>
                  <a:srgbClr val="FF16B0"/>
                </a:solidFill>
                <a:effectLst/>
                <a:latin typeface="Consolas" panose="020B0609020204030204" pitchFamily="49" charset="0"/>
              </a:rPr>
              <a:t>let</a:t>
            </a:r>
            <a:r>
              <a:rPr lang="en-US" sz="3600" b="1" dirty="0">
                <a:solidFill>
                  <a:srgbClr val="3F374B"/>
                </a:solidFill>
                <a:effectLst/>
                <a:latin typeface="Consolas" panose="020B0609020204030204" pitchFamily="49" charset="0"/>
              </a:rPr>
              <a:t> </a:t>
            </a:r>
            <a:r>
              <a:rPr lang="en-US" sz="3600" b="1" dirty="0" err="1">
                <a:solidFill>
                  <a:srgbClr val="4D5EFF"/>
                </a:solidFill>
                <a:effectLst/>
                <a:latin typeface="Consolas" panose="020B0609020204030204" pitchFamily="49" charset="0"/>
              </a:rPr>
              <a:t>i</a:t>
            </a:r>
            <a:r>
              <a:rPr lang="en-US" sz="3600" b="1" dirty="0">
                <a:solidFill>
                  <a:srgbClr val="3F374B"/>
                </a:solidFill>
                <a:effectLst/>
                <a:latin typeface="Consolas" panose="020B0609020204030204" pitchFamily="49" charset="0"/>
              </a:rPr>
              <a:t> </a:t>
            </a:r>
            <a:r>
              <a:rPr lang="en-US" sz="3600" b="1" dirty="0">
                <a:solidFill>
                  <a:srgbClr val="FF16B0"/>
                </a:solidFill>
                <a:effectLst/>
                <a:latin typeface="Consolas" panose="020B0609020204030204" pitchFamily="49" charset="0"/>
              </a:rPr>
              <a:t>=</a:t>
            </a:r>
            <a:r>
              <a:rPr lang="en-US" sz="3600" b="1" dirty="0">
                <a:solidFill>
                  <a:srgbClr val="3F374B"/>
                </a:solidFill>
                <a:effectLst/>
                <a:latin typeface="Consolas" panose="020B0609020204030204" pitchFamily="49" charset="0"/>
              </a:rPr>
              <a:t> </a:t>
            </a:r>
            <a:r>
              <a:rPr lang="en-US" sz="3600" b="1" dirty="0">
                <a:solidFill>
                  <a:srgbClr val="FF16B0"/>
                </a:solidFill>
                <a:effectLst/>
                <a:latin typeface="Consolas" panose="020B0609020204030204" pitchFamily="49" charset="0"/>
              </a:rPr>
              <a:t>0</a:t>
            </a:r>
            <a:r>
              <a:rPr lang="en-US" sz="3600" b="1" dirty="0">
                <a:solidFill>
                  <a:srgbClr val="3F374B"/>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&lt; </a:t>
            </a:r>
            <a:r>
              <a:rPr lang="en-US" sz="3600" dirty="0">
                <a:solidFill>
                  <a:schemeClr val="accent5">
                    <a:lumMod val="85000"/>
                  </a:schemeClr>
                </a:solidFill>
                <a:latin typeface="Consolas" panose="020B0609020204030204" pitchFamily="49" charset="0"/>
              </a:rPr>
              <a:t>3</a:t>
            </a:r>
            <a:r>
              <a:rPr lang="en-US" sz="3600" b="0" dirty="0">
                <a:solidFill>
                  <a:schemeClr val="accent5">
                    <a:lumMod val="85000"/>
                  </a:schemeClr>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p>
          <a:p>
            <a:r>
              <a:rPr lang="en-US" sz="3600" b="0" dirty="0">
                <a:solidFill>
                  <a:schemeClr val="accent5">
                    <a:lumMod val="85000"/>
                  </a:schemeClr>
                </a:solidFill>
                <a:effectLst/>
                <a:latin typeface="Consolas" panose="020B0609020204030204" pitchFamily="49" charset="0"/>
              </a:rPr>
              <a:t>  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chemeClr val="accent5">
                    <a:lumMod val="85000"/>
                  </a:schemeClr>
                </a:solidFill>
                <a:effectLst/>
                <a:latin typeface="Consolas" panose="020B0609020204030204" pitchFamily="49" charset="0"/>
              </a:rPr>
              <a:t>  alert(`Now: ${current}`);</a:t>
            </a:r>
          </a:p>
          <a:p>
            <a:r>
              <a:rPr lang="en-US" sz="3600" b="0" dirty="0">
                <a:solidFill>
                  <a:schemeClr val="accent5">
                    <a:lumMod val="85000"/>
                  </a:schemeClr>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3706"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3" name="TextBox 2">
            <a:extLst>
              <a:ext uri="{FF2B5EF4-FFF2-40B4-BE49-F238E27FC236}">
                <a16:creationId xmlns:a16="http://schemas.microsoft.com/office/drawing/2014/main" id="{DF8C59D8-FFD3-4D5C-B105-D483C656475C}"/>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0</a:t>
            </a:r>
          </a:p>
        </p:txBody>
      </p:sp>
    </p:spTree>
    <p:extLst>
      <p:ext uri="{BB962C8B-B14F-4D97-AF65-F5344CB8AC3E}">
        <p14:creationId xmlns:p14="http://schemas.microsoft.com/office/powerpoint/2010/main" val="29667158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par>
                          <p:cTn id="8" fill="hold">
                            <p:stCondLst>
                              <p:cond delay="500"/>
                            </p:stCondLst>
                            <p:childTnLst>
                              <p:par>
                                <p:cTn id="9" presetID="26" presetClass="emph" presetSubtype="0" fill="hold" grpId="1" nodeType="afterEffect">
                                  <p:stCondLst>
                                    <p:cond delay="0"/>
                                  </p:stCondLst>
                                  <p:childTnLst>
                                    <p:animEffect transition="out" filter="fade">
                                      <p:cBhvr>
                                        <p:cTn id="10" dur="500" tmFilter="0, 0; .2, .5; .8, .5; 1, 0"/>
                                        <p:tgtEl>
                                          <p:spTgt spid="6"/>
                                        </p:tgtEl>
                                      </p:cBhvr>
                                    </p:animEffect>
                                    <p:animScale>
                                      <p:cBhvr>
                                        <p:cTn id="11" dur="250" autoRev="1" fill="hold"/>
                                        <p:tgtEl>
                                          <p:spTgt spid="6"/>
                                        </p:tgtEl>
                                      </p:cBhvr>
                                      <p:by x="105000" y="105000"/>
                                    </p:animScale>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1" dirty="0" err="1">
                <a:solidFill>
                  <a:srgbClr val="4D5EFF"/>
                </a:solidFill>
                <a:effectLst/>
                <a:latin typeface="Consolas" panose="020B0609020204030204" pitchFamily="49" charset="0"/>
              </a:rPr>
              <a:t>i</a:t>
            </a:r>
            <a:r>
              <a:rPr lang="en-US" sz="3600" b="1" dirty="0">
                <a:solidFill>
                  <a:srgbClr val="3F374B"/>
                </a:solidFill>
                <a:effectLst/>
                <a:latin typeface="Consolas" panose="020B0609020204030204" pitchFamily="49" charset="0"/>
              </a:rPr>
              <a:t> </a:t>
            </a:r>
            <a:r>
              <a:rPr lang="en-US" sz="3600" b="1" dirty="0">
                <a:solidFill>
                  <a:srgbClr val="FF16B0"/>
                </a:solidFill>
                <a:effectLst/>
                <a:latin typeface="Consolas" panose="020B0609020204030204" pitchFamily="49" charset="0"/>
              </a:rPr>
              <a:t>&lt;</a:t>
            </a:r>
            <a:r>
              <a:rPr lang="en-US" sz="3600" b="1" dirty="0">
                <a:solidFill>
                  <a:srgbClr val="3F374B"/>
                </a:solidFill>
                <a:effectLst/>
                <a:latin typeface="Consolas" panose="020B0609020204030204" pitchFamily="49" charset="0"/>
              </a:rPr>
              <a:t> </a:t>
            </a:r>
            <a:r>
              <a:rPr lang="en-US" sz="3600" b="1" dirty="0">
                <a:solidFill>
                  <a:srgbClr val="FF16B0"/>
                </a:solidFill>
                <a:latin typeface="Consolas" panose="020B0609020204030204" pitchFamily="49" charset="0"/>
              </a:rPr>
              <a:t>3</a:t>
            </a:r>
            <a:r>
              <a:rPr lang="en-US" sz="3600" b="1" dirty="0">
                <a:solidFill>
                  <a:srgbClr val="3F374B"/>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p>
          <a:p>
            <a:r>
              <a:rPr lang="en-US" sz="3600" b="0" dirty="0">
                <a:solidFill>
                  <a:schemeClr val="accent5">
                    <a:lumMod val="85000"/>
                  </a:schemeClr>
                </a:solidFill>
                <a:effectLst/>
                <a:latin typeface="Consolas" panose="020B0609020204030204" pitchFamily="49" charset="0"/>
              </a:rPr>
              <a:t>  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chemeClr val="accent5">
                    <a:lumMod val="85000"/>
                  </a:schemeClr>
                </a:solidFill>
                <a:effectLst/>
                <a:latin typeface="Consolas" panose="020B0609020204030204" pitchFamily="49" charset="0"/>
              </a:rPr>
              <a:t>  alert(`Now: ${current}`);</a:t>
            </a:r>
          </a:p>
          <a:p>
            <a:r>
              <a:rPr lang="en-US" sz="3600" b="0" dirty="0">
                <a:solidFill>
                  <a:schemeClr val="accent5">
                    <a:lumMod val="85000"/>
                  </a:schemeClr>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3706"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9" name="Rectangle 8">
            <a:extLst>
              <a:ext uri="{FF2B5EF4-FFF2-40B4-BE49-F238E27FC236}">
                <a16:creationId xmlns:a16="http://schemas.microsoft.com/office/drawing/2014/main" id="{B65FE448-3320-4B38-B508-D095E98E3EEF}"/>
              </a:ext>
            </a:extLst>
          </p:cNvPr>
          <p:cNvSpPr/>
          <p:nvPr/>
        </p:nvSpPr>
        <p:spPr>
          <a:xfrm>
            <a:off x="5562348"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err="1">
                <a:solidFill>
                  <a:schemeClr val="tx1"/>
                </a:solidFill>
                <a:latin typeface="Consolas" panose="020B0609020204030204" pitchFamily="49" charset="0"/>
                <a:cs typeface="Miriam Libre" panose="00000500000000000000" pitchFamily="2" charset="-79"/>
              </a:rPr>
              <a:t>i</a:t>
            </a:r>
            <a:r>
              <a:rPr lang="en-US" sz="4000" dirty="0">
                <a:solidFill>
                  <a:schemeClr val="tx1"/>
                </a:solidFill>
                <a:latin typeface="Consolas" panose="020B0609020204030204" pitchFamily="49" charset="0"/>
                <a:cs typeface="Miriam Libre" panose="00000500000000000000" pitchFamily="2" charset="-79"/>
              </a:rPr>
              <a:t>&lt;3: </a:t>
            </a:r>
            <a:r>
              <a:rPr lang="en-US" sz="4000" b="1" dirty="0">
                <a:solidFill>
                  <a:srgbClr val="0070C0"/>
                </a:solidFill>
                <a:latin typeface="Consolas" panose="020B0609020204030204" pitchFamily="49" charset="0"/>
                <a:cs typeface="Miriam Libre" panose="00000500000000000000" pitchFamily="2" charset="-79"/>
              </a:rPr>
              <a:t>true</a:t>
            </a:r>
            <a:r>
              <a:rPr lang="en-US" sz="4000" dirty="0">
                <a:solidFill>
                  <a:schemeClr val="tx1"/>
                </a:solidFill>
                <a:latin typeface="Consolas" panose="020B0609020204030204" pitchFamily="49" charset="0"/>
                <a:cs typeface="Miriam Libre" panose="00000500000000000000" pitchFamily="2" charset="-79"/>
              </a:rPr>
              <a:t> </a:t>
            </a:r>
          </a:p>
        </p:txBody>
      </p:sp>
      <p:sp>
        <p:nvSpPr>
          <p:cNvPr id="10" name="TextBox 9">
            <a:extLst>
              <a:ext uri="{FF2B5EF4-FFF2-40B4-BE49-F238E27FC236}">
                <a16:creationId xmlns:a16="http://schemas.microsoft.com/office/drawing/2014/main" id="{402683E7-8410-42A2-8541-463BAF155C2A}"/>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0</a:t>
            </a:r>
          </a:p>
        </p:txBody>
      </p:sp>
    </p:spTree>
    <p:extLst>
      <p:ext uri="{BB962C8B-B14F-4D97-AF65-F5344CB8AC3E}">
        <p14:creationId xmlns:p14="http://schemas.microsoft.com/office/powerpoint/2010/main" val="18696030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1" dirty="0" err="1">
                <a:solidFill>
                  <a:srgbClr val="4D5EFF"/>
                </a:solidFill>
                <a:effectLst/>
                <a:latin typeface="Consolas" panose="020B0609020204030204" pitchFamily="49" charset="0"/>
              </a:rPr>
              <a:t>i</a:t>
            </a:r>
            <a:r>
              <a:rPr lang="en-US" sz="3600" b="1" dirty="0">
                <a:solidFill>
                  <a:srgbClr val="3F374B"/>
                </a:solidFill>
                <a:effectLst/>
                <a:latin typeface="Consolas" panose="020B0609020204030204" pitchFamily="49" charset="0"/>
              </a:rPr>
              <a:t> </a:t>
            </a:r>
            <a:r>
              <a:rPr lang="en-US" sz="3600" b="1" dirty="0">
                <a:solidFill>
                  <a:srgbClr val="FF16B0"/>
                </a:solidFill>
                <a:effectLst/>
                <a:latin typeface="Consolas" panose="020B0609020204030204" pitchFamily="49" charset="0"/>
              </a:rPr>
              <a:t>&lt;</a:t>
            </a:r>
            <a:r>
              <a:rPr lang="en-US" sz="3600" b="1" dirty="0">
                <a:solidFill>
                  <a:srgbClr val="3F374B"/>
                </a:solidFill>
                <a:effectLst/>
                <a:latin typeface="Consolas" panose="020B0609020204030204" pitchFamily="49" charset="0"/>
              </a:rPr>
              <a:t> </a:t>
            </a:r>
            <a:r>
              <a:rPr lang="en-US" sz="3600" b="1" dirty="0">
                <a:solidFill>
                  <a:srgbClr val="FF16B0"/>
                </a:solidFill>
                <a:latin typeface="Consolas" panose="020B0609020204030204" pitchFamily="49" charset="0"/>
              </a:rPr>
              <a:t>3</a:t>
            </a:r>
            <a:r>
              <a:rPr lang="en-US" sz="3600" b="1" dirty="0">
                <a:solidFill>
                  <a:srgbClr val="3F374B"/>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r>
              <a:rPr lang="en-US" sz="3600" b="1" dirty="0">
                <a:solidFill>
                  <a:schemeClr val="tx1"/>
                </a:solidFill>
                <a:effectLst/>
                <a:latin typeface="Consolas" panose="020B0609020204030204" pitchFamily="49" charset="0"/>
              </a:rPr>
              <a:t>{</a:t>
            </a:r>
          </a:p>
          <a:p>
            <a:r>
              <a:rPr lang="en-US" sz="3600" b="0" dirty="0">
                <a:solidFill>
                  <a:schemeClr val="accent5">
                    <a:lumMod val="85000"/>
                  </a:schemeClr>
                </a:solidFill>
                <a:effectLst/>
                <a:latin typeface="Consolas" panose="020B0609020204030204" pitchFamily="49" charset="0"/>
              </a:rPr>
              <a:t>  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chemeClr val="accent5">
                    <a:lumMod val="85000"/>
                  </a:schemeClr>
                </a:solidFill>
                <a:effectLst/>
                <a:latin typeface="Consolas" panose="020B0609020204030204" pitchFamily="49" charset="0"/>
              </a:rPr>
              <a:t>  alert(`Now: ${current}`);</a:t>
            </a:r>
          </a:p>
          <a:p>
            <a:r>
              <a:rPr lang="en-US" sz="3600" dirty="0">
                <a:solidFill>
                  <a:schemeClr val="accent5">
                    <a:lumMod val="85000"/>
                  </a:schemeClr>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3706"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9" name="Rectangle 8">
            <a:extLst>
              <a:ext uri="{FF2B5EF4-FFF2-40B4-BE49-F238E27FC236}">
                <a16:creationId xmlns:a16="http://schemas.microsoft.com/office/drawing/2014/main" id="{B65FE448-3320-4B38-B508-D095E98E3EEF}"/>
              </a:ext>
            </a:extLst>
          </p:cNvPr>
          <p:cNvSpPr/>
          <p:nvPr/>
        </p:nvSpPr>
        <p:spPr>
          <a:xfrm>
            <a:off x="5562348"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err="1">
                <a:solidFill>
                  <a:schemeClr val="tx1"/>
                </a:solidFill>
                <a:latin typeface="Consolas" panose="020B0609020204030204" pitchFamily="49" charset="0"/>
                <a:cs typeface="Miriam Libre" panose="00000500000000000000" pitchFamily="2" charset="-79"/>
              </a:rPr>
              <a:t>i</a:t>
            </a:r>
            <a:r>
              <a:rPr lang="en-US" sz="4000" dirty="0">
                <a:solidFill>
                  <a:schemeClr val="tx1"/>
                </a:solidFill>
                <a:latin typeface="Consolas" panose="020B0609020204030204" pitchFamily="49" charset="0"/>
                <a:cs typeface="Miriam Libre" panose="00000500000000000000" pitchFamily="2" charset="-79"/>
              </a:rPr>
              <a:t>&lt;3: </a:t>
            </a:r>
            <a:r>
              <a:rPr lang="en-US" sz="4000" b="1" dirty="0">
                <a:solidFill>
                  <a:srgbClr val="0070C0"/>
                </a:solidFill>
                <a:latin typeface="Consolas" panose="020B0609020204030204" pitchFamily="49" charset="0"/>
                <a:cs typeface="Miriam Libre" panose="00000500000000000000" pitchFamily="2" charset="-79"/>
              </a:rPr>
              <a:t>true</a:t>
            </a:r>
            <a:r>
              <a:rPr lang="en-US" sz="4000" dirty="0">
                <a:solidFill>
                  <a:schemeClr val="tx1"/>
                </a:solidFill>
                <a:latin typeface="Consolas" panose="020B0609020204030204" pitchFamily="49" charset="0"/>
                <a:cs typeface="Miriam Libre" panose="00000500000000000000" pitchFamily="2" charset="-79"/>
              </a:rPr>
              <a:t> </a:t>
            </a:r>
          </a:p>
        </p:txBody>
      </p:sp>
      <p:sp>
        <p:nvSpPr>
          <p:cNvPr id="10" name="TextBox 9">
            <a:extLst>
              <a:ext uri="{FF2B5EF4-FFF2-40B4-BE49-F238E27FC236}">
                <a16:creationId xmlns:a16="http://schemas.microsoft.com/office/drawing/2014/main" id="{402683E7-8410-42A2-8541-463BAF155C2A}"/>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0</a:t>
            </a:r>
          </a:p>
        </p:txBody>
      </p:sp>
    </p:spTree>
    <p:extLst>
      <p:ext uri="{BB962C8B-B14F-4D97-AF65-F5344CB8AC3E}">
        <p14:creationId xmlns:p14="http://schemas.microsoft.com/office/powerpoint/2010/main" val="35276875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&lt; </a:t>
            </a:r>
            <a:r>
              <a:rPr lang="en-US" sz="3600" b="0" dirty="0">
                <a:solidFill>
                  <a:schemeClr val="accent5">
                    <a:lumMod val="85000"/>
                  </a:schemeClr>
                </a:solidFill>
                <a:latin typeface="Consolas" panose="020B0609020204030204" pitchFamily="49" charset="0"/>
              </a:rPr>
              <a:t>3</a:t>
            </a:r>
            <a:r>
              <a:rPr lang="en-US" sz="3600" b="0" dirty="0">
                <a:solidFill>
                  <a:schemeClr val="accent5">
                    <a:lumMod val="85000"/>
                  </a:schemeClr>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p>
          <a:p>
            <a:r>
              <a:rPr lang="en-US" sz="3600" b="0" dirty="0">
                <a:solidFill>
                  <a:srgbClr val="3F374B"/>
                </a:solidFill>
                <a:effectLst/>
                <a:latin typeface="Consolas" panose="020B0609020204030204" pitchFamily="49" charset="0"/>
              </a:rPr>
              <a:t>  </a:t>
            </a:r>
            <a:r>
              <a:rPr lang="en-US" sz="3600" b="1" dirty="0">
                <a:solidFill>
                  <a:srgbClr val="FF16B0"/>
                </a:solidFill>
                <a:effectLst/>
                <a:latin typeface="Consolas" panose="020B0609020204030204" pitchFamily="49" charset="0"/>
              </a:rPr>
              <a:t>let</a:t>
            </a:r>
            <a:r>
              <a:rPr lang="en-US" sz="3600" b="1" dirty="0">
                <a:solidFill>
                  <a:srgbClr val="3F374B"/>
                </a:solidFill>
                <a:effectLst/>
                <a:latin typeface="Consolas" panose="020B0609020204030204" pitchFamily="49" charset="0"/>
              </a:rPr>
              <a:t> </a:t>
            </a:r>
            <a:r>
              <a:rPr lang="en-US" sz="3600" b="1" dirty="0">
                <a:solidFill>
                  <a:srgbClr val="4D5EFF"/>
                </a:solidFill>
                <a:effectLst/>
                <a:latin typeface="Consolas" panose="020B0609020204030204" pitchFamily="49" charset="0"/>
              </a:rPr>
              <a:t>current</a:t>
            </a:r>
            <a:r>
              <a:rPr lang="en-US" sz="3600" b="1" dirty="0">
                <a:solidFill>
                  <a:srgbClr val="3F374B"/>
                </a:solidFill>
                <a:effectLst/>
                <a:latin typeface="Consolas" panose="020B0609020204030204" pitchFamily="49" charset="0"/>
              </a:rPr>
              <a:t> </a:t>
            </a:r>
            <a:r>
              <a:rPr lang="en-US" sz="3600" b="1" dirty="0">
                <a:solidFill>
                  <a:srgbClr val="FF16B0"/>
                </a:solidFill>
                <a:effectLst/>
                <a:latin typeface="Consolas" panose="020B0609020204030204" pitchFamily="49" charset="0"/>
              </a:rPr>
              <a:t>=</a:t>
            </a:r>
            <a:r>
              <a:rPr lang="en-US" sz="3600" b="1" dirty="0">
                <a:solidFill>
                  <a:srgbClr val="3F374B"/>
                </a:solidFill>
                <a:effectLst/>
                <a:latin typeface="Consolas" panose="020B0609020204030204" pitchFamily="49" charset="0"/>
              </a:rPr>
              <a:t> </a:t>
            </a:r>
            <a:r>
              <a:rPr lang="en-US" sz="3600" b="1" dirty="0" err="1">
                <a:solidFill>
                  <a:srgbClr val="4D5EFF"/>
                </a:solidFill>
                <a:effectLst/>
                <a:latin typeface="Consolas" panose="020B0609020204030204" pitchFamily="49" charset="0"/>
              </a:rPr>
              <a:t>i</a:t>
            </a:r>
            <a:r>
              <a:rPr lang="en-US" sz="3600" b="1" dirty="0">
                <a:solidFill>
                  <a:srgbClr val="4D5EFF"/>
                </a:solidFill>
                <a:effectLst/>
                <a:latin typeface="Consolas" panose="020B0609020204030204" pitchFamily="49" charset="0"/>
              </a:rPr>
              <a:t> </a:t>
            </a:r>
            <a:r>
              <a:rPr lang="en-US" sz="3600" b="1" dirty="0">
                <a:solidFill>
                  <a:srgbClr val="FF16B0"/>
                </a:solidFill>
                <a:effectLst/>
                <a:latin typeface="Consolas" panose="020B0609020204030204" pitchFamily="49" charset="0"/>
              </a:rPr>
              <a:t>+ 1</a:t>
            </a:r>
            <a:r>
              <a:rPr lang="en-US" sz="3600" b="1" dirty="0">
                <a:solidFill>
                  <a:srgbClr val="3F374B"/>
                </a:solidFill>
                <a:effectLst/>
                <a:latin typeface="Consolas" panose="020B0609020204030204" pitchFamily="49" charset="0"/>
              </a:rPr>
              <a:t>;</a:t>
            </a:r>
            <a:endParaRPr lang="en-US" sz="3600" b="1" dirty="0">
              <a:solidFill>
                <a:schemeClr val="accent5">
                  <a:lumMod val="85000"/>
                </a:schemeClr>
              </a:solidFill>
              <a:effectLst/>
              <a:latin typeface="Consolas" panose="020B0609020204030204" pitchFamily="49" charset="0"/>
            </a:endParaRPr>
          </a:p>
          <a:p>
            <a:r>
              <a:rPr lang="en-US" sz="3600" b="0" dirty="0">
                <a:solidFill>
                  <a:schemeClr val="accent5">
                    <a:lumMod val="85000"/>
                  </a:schemeClr>
                </a:solidFill>
                <a:effectLst/>
                <a:latin typeface="Consolas" panose="020B0609020204030204" pitchFamily="49" charset="0"/>
              </a:rPr>
              <a:t>  alert(`Now: ${current}`);</a:t>
            </a:r>
          </a:p>
          <a:p>
            <a:r>
              <a:rPr lang="en-US" sz="3600" b="0" dirty="0">
                <a:solidFill>
                  <a:schemeClr val="accent5">
                    <a:lumMod val="85000"/>
                  </a:schemeClr>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2322"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9" name="TextBox 8">
            <a:extLst>
              <a:ext uri="{FF2B5EF4-FFF2-40B4-BE49-F238E27FC236}">
                <a16:creationId xmlns:a16="http://schemas.microsoft.com/office/drawing/2014/main" id="{C3AF65B6-924E-4FFB-9CF5-D7C7DF7D3B93}"/>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0</a:t>
            </a:r>
          </a:p>
        </p:txBody>
      </p:sp>
      <p:sp>
        <p:nvSpPr>
          <p:cNvPr id="10" name="TextBox 9">
            <a:extLst>
              <a:ext uri="{FF2B5EF4-FFF2-40B4-BE49-F238E27FC236}">
                <a16:creationId xmlns:a16="http://schemas.microsoft.com/office/drawing/2014/main" id="{C15741EE-B87B-468E-ACAF-FE92CF3CA4CA}"/>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1</a:t>
            </a:r>
          </a:p>
        </p:txBody>
      </p:sp>
    </p:spTree>
    <p:extLst>
      <p:ext uri="{BB962C8B-B14F-4D97-AF65-F5344CB8AC3E}">
        <p14:creationId xmlns:p14="http://schemas.microsoft.com/office/powerpoint/2010/main" val="34138666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26" presetClass="emph" presetSubtype="0" fill="hold" grpId="1" nodeType="afterEffect">
                                  <p:stCondLst>
                                    <p:cond delay="0"/>
                                  </p:stCondLst>
                                  <p:childTnLst>
                                    <p:animEffect transition="out" filter="fade">
                                      <p:cBhvr>
                                        <p:cTn id="10" dur="500" tmFilter="0, 0; .2, .5; .8, .5; 1, 0"/>
                                        <p:tgtEl>
                                          <p:spTgt spid="7"/>
                                        </p:tgtEl>
                                      </p:cBhvr>
                                    </p:animEffect>
                                    <p:animScale>
                                      <p:cBhvr>
                                        <p:cTn id="11" dur="250" autoRev="1" fill="hold"/>
                                        <p:tgtEl>
                                          <p:spTgt spid="7"/>
                                        </p:tgtEl>
                                      </p:cBhvr>
                                      <p:by x="105000" y="105000"/>
                                    </p:animScale>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&lt; </a:t>
            </a:r>
            <a:r>
              <a:rPr lang="en-US" sz="3600" b="0" dirty="0">
                <a:solidFill>
                  <a:schemeClr val="accent5">
                    <a:lumMod val="85000"/>
                  </a:schemeClr>
                </a:solidFill>
                <a:latin typeface="Consolas" panose="020B0609020204030204" pitchFamily="49" charset="0"/>
              </a:rPr>
              <a:t>3</a:t>
            </a:r>
            <a:r>
              <a:rPr lang="en-US" sz="3600" b="0" dirty="0">
                <a:solidFill>
                  <a:schemeClr val="accent5">
                    <a:lumMod val="85000"/>
                  </a:schemeClr>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p>
          <a:p>
            <a:r>
              <a:rPr lang="en-US" sz="3600" b="0" dirty="0">
                <a:solidFill>
                  <a:schemeClr val="accent5">
                    <a:lumMod val="85000"/>
                  </a:schemeClr>
                </a:solidFill>
                <a:effectLst/>
                <a:latin typeface="Consolas" panose="020B0609020204030204" pitchFamily="49" charset="0"/>
              </a:rPr>
              <a:t>  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rgbClr val="3F374B"/>
                </a:solidFill>
                <a:effectLst/>
                <a:latin typeface="Consolas" panose="020B0609020204030204" pitchFamily="49" charset="0"/>
              </a:rPr>
              <a:t>  </a:t>
            </a:r>
            <a:r>
              <a:rPr lang="en-US" sz="3600" b="1" dirty="0">
                <a:solidFill>
                  <a:srgbClr val="251B50"/>
                </a:solidFill>
                <a:effectLst/>
                <a:latin typeface="Consolas" panose="020B0609020204030204" pitchFamily="49" charset="0"/>
              </a:rPr>
              <a:t>alert</a:t>
            </a:r>
            <a:r>
              <a:rPr lang="en-US" sz="3600" b="1" dirty="0">
                <a:solidFill>
                  <a:srgbClr val="3F374B"/>
                </a:solidFill>
                <a:effectLst/>
                <a:latin typeface="Consolas" panose="020B0609020204030204" pitchFamily="49" charset="0"/>
              </a:rPr>
              <a:t>(</a:t>
            </a:r>
            <a:r>
              <a:rPr lang="en-US" sz="3600" b="1" dirty="0">
                <a:solidFill>
                  <a:srgbClr val="C300FF"/>
                </a:solidFill>
                <a:effectLst/>
                <a:latin typeface="Consolas" panose="020B0609020204030204" pitchFamily="49" charset="0"/>
              </a:rPr>
              <a:t>`Now: </a:t>
            </a:r>
            <a:r>
              <a:rPr lang="en-US" sz="3600" b="1" dirty="0">
                <a:solidFill>
                  <a:srgbClr val="FF16B0"/>
                </a:solidFill>
                <a:effectLst/>
                <a:latin typeface="Consolas" panose="020B0609020204030204" pitchFamily="49" charset="0"/>
              </a:rPr>
              <a:t>${</a:t>
            </a:r>
            <a:r>
              <a:rPr lang="en-US" sz="3600" b="1" dirty="0">
                <a:solidFill>
                  <a:srgbClr val="4D5EFF"/>
                </a:solidFill>
                <a:effectLst/>
                <a:latin typeface="Consolas" panose="020B0609020204030204" pitchFamily="49" charset="0"/>
              </a:rPr>
              <a:t>current</a:t>
            </a:r>
            <a:r>
              <a:rPr lang="en-US" sz="3600" b="1" dirty="0">
                <a:solidFill>
                  <a:srgbClr val="FF16B0"/>
                </a:solidFill>
                <a:effectLst/>
                <a:latin typeface="Consolas" panose="020B0609020204030204" pitchFamily="49" charset="0"/>
              </a:rPr>
              <a:t>}</a:t>
            </a:r>
            <a:r>
              <a:rPr lang="en-US" sz="3600" b="1" dirty="0">
                <a:solidFill>
                  <a:srgbClr val="C300FF"/>
                </a:solidFill>
                <a:effectLst/>
                <a:latin typeface="Consolas" panose="020B0609020204030204" pitchFamily="49" charset="0"/>
              </a:rPr>
              <a:t>`</a:t>
            </a:r>
            <a:r>
              <a:rPr lang="en-US" sz="3600" b="1" dirty="0">
                <a:solidFill>
                  <a:srgbClr val="3F374B"/>
                </a:solidFill>
                <a:effectLst/>
                <a:latin typeface="Consolas" panose="020B0609020204030204" pitchFamily="49" charset="0"/>
              </a:rPr>
              <a:t>);</a:t>
            </a:r>
            <a:endParaRPr lang="en-US" sz="3600" b="1" dirty="0">
              <a:solidFill>
                <a:srgbClr val="19152C"/>
              </a:solidFill>
              <a:effectLst/>
              <a:latin typeface="Consolas" panose="020B0609020204030204" pitchFamily="49" charset="0"/>
            </a:endParaRPr>
          </a:p>
          <a:p>
            <a:r>
              <a:rPr lang="en-US" sz="3600" b="0" dirty="0">
                <a:solidFill>
                  <a:schemeClr val="accent5">
                    <a:lumMod val="85000"/>
                  </a:schemeClr>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2322"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8" name="Rectangle 7">
            <a:extLst>
              <a:ext uri="{FF2B5EF4-FFF2-40B4-BE49-F238E27FC236}">
                <a16:creationId xmlns:a16="http://schemas.microsoft.com/office/drawing/2014/main" id="{EDF20F8A-B7DB-4690-9B1F-F7FD824C38C1}"/>
              </a:ext>
            </a:extLst>
          </p:cNvPr>
          <p:cNvSpPr/>
          <p:nvPr/>
        </p:nvSpPr>
        <p:spPr>
          <a:xfrm>
            <a:off x="5993393" y="3548804"/>
            <a:ext cx="2213325" cy="102218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Miriam Libre" panose="00000500000000000000" pitchFamily="2" charset="-79"/>
                <a:cs typeface="Miriam Libre" panose="00000500000000000000" pitchFamily="2" charset="-79"/>
              </a:rPr>
              <a:t>Now: 1</a:t>
            </a:r>
          </a:p>
        </p:txBody>
      </p:sp>
      <p:sp>
        <p:nvSpPr>
          <p:cNvPr id="9" name="TextBox 8">
            <a:extLst>
              <a:ext uri="{FF2B5EF4-FFF2-40B4-BE49-F238E27FC236}">
                <a16:creationId xmlns:a16="http://schemas.microsoft.com/office/drawing/2014/main" id="{C3AF65B6-924E-4FFB-9CF5-D7C7DF7D3B93}"/>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0</a:t>
            </a:r>
          </a:p>
        </p:txBody>
      </p:sp>
      <p:sp>
        <p:nvSpPr>
          <p:cNvPr id="10" name="TextBox 9">
            <a:extLst>
              <a:ext uri="{FF2B5EF4-FFF2-40B4-BE49-F238E27FC236}">
                <a16:creationId xmlns:a16="http://schemas.microsoft.com/office/drawing/2014/main" id="{C15741EE-B87B-468E-ACAF-FE92CF3CA4CA}"/>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1</a:t>
            </a:r>
          </a:p>
        </p:txBody>
      </p:sp>
    </p:spTree>
    <p:extLst>
      <p:ext uri="{BB962C8B-B14F-4D97-AF65-F5344CB8AC3E}">
        <p14:creationId xmlns:p14="http://schemas.microsoft.com/office/powerpoint/2010/main" val="12641111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&lt; </a:t>
            </a:r>
            <a:r>
              <a:rPr lang="en-US" sz="3600" b="0" dirty="0">
                <a:solidFill>
                  <a:schemeClr val="accent5">
                    <a:lumMod val="85000"/>
                  </a:schemeClr>
                </a:solidFill>
                <a:latin typeface="Consolas" panose="020B0609020204030204" pitchFamily="49" charset="0"/>
              </a:rPr>
              <a:t>3</a:t>
            </a:r>
            <a:r>
              <a:rPr lang="en-US" sz="3600" b="0" dirty="0">
                <a:solidFill>
                  <a:schemeClr val="accent5">
                    <a:lumMod val="85000"/>
                  </a:schemeClr>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p>
          <a:p>
            <a:r>
              <a:rPr lang="en-US" sz="3600" b="0" dirty="0">
                <a:solidFill>
                  <a:schemeClr val="accent5">
                    <a:lumMod val="85000"/>
                  </a:schemeClr>
                </a:solidFill>
                <a:effectLst/>
                <a:latin typeface="Consolas" panose="020B0609020204030204" pitchFamily="49" charset="0"/>
              </a:rPr>
              <a:t>  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chemeClr val="accent5">
                    <a:lumMod val="85000"/>
                  </a:schemeClr>
                </a:solidFill>
                <a:effectLst/>
                <a:latin typeface="Consolas" panose="020B0609020204030204" pitchFamily="49" charset="0"/>
              </a:rPr>
              <a:t>  alert(`Now: ${current}`);</a:t>
            </a:r>
          </a:p>
          <a:p>
            <a:r>
              <a:rPr lang="en-US" sz="3600" b="1" dirty="0">
                <a:solidFill>
                  <a:srgbClr val="3F374B"/>
                </a:solidFill>
                <a:effectLst/>
                <a:latin typeface="Consolas" panose="020B0609020204030204" pitchFamily="49" charset="0"/>
              </a:rPr>
              <a:t>}</a:t>
            </a:r>
            <a:endParaRPr lang="en-US" sz="3600" b="1" dirty="0">
              <a:solidFill>
                <a:srgbClr val="19152C"/>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2322"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9" name="TextBox 8">
            <a:extLst>
              <a:ext uri="{FF2B5EF4-FFF2-40B4-BE49-F238E27FC236}">
                <a16:creationId xmlns:a16="http://schemas.microsoft.com/office/drawing/2014/main" id="{C3AF65B6-924E-4FFB-9CF5-D7C7DF7D3B93}"/>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0</a:t>
            </a:r>
          </a:p>
        </p:txBody>
      </p:sp>
      <p:sp>
        <p:nvSpPr>
          <p:cNvPr id="10" name="TextBox 9">
            <a:extLst>
              <a:ext uri="{FF2B5EF4-FFF2-40B4-BE49-F238E27FC236}">
                <a16:creationId xmlns:a16="http://schemas.microsoft.com/office/drawing/2014/main" id="{C15741EE-B87B-468E-ACAF-FE92CF3CA4CA}"/>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1</a:t>
            </a:r>
          </a:p>
        </p:txBody>
      </p:sp>
    </p:spTree>
    <p:extLst>
      <p:ext uri="{BB962C8B-B14F-4D97-AF65-F5344CB8AC3E}">
        <p14:creationId xmlns:p14="http://schemas.microsoft.com/office/powerpoint/2010/main" val="20978625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&lt; </a:t>
            </a:r>
            <a:r>
              <a:rPr lang="en-US" sz="3600" b="0" dirty="0">
                <a:solidFill>
                  <a:schemeClr val="accent5">
                    <a:lumMod val="85000"/>
                  </a:schemeClr>
                </a:solidFill>
                <a:latin typeface="Consolas" panose="020B0609020204030204" pitchFamily="49" charset="0"/>
              </a:rPr>
              <a:t>3</a:t>
            </a:r>
            <a:r>
              <a:rPr lang="en-US" sz="3600" b="0" dirty="0">
                <a:solidFill>
                  <a:schemeClr val="accent5">
                    <a:lumMod val="85000"/>
                  </a:schemeClr>
                </a:solidFill>
                <a:effectLst/>
                <a:latin typeface="Consolas" panose="020B0609020204030204" pitchFamily="49" charset="0"/>
              </a:rPr>
              <a:t>; </a:t>
            </a:r>
            <a:r>
              <a:rPr lang="en-US" sz="3600" b="1" dirty="0" err="1">
                <a:solidFill>
                  <a:srgbClr val="4D5EFF"/>
                </a:solidFill>
                <a:effectLst/>
                <a:latin typeface="Consolas" panose="020B0609020204030204" pitchFamily="49" charset="0"/>
              </a:rPr>
              <a:t>i</a:t>
            </a:r>
            <a:r>
              <a:rPr lang="en-US" sz="3600" b="1" dirty="0">
                <a:solidFill>
                  <a:srgbClr val="FF16B0"/>
                </a:solidFill>
                <a:effectLst/>
                <a:latin typeface="Consolas" panose="020B0609020204030204" pitchFamily="49" charset="0"/>
              </a:rPr>
              <a:t>++</a:t>
            </a:r>
            <a:r>
              <a:rPr lang="en-US" sz="3600" b="0" dirty="0">
                <a:solidFill>
                  <a:schemeClr val="accent5">
                    <a:lumMod val="85000"/>
                  </a:schemeClr>
                </a:solidFill>
                <a:effectLst/>
                <a:latin typeface="Consolas" panose="020B0609020204030204" pitchFamily="49" charset="0"/>
              </a:rPr>
              <a:t>) {</a:t>
            </a:r>
          </a:p>
          <a:p>
            <a:r>
              <a:rPr lang="en-US" sz="3600" b="0" dirty="0">
                <a:solidFill>
                  <a:schemeClr val="accent5">
                    <a:lumMod val="85000"/>
                  </a:schemeClr>
                </a:solidFill>
                <a:effectLst/>
                <a:latin typeface="Consolas" panose="020B0609020204030204" pitchFamily="49" charset="0"/>
              </a:rPr>
              <a:t>  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chemeClr val="accent5">
                    <a:lumMod val="85000"/>
                  </a:schemeClr>
                </a:solidFill>
                <a:effectLst/>
                <a:latin typeface="Consolas" panose="020B0609020204030204" pitchFamily="49" charset="0"/>
              </a:rPr>
              <a:t>  alert(`Now: ${current}`);</a:t>
            </a:r>
          </a:p>
          <a:p>
            <a:r>
              <a:rPr lang="en-US" sz="3600" b="0" dirty="0">
                <a:solidFill>
                  <a:schemeClr val="accent5">
                    <a:lumMod val="85000"/>
                  </a:schemeClr>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2322"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9" name="TextBox 8">
            <a:extLst>
              <a:ext uri="{FF2B5EF4-FFF2-40B4-BE49-F238E27FC236}">
                <a16:creationId xmlns:a16="http://schemas.microsoft.com/office/drawing/2014/main" id="{C3AF65B6-924E-4FFB-9CF5-D7C7DF7D3B93}"/>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0</a:t>
            </a:r>
          </a:p>
        </p:txBody>
      </p:sp>
      <p:sp>
        <p:nvSpPr>
          <p:cNvPr id="10" name="TextBox 9">
            <a:extLst>
              <a:ext uri="{FF2B5EF4-FFF2-40B4-BE49-F238E27FC236}">
                <a16:creationId xmlns:a16="http://schemas.microsoft.com/office/drawing/2014/main" id="{C15741EE-B87B-468E-ACAF-FE92CF3CA4CA}"/>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1</a:t>
            </a:r>
          </a:p>
        </p:txBody>
      </p:sp>
      <p:sp>
        <p:nvSpPr>
          <p:cNvPr id="11" name="TextBox 10">
            <a:extLst>
              <a:ext uri="{FF2B5EF4-FFF2-40B4-BE49-F238E27FC236}">
                <a16:creationId xmlns:a16="http://schemas.microsoft.com/office/drawing/2014/main" id="{A9AF892C-3AB9-4D4B-BA23-E57EEE866C69}"/>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1</a:t>
            </a:r>
          </a:p>
        </p:txBody>
      </p:sp>
    </p:spTree>
    <p:extLst>
      <p:ext uri="{BB962C8B-B14F-4D97-AF65-F5344CB8AC3E}">
        <p14:creationId xmlns:p14="http://schemas.microsoft.com/office/powerpoint/2010/main" val="18198801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par>
                                <p:cTn id="8" presetID="26" presetClass="emph" presetSubtype="0" fill="hold" grpId="1" nodeType="withEffect">
                                  <p:stCondLst>
                                    <p:cond delay="0"/>
                                  </p:stCondLst>
                                  <p:childTnLst>
                                    <p:animEffect transition="out" filter="fade">
                                      <p:cBhvr>
                                        <p:cTn id="9" dur="500" tmFilter="0, 0; .2, .5; .8, .5; 1, 0"/>
                                        <p:tgtEl>
                                          <p:spTgt spid="9"/>
                                        </p:tgtEl>
                                      </p:cBhvr>
                                    </p:animEffect>
                                    <p:animScale>
                                      <p:cBhvr>
                                        <p:cTn id="10" dur="250" autoRev="1" fill="hold"/>
                                        <p:tgtEl>
                                          <p:spTgt spid="9"/>
                                        </p:tgtEl>
                                      </p:cBhvr>
                                      <p:by x="105000" y="105000"/>
                                    </p:animScale>
                                  </p:childTnLst>
                                </p:cTn>
                              </p:par>
                            </p:childTnLst>
                          </p:cTn>
                        </p:par>
                        <p:par>
                          <p:cTn id="11" fill="hold">
                            <p:stCondLst>
                              <p:cond delay="500"/>
                            </p:stCondLst>
                            <p:childTnLst>
                              <p:par>
                                <p:cTn id="12" presetID="26" presetClass="emph" presetSubtype="0" fill="hold" grpId="1" nodeType="afterEffect">
                                  <p:stCondLst>
                                    <p:cond delay="0"/>
                                  </p:stCondLst>
                                  <p:childTnLst>
                                    <p:animEffect transition="out" filter="fade">
                                      <p:cBhvr>
                                        <p:cTn id="13" dur="500" tmFilter="0, 0; .2, .5; .8, .5; 1, 0"/>
                                        <p:tgtEl>
                                          <p:spTgt spid="6"/>
                                        </p:tgtEl>
                                      </p:cBhvr>
                                    </p:animEffect>
                                    <p:animScale>
                                      <p:cBhvr>
                                        <p:cTn id="14" dur="250" autoRev="1" fill="hold"/>
                                        <p:tgtEl>
                                          <p:spTgt spid="6"/>
                                        </p:tgtEl>
                                      </p:cBhvr>
                                      <p:by x="105000" y="105000"/>
                                    </p:animScale>
                                  </p:childTnLst>
                                </p:cTn>
                              </p:par>
                              <p:par>
                                <p:cTn id="15" presetID="26" presetClass="emph" presetSubtype="0" fill="hold" grpId="2" nodeType="withEffect">
                                  <p:stCondLst>
                                    <p:cond delay="0"/>
                                  </p:stCondLst>
                                  <p:childTnLst>
                                    <p:animEffect transition="out" filter="fade">
                                      <p:cBhvr>
                                        <p:cTn id="16" dur="500" tmFilter="0, 0; .2, .5; .8, .5; 1, 0"/>
                                        <p:tgtEl>
                                          <p:spTgt spid="9"/>
                                        </p:tgtEl>
                                      </p:cBhvr>
                                    </p:animEffect>
                                    <p:animScale>
                                      <p:cBhvr>
                                        <p:cTn id="17" dur="250" autoRev="1" fill="hold"/>
                                        <p:tgtEl>
                                          <p:spTgt spid="9"/>
                                        </p:tgtEl>
                                      </p:cBhvr>
                                      <p:by x="105000" y="105000"/>
                                    </p:animScale>
                                  </p:childTnLst>
                                </p:cTn>
                              </p:par>
                            </p:childTnLst>
                          </p:cTn>
                        </p:par>
                        <p:par>
                          <p:cTn id="18" fill="hold">
                            <p:stCondLst>
                              <p:cond delay="1000"/>
                            </p:stCondLst>
                            <p:childTnLst>
                              <p:par>
                                <p:cTn id="19" presetID="10" presetClass="exit" presetSubtype="0" fill="hold" grpId="0" nodeType="afterEffect">
                                  <p:stCondLst>
                                    <p:cond delay="0"/>
                                  </p:stCondLst>
                                  <p:childTnLst>
                                    <p:animEffect transition="out" filter="fade">
                                      <p:cBhvr>
                                        <p:cTn id="20" dur="500"/>
                                        <p:tgtEl>
                                          <p:spTgt spid="9"/>
                                        </p:tgtEl>
                                      </p:cBhvr>
                                    </p:animEffect>
                                    <p:set>
                                      <p:cBhvr>
                                        <p:cTn id="21" dur="1" fill="hold">
                                          <p:stCondLst>
                                            <p:cond delay="499"/>
                                          </p:stCondLst>
                                        </p:cTn>
                                        <p:tgtEl>
                                          <p:spTgt spid="9"/>
                                        </p:tgtEl>
                                        <p:attrNameLst>
                                          <p:attrName>style.visibility</p:attrName>
                                        </p:attrNameLst>
                                      </p:cBhvr>
                                      <p:to>
                                        <p:strVal val="hidden"/>
                                      </p:to>
                                    </p:se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9" grpId="0"/>
      <p:bldP spid="9" grpId="1"/>
      <p:bldP spid="9" grpId="2"/>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1" dirty="0" err="1">
                <a:solidFill>
                  <a:srgbClr val="4D5EFF"/>
                </a:solidFill>
                <a:effectLst/>
                <a:latin typeface="Consolas" panose="020B0609020204030204" pitchFamily="49" charset="0"/>
              </a:rPr>
              <a:t>i</a:t>
            </a:r>
            <a:r>
              <a:rPr lang="en-US" sz="3600" b="1" dirty="0">
                <a:solidFill>
                  <a:srgbClr val="3F374B"/>
                </a:solidFill>
                <a:effectLst/>
                <a:latin typeface="Consolas" panose="020B0609020204030204" pitchFamily="49" charset="0"/>
              </a:rPr>
              <a:t> </a:t>
            </a:r>
            <a:r>
              <a:rPr lang="en-US" sz="3600" b="1" dirty="0">
                <a:solidFill>
                  <a:srgbClr val="FF16B0"/>
                </a:solidFill>
                <a:effectLst/>
                <a:latin typeface="Consolas" panose="020B0609020204030204" pitchFamily="49" charset="0"/>
              </a:rPr>
              <a:t>&lt;</a:t>
            </a:r>
            <a:r>
              <a:rPr lang="en-US" sz="3600" b="1" dirty="0">
                <a:solidFill>
                  <a:srgbClr val="3F374B"/>
                </a:solidFill>
                <a:effectLst/>
                <a:latin typeface="Consolas" panose="020B0609020204030204" pitchFamily="49" charset="0"/>
              </a:rPr>
              <a:t> </a:t>
            </a:r>
            <a:r>
              <a:rPr lang="en-US" sz="3600" b="1" dirty="0">
                <a:solidFill>
                  <a:srgbClr val="FF16B0"/>
                </a:solidFill>
                <a:latin typeface="Consolas" panose="020B0609020204030204" pitchFamily="49" charset="0"/>
              </a:rPr>
              <a:t>3</a:t>
            </a:r>
            <a:r>
              <a:rPr lang="en-US" sz="3600" b="0" dirty="0">
                <a:solidFill>
                  <a:srgbClr val="3F374B"/>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p>
          <a:p>
            <a:r>
              <a:rPr lang="en-US" sz="3600" b="0" dirty="0">
                <a:solidFill>
                  <a:schemeClr val="accent5">
                    <a:lumMod val="85000"/>
                  </a:schemeClr>
                </a:solidFill>
                <a:effectLst/>
                <a:latin typeface="Consolas" panose="020B0609020204030204" pitchFamily="49" charset="0"/>
              </a:rPr>
              <a:t>  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chemeClr val="accent5">
                    <a:lumMod val="85000"/>
                  </a:schemeClr>
                </a:solidFill>
                <a:effectLst/>
                <a:latin typeface="Consolas" panose="020B0609020204030204" pitchFamily="49" charset="0"/>
              </a:rPr>
              <a:t>  alert(`Now: ${current}`);</a:t>
            </a:r>
          </a:p>
          <a:p>
            <a:r>
              <a:rPr lang="en-US" sz="3600" b="0" dirty="0">
                <a:solidFill>
                  <a:schemeClr val="accent5">
                    <a:lumMod val="85000"/>
                  </a:schemeClr>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2322"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9" name="TextBox 8">
            <a:extLst>
              <a:ext uri="{FF2B5EF4-FFF2-40B4-BE49-F238E27FC236}">
                <a16:creationId xmlns:a16="http://schemas.microsoft.com/office/drawing/2014/main" id="{C3AF65B6-924E-4FFB-9CF5-D7C7DF7D3B93}"/>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1</a:t>
            </a:r>
          </a:p>
        </p:txBody>
      </p:sp>
      <p:sp>
        <p:nvSpPr>
          <p:cNvPr id="10" name="TextBox 9">
            <a:extLst>
              <a:ext uri="{FF2B5EF4-FFF2-40B4-BE49-F238E27FC236}">
                <a16:creationId xmlns:a16="http://schemas.microsoft.com/office/drawing/2014/main" id="{C15741EE-B87B-468E-ACAF-FE92CF3CA4CA}"/>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1</a:t>
            </a:r>
          </a:p>
        </p:txBody>
      </p:sp>
      <p:sp>
        <p:nvSpPr>
          <p:cNvPr id="11" name="Rectangle 10">
            <a:extLst>
              <a:ext uri="{FF2B5EF4-FFF2-40B4-BE49-F238E27FC236}">
                <a16:creationId xmlns:a16="http://schemas.microsoft.com/office/drawing/2014/main" id="{48F7A4F7-A598-4D06-92AC-79D74D3985FD}"/>
              </a:ext>
            </a:extLst>
          </p:cNvPr>
          <p:cNvSpPr/>
          <p:nvPr/>
        </p:nvSpPr>
        <p:spPr>
          <a:xfrm>
            <a:off x="5562348"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err="1">
                <a:solidFill>
                  <a:schemeClr val="tx1"/>
                </a:solidFill>
                <a:latin typeface="Consolas" panose="020B0609020204030204" pitchFamily="49" charset="0"/>
                <a:cs typeface="Miriam Libre" panose="00000500000000000000" pitchFamily="2" charset="-79"/>
              </a:rPr>
              <a:t>i</a:t>
            </a:r>
            <a:r>
              <a:rPr lang="en-US" sz="4000" dirty="0">
                <a:solidFill>
                  <a:schemeClr val="tx1"/>
                </a:solidFill>
                <a:latin typeface="Consolas" panose="020B0609020204030204" pitchFamily="49" charset="0"/>
                <a:cs typeface="Miriam Libre" panose="00000500000000000000" pitchFamily="2" charset="-79"/>
              </a:rPr>
              <a:t>&lt;3: </a:t>
            </a:r>
            <a:r>
              <a:rPr lang="en-US" sz="4000" b="1" dirty="0">
                <a:solidFill>
                  <a:srgbClr val="0070C0"/>
                </a:solidFill>
                <a:latin typeface="Consolas" panose="020B0609020204030204" pitchFamily="49" charset="0"/>
                <a:cs typeface="Miriam Libre" panose="00000500000000000000" pitchFamily="2" charset="-79"/>
              </a:rPr>
              <a:t>true</a:t>
            </a:r>
            <a:r>
              <a:rPr lang="en-US" sz="4000" dirty="0">
                <a:solidFill>
                  <a:schemeClr val="tx1"/>
                </a:solidFill>
                <a:latin typeface="Consolas" panose="020B0609020204030204" pitchFamily="49" charset="0"/>
                <a:cs typeface="Miriam Libre" panose="00000500000000000000" pitchFamily="2" charset="-79"/>
              </a:rPr>
              <a:t> </a:t>
            </a:r>
          </a:p>
        </p:txBody>
      </p:sp>
    </p:spTree>
    <p:extLst>
      <p:ext uri="{BB962C8B-B14F-4D97-AF65-F5344CB8AC3E}">
        <p14:creationId xmlns:p14="http://schemas.microsoft.com/office/powerpoint/2010/main" val="3982278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&lt; </a:t>
            </a:r>
            <a:r>
              <a:rPr lang="en-US" sz="3600" b="0" dirty="0">
                <a:solidFill>
                  <a:schemeClr val="accent5">
                    <a:lumMod val="85000"/>
                  </a:schemeClr>
                </a:solidFill>
                <a:latin typeface="Consolas" panose="020B0609020204030204" pitchFamily="49" charset="0"/>
              </a:rPr>
              <a:t>3</a:t>
            </a:r>
            <a:r>
              <a:rPr lang="en-US" sz="3600" b="0" dirty="0">
                <a:solidFill>
                  <a:schemeClr val="accent5">
                    <a:lumMod val="85000"/>
                  </a:schemeClr>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r>
              <a:rPr lang="en-US" sz="3600" b="1" dirty="0">
                <a:solidFill>
                  <a:srgbClr val="3F374B"/>
                </a:solidFill>
                <a:effectLst/>
                <a:latin typeface="Consolas" panose="020B0609020204030204" pitchFamily="49" charset="0"/>
              </a:rPr>
              <a:t>{</a:t>
            </a:r>
            <a:endParaRPr lang="en-US" sz="3600" b="1"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  </a:t>
            </a:r>
            <a:r>
              <a:rPr lang="en-US" sz="3600" b="1" dirty="0">
                <a:solidFill>
                  <a:srgbClr val="FF16B0"/>
                </a:solidFill>
                <a:effectLst/>
                <a:latin typeface="Consolas" panose="020B0609020204030204" pitchFamily="49" charset="0"/>
              </a:rPr>
              <a:t>let</a:t>
            </a:r>
            <a:r>
              <a:rPr lang="en-US" sz="3600" b="1" dirty="0">
                <a:solidFill>
                  <a:srgbClr val="3F374B"/>
                </a:solidFill>
                <a:effectLst/>
                <a:latin typeface="Consolas" panose="020B0609020204030204" pitchFamily="49" charset="0"/>
              </a:rPr>
              <a:t> </a:t>
            </a:r>
            <a:r>
              <a:rPr lang="en-US" sz="3600" b="1" dirty="0">
                <a:solidFill>
                  <a:srgbClr val="4D5EFF"/>
                </a:solidFill>
                <a:effectLst/>
                <a:latin typeface="Consolas" panose="020B0609020204030204" pitchFamily="49" charset="0"/>
              </a:rPr>
              <a:t>current</a:t>
            </a:r>
            <a:r>
              <a:rPr lang="en-US" sz="3600" b="1" dirty="0">
                <a:solidFill>
                  <a:srgbClr val="3F374B"/>
                </a:solidFill>
                <a:effectLst/>
                <a:latin typeface="Consolas" panose="020B0609020204030204" pitchFamily="49" charset="0"/>
              </a:rPr>
              <a:t> </a:t>
            </a:r>
            <a:r>
              <a:rPr lang="en-US" sz="3600" b="1" dirty="0">
                <a:solidFill>
                  <a:srgbClr val="FF16B0"/>
                </a:solidFill>
                <a:effectLst/>
                <a:latin typeface="Consolas" panose="020B0609020204030204" pitchFamily="49" charset="0"/>
              </a:rPr>
              <a:t>=</a:t>
            </a:r>
            <a:r>
              <a:rPr lang="en-US" sz="3600" b="1" dirty="0">
                <a:solidFill>
                  <a:srgbClr val="3F374B"/>
                </a:solidFill>
                <a:effectLst/>
                <a:latin typeface="Consolas" panose="020B0609020204030204" pitchFamily="49" charset="0"/>
              </a:rPr>
              <a:t> </a:t>
            </a:r>
            <a:r>
              <a:rPr lang="en-US" sz="3600" b="1" dirty="0" err="1">
                <a:solidFill>
                  <a:srgbClr val="4D5EFF"/>
                </a:solidFill>
                <a:effectLst/>
                <a:latin typeface="Consolas" panose="020B0609020204030204" pitchFamily="49" charset="0"/>
              </a:rPr>
              <a:t>i</a:t>
            </a:r>
            <a:r>
              <a:rPr lang="en-US" sz="3600" b="1" dirty="0">
                <a:solidFill>
                  <a:srgbClr val="4D5EFF"/>
                </a:solidFill>
                <a:effectLst/>
                <a:latin typeface="Consolas" panose="020B0609020204030204" pitchFamily="49" charset="0"/>
              </a:rPr>
              <a:t> </a:t>
            </a:r>
            <a:r>
              <a:rPr lang="en-US" sz="3600" b="1" dirty="0">
                <a:solidFill>
                  <a:srgbClr val="FF16B0"/>
                </a:solidFill>
                <a:effectLst/>
                <a:latin typeface="Consolas" panose="020B0609020204030204" pitchFamily="49" charset="0"/>
              </a:rPr>
              <a:t>+ 1</a:t>
            </a:r>
            <a:r>
              <a:rPr lang="en-US" sz="3600" b="1" dirty="0">
                <a:solidFill>
                  <a:srgbClr val="3F374B"/>
                </a:solidFill>
                <a:effectLst/>
                <a:latin typeface="Consolas" panose="020B0609020204030204" pitchFamily="49" charset="0"/>
              </a:rPr>
              <a:t>;</a:t>
            </a:r>
            <a:endParaRPr lang="en-US" sz="3600" b="1" dirty="0">
              <a:solidFill>
                <a:schemeClr val="accent5">
                  <a:lumMod val="85000"/>
                </a:schemeClr>
              </a:solidFill>
              <a:effectLst/>
              <a:latin typeface="Consolas" panose="020B0609020204030204" pitchFamily="49" charset="0"/>
            </a:endParaRPr>
          </a:p>
          <a:p>
            <a:r>
              <a:rPr lang="en-US" sz="3600" b="0" dirty="0">
                <a:solidFill>
                  <a:schemeClr val="accent5">
                    <a:lumMod val="85000"/>
                  </a:schemeClr>
                </a:solidFill>
                <a:effectLst/>
                <a:latin typeface="Consolas" panose="020B0609020204030204" pitchFamily="49" charset="0"/>
              </a:rPr>
              <a:t>  alert(`Now: ${current}`);</a:t>
            </a:r>
          </a:p>
          <a:p>
            <a:r>
              <a:rPr lang="en-US" sz="3600" b="1" dirty="0">
                <a:solidFill>
                  <a:schemeClr val="tx1"/>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2322"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9" name="TextBox 8">
            <a:extLst>
              <a:ext uri="{FF2B5EF4-FFF2-40B4-BE49-F238E27FC236}">
                <a16:creationId xmlns:a16="http://schemas.microsoft.com/office/drawing/2014/main" id="{C3AF65B6-924E-4FFB-9CF5-D7C7DF7D3B93}"/>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1</a:t>
            </a:r>
          </a:p>
        </p:txBody>
      </p:sp>
      <p:sp>
        <p:nvSpPr>
          <p:cNvPr id="10" name="TextBox 9">
            <a:extLst>
              <a:ext uri="{FF2B5EF4-FFF2-40B4-BE49-F238E27FC236}">
                <a16:creationId xmlns:a16="http://schemas.microsoft.com/office/drawing/2014/main" id="{C15741EE-B87B-468E-ACAF-FE92CF3CA4CA}"/>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1</a:t>
            </a:r>
          </a:p>
        </p:txBody>
      </p:sp>
      <p:sp>
        <p:nvSpPr>
          <p:cNvPr id="11" name="TextBox 10">
            <a:extLst>
              <a:ext uri="{FF2B5EF4-FFF2-40B4-BE49-F238E27FC236}">
                <a16:creationId xmlns:a16="http://schemas.microsoft.com/office/drawing/2014/main" id="{0282F9AB-4875-48CF-82AE-90B523B121AC}"/>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2</a:t>
            </a:r>
          </a:p>
        </p:txBody>
      </p:sp>
    </p:spTree>
    <p:extLst>
      <p:ext uri="{BB962C8B-B14F-4D97-AF65-F5344CB8AC3E}">
        <p14:creationId xmlns:p14="http://schemas.microsoft.com/office/powerpoint/2010/main" val="17981063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par>
                                <p:cTn id="8" presetID="26" presetClass="emph" presetSubtype="0" fill="hold" grpId="1" nodeType="withEffect">
                                  <p:stCondLst>
                                    <p:cond delay="0"/>
                                  </p:stCondLst>
                                  <p:childTnLst>
                                    <p:animEffect transition="out" filter="fade">
                                      <p:cBhvr>
                                        <p:cTn id="9" dur="500" tmFilter="0, 0; .2, .5; .8, .5; 1, 0"/>
                                        <p:tgtEl>
                                          <p:spTgt spid="10"/>
                                        </p:tgtEl>
                                      </p:cBhvr>
                                    </p:animEffect>
                                    <p:animScale>
                                      <p:cBhvr>
                                        <p:cTn id="10" dur="250" autoRev="1" fill="hold"/>
                                        <p:tgtEl>
                                          <p:spTgt spid="10"/>
                                        </p:tgtEl>
                                      </p:cBhvr>
                                      <p:by x="105000" y="105000"/>
                                    </p:animScale>
                                  </p:childTnLst>
                                </p:cTn>
                              </p:par>
                            </p:childTnLst>
                          </p:cTn>
                        </p:par>
                        <p:par>
                          <p:cTn id="11" fill="hold">
                            <p:stCondLst>
                              <p:cond delay="500"/>
                            </p:stCondLst>
                            <p:childTnLst>
                              <p:par>
                                <p:cTn id="12" presetID="26" presetClass="emph" presetSubtype="0" fill="hold" grpId="1" nodeType="afterEffect">
                                  <p:stCondLst>
                                    <p:cond delay="0"/>
                                  </p:stCondLst>
                                  <p:childTnLst>
                                    <p:animEffect transition="out" filter="fade">
                                      <p:cBhvr>
                                        <p:cTn id="13" dur="500" tmFilter="0, 0; .2, .5; .8, .5; 1, 0"/>
                                        <p:tgtEl>
                                          <p:spTgt spid="7"/>
                                        </p:tgtEl>
                                      </p:cBhvr>
                                    </p:animEffect>
                                    <p:animScale>
                                      <p:cBhvr>
                                        <p:cTn id="14" dur="250" autoRev="1" fill="hold"/>
                                        <p:tgtEl>
                                          <p:spTgt spid="7"/>
                                        </p:tgtEl>
                                      </p:cBhvr>
                                      <p:by x="105000" y="105000"/>
                                    </p:animScale>
                                  </p:childTnLst>
                                </p:cTn>
                              </p:par>
                              <p:par>
                                <p:cTn id="15" presetID="26" presetClass="emph" presetSubtype="0" fill="hold" grpId="2" nodeType="withEffect">
                                  <p:stCondLst>
                                    <p:cond delay="0"/>
                                  </p:stCondLst>
                                  <p:childTnLst>
                                    <p:animEffect transition="out" filter="fade">
                                      <p:cBhvr>
                                        <p:cTn id="16" dur="500" tmFilter="0, 0; .2, .5; .8, .5; 1, 0"/>
                                        <p:tgtEl>
                                          <p:spTgt spid="10"/>
                                        </p:tgtEl>
                                      </p:cBhvr>
                                    </p:animEffect>
                                    <p:animScale>
                                      <p:cBhvr>
                                        <p:cTn id="17" dur="250" autoRev="1" fill="hold"/>
                                        <p:tgtEl>
                                          <p:spTgt spid="10"/>
                                        </p:tgtEl>
                                      </p:cBhvr>
                                      <p:by x="105000" y="105000"/>
                                    </p:animScale>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xit" presetSubtype="0" fill="hold" grpId="0" nodeType="withEffect">
                                  <p:stCondLst>
                                    <p:cond delay="0"/>
                                  </p:stCondLst>
                                  <p:childTnLst>
                                    <p:animEffect transition="out" filter="fade">
                                      <p:cBhvr>
                                        <p:cTn id="23" dur="500"/>
                                        <p:tgtEl>
                                          <p:spTgt spid="10"/>
                                        </p:tgtEl>
                                      </p:cBhvr>
                                    </p:animEffect>
                                    <p:set>
                                      <p:cBhvr>
                                        <p:cTn id="24"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0" grpId="0"/>
      <p:bldP spid="10" grpId="1"/>
      <p:bldP spid="10" grpId="2"/>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&lt; </a:t>
            </a:r>
            <a:r>
              <a:rPr lang="en-US" sz="3600" b="0" dirty="0">
                <a:solidFill>
                  <a:schemeClr val="accent5">
                    <a:lumMod val="85000"/>
                  </a:schemeClr>
                </a:solidFill>
                <a:latin typeface="Consolas" panose="020B0609020204030204" pitchFamily="49" charset="0"/>
              </a:rPr>
              <a:t>3</a:t>
            </a:r>
            <a:r>
              <a:rPr lang="en-US" sz="3600" b="0" dirty="0">
                <a:solidFill>
                  <a:schemeClr val="accent5">
                    <a:lumMod val="85000"/>
                  </a:schemeClr>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r>
              <a:rPr lang="en-US" sz="3600" b="1" dirty="0">
                <a:solidFill>
                  <a:srgbClr val="3F374B"/>
                </a:solidFill>
                <a:effectLst/>
                <a:latin typeface="Consolas" panose="020B0609020204030204" pitchFamily="49" charset="0"/>
              </a:rPr>
              <a:t>{</a:t>
            </a:r>
            <a:endParaRPr lang="en-US" sz="3600" b="1"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  </a:t>
            </a:r>
            <a:r>
              <a:rPr lang="en-US" sz="3600" b="0" dirty="0">
                <a:solidFill>
                  <a:schemeClr val="accent5">
                    <a:lumMod val="85000"/>
                  </a:schemeClr>
                </a:solidFill>
                <a:effectLst/>
                <a:latin typeface="Consolas" panose="020B0609020204030204" pitchFamily="49" charset="0"/>
              </a:rPr>
              <a:t>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rgbClr val="3F374B"/>
                </a:solidFill>
                <a:effectLst/>
                <a:latin typeface="Consolas" panose="020B0609020204030204" pitchFamily="49" charset="0"/>
              </a:rPr>
              <a:t>  </a:t>
            </a:r>
            <a:r>
              <a:rPr lang="en-US" sz="3600" b="1" dirty="0">
                <a:solidFill>
                  <a:srgbClr val="251B50"/>
                </a:solidFill>
                <a:effectLst/>
                <a:latin typeface="Consolas" panose="020B0609020204030204" pitchFamily="49" charset="0"/>
              </a:rPr>
              <a:t>alert</a:t>
            </a:r>
            <a:r>
              <a:rPr lang="en-US" sz="3600" b="1" dirty="0">
                <a:solidFill>
                  <a:srgbClr val="3F374B"/>
                </a:solidFill>
                <a:effectLst/>
                <a:latin typeface="Consolas" panose="020B0609020204030204" pitchFamily="49" charset="0"/>
              </a:rPr>
              <a:t>(</a:t>
            </a:r>
            <a:r>
              <a:rPr lang="en-US" sz="3600" b="1" dirty="0">
                <a:solidFill>
                  <a:srgbClr val="C300FF"/>
                </a:solidFill>
                <a:effectLst/>
                <a:latin typeface="Consolas" panose="020B0609020204030204" pitchFamily="49" charset="0"/>
              </a:rPr>
              <a:t>`Now: </a:t>
            </a:r>
            <a:r>
              <a:rPr lang="en-US" sz="3600" b="1" dirty="0">
                <a:solidFill>
                  <a:srgbClr val="FF16B0"/>
                </a:solidFill>
                <a:effectLst/>
                <a:latin typeface="Consolas" panose="020B0609020204030204" pitchFamily="49" charset="0"/>
              </a:rPr>
              <a:t>${</a:t>
            </a:r>
            <a:r>
              <a:rPr lang="en-US" sz="3600" b="1" dirty="0">
                <a:solidFill>
                  <a:srgbClr val="4D5EFF"/>
                </a:solidFill>
                <a:effectLst/>
                <a:latin typeface="Consolas" panose="020B0609020204030204" pitchFamily="49" charset="0"/>
              </a:rPr>
              <a:t>current</a:t>
            </a:r>
            <a:r>
              <a:rPr lang="en-US" sz="3600" b="1" dirty="0">
                <a:solidFill>
                  <a:srgbClr val="FF16B0"/>
                </a:solidFill>
                <a:effectLst/>
                <a:latin typeface="Consolas" panose="020B0609020204030204" pitchFamily="49" charset="0"/>
              </a:rPr>
              <a:t>}</a:t>
            </a:r>
            <a:r>
              <a:rPr lang="en-US" sz="3600" b="1" dirty="0">
                <a:solidFill>
                  <a:srgbClr val="C300FF"/>
                </a:solidFill>
                <a:effectLst/>
                <a:latin typeface="Consolas" panose="020B0609020204030204" pitchFamily="49" charset="0"/>
              </a:rPr>
              <a:t>`</a:t>
            </a:r>
            <a:r>
              <a:rPr lang="en-US" sz="3600" b="1" dirty="0">
                <a:solidFill>
                  <a:srgbClr val="3F374B"/>
                </a:solidFill>
                <a:effectLst/>
                <a:latin typeface="Consolas" panose="020B0609020204030204" pitchFamily="49" charset="0"/>
              </a:rPr>
              <a:t>);</a:t>
            </a:r>
            <a:endParaRPr lang="en-US" sz="3600" b="1" dirty="0">
              <a:solidFill>
                <a:srgbClr val="19152C"/>
              </a:solidFill>
              <a:effectLst/>
              <a:latin typeface="Consolas" panose="020B0609020204030204" pitchFamily="49" charset="0"/>
            </a:endParaRPr>
          </a:p>
          <a:p>
            <a:r>
              <a:rPr lang="en-US" sz="3600" b="1" dirty="0">
                <a:solidFill>
                  <a:srgbClr val="3F374B"/>
                </a:solidFill>
                <a:effectLst/>
                <a:latin typeface="Consolas" panose="020B0609020204030204" pitchFamily="49" charset="0"/>
              </a:rPr>
              <a:t>}</a:t>
            </a:r>
            <a:endParaRPr lang="en-US" sz="3600" b="1" dirty="0">
              <a:solidFill>
                <a:srgbClr val="19152C"/>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2322"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8" name="Rectangle 7">
            <a:extLst>
              <a:ext uri="{FF2B5EF4-FFF2-40B4-BE49-F238E27FC236}">
                <a16:creationId xmlns:a16="http://schemas.microsoft.com/office/drawing/2014/main" id="{EDF20F8A-B7DB-4690-9B1F-F7FD824C38C1}"/>
              </a:ext>
            </a:extLst>
          </p:cNvPr>
          <p:cNvSpPr/>
          <p:nvPr/>
        </p:nvSpPr>
        <p:spPr>
          <a:xfrm>
            <a:off x="5993393" y="3548804"/>
            <a:ext cx="2213325" cy="102218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Miriam Libre" panose="00000500000000000000" pitchFamily="2" charset="-79"/>
                <a:cs typeface="Miriam Libre" panose="00000500000000000000" pitchFamily="2" charset="-79"/>
              </a:rPr>
              <a:t>Now: 2</a:t>
            </a:r>
          </a:p>
        </p:txBody>
      </p:sp>
      <p:sp>
        <p:nvSpPr>
          <p:cNvPr id="9" name="TextBox 8">
            <a:extLst>
              <a:ext uri="{FF2B5EF4-FFF2-40B4-BE49-F238E27FC236}">
                <a16:creationId xmlns:a16="http://schemas.microsoft.com/office/drawing/2014/main" id="{C3AF65B6-924E-4FFB-9CF5-D7C7DF7D3B93}"/>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1</a:t>
            </a:r>
          </a:p>
        </p:txBody>
      </p:sp>
      <p:sp>
        <p:nvSpPr>
          <p:cNvPr id="10" name="TextBox 9">
            <a:extLst>
              <a:ext uri="{FF2B5EF4-FFF2-40B4-BE49-F238E27FC236}">
                <a16:creationId xmlns:a16="http://schemas.microsoft.com/office/drawing/2014/main" id="{C15741EE-B87B-468E-ACAF-FE92CF3CA4CA}"/>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2</a:t>
            </a:r>
          </a:p>
        </p:txBody>
      </p:sp>
    </p:spTree>
    <p:extLst>
      <p:ext uri="{BB962C8B-B14F-4D97-AF65-F5344CB8AC3E}">
        <p14:creationId xmlns:p14="http://schemas.microsoft.com/office/powerpoint/2010/main" val="8052228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&lt; </a:t>
            </a:r>
            <a:r>
              <a:rPr lang="en-US" sz="3600" b="0" dirty="0">
                <a:solidFill>
                  <a:schemeClr val="accent5">
                    <a:lumMod val="85000"/>
                  </a:schemeClr>
                </a:solidFill>
                <a:latin typeface="Consolas" panose="020B0609020204030204" pitchFamily="49" charset="0"/>
              </a:rPr>
              <a:t>3</a:t>
            </a:r>
            <a:r>
              <a:rPr lang="en-US" sz="3600" b="0" dirty="0">
                <a:solidFill>
                  <a:schemeClr val="accent5">
                    <a:lumMod val="85000"/>
                  </a:schemeClr>
                </a:solidFill>
                <a:effectLst/>
                <a:latin typeface="Consolas" panose="020B0609020204030204" pitchFamily="49" charset="0"/>
              </a:rPr>
              <a:t>; </a:t>
            </a:r>
            <a:r>
              <a:rPr lang="en-US" sz="3600" b="1" dirty="0" err="1">
                <a:solidFill>
                  <a:srgbClr val="4D5EFF"/>
                </a:solidFill>
                <a:effectLst/>
                <a:latin typeface="Consolas" panose="020B0609020204030204" pitchFamily="49" charset="0"/>
              </a:rPr>
              <a:t>i</a:t>
            </a:r>
            <a:r>
              <a:rPr lang="en-US" sz="3600" b="1" dirty="0">
                <a:solidFill>
                  <a:srgbClr val="FF16B0"/>
                </a:solidFill>
                <a:effectLst/>
                <a:latin typeface="Consolas" panose="020B0609020204030204" pitchFamily="49" charset="0"/>
              </a:rPr>
              <a:t>++</a:t>
            </a:r>
            <a:r>
              <a:rPr lang="en-US" sz="3600" b="0" dirty="0">
                <a:solidFill>
                  <a:schemeClr val="accent5">
                    <a:lumMod val="85000"/>
                  </a:schemeClr>
                </a:solidFill>
                <a:effectLst/>
                <a:latin typeface="Consolas" panose="020B0609020204030204" pitchFamily="49" charset="0"/>
              </a:rPr>
              <a:t>) {</a:t>
            </a:r>
          </a:p>
          <a:p>
            <a:r>
              <a:rPr lang="en-US" sz="3600" b="0" dirty="0">
                <a:solidFill>
                  <a:schemeClr val="accent5">
                    <a:lumMod val="85000"/>
                  </a:schemeClr>
                </a:solidFill>
                <a:effectLst/>
                <a:latin typeface="Consolas" panose="020B0609020204030204" pitchFamily="49" charset="0"/>
              </a:rPr>
              <a:t>  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chemeClr val="accent5">
                    <a:lumMod val="85000"/>
                  </a:schemeClr>
                </a:solidFill>
                <a:effectLst/>
                <a:latin typeface="Consolas" panose="020B0609020204030204" pitchFamily="49" charset="0"/>
              </a:rPr>
              <a:t>  alert(`Now: ${current}`);</a:t>
            </a:r>
          </a:p>
          <a:p>
            <a:r>
              <a:rPr lang="en-US" sz="3600" b="0" dirty="0">
                <a:solidFill>
                  <a:schemeClr val="accent5">
                    <a:lumMod val="85000"/>
                  </a:schemeClr>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2322"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9" name="TextBox 8">
            <a:extLst>
              <a:ext uri="{FF2B5EF4-FFF2-40B4-BE49-F238E27FC236}">
                <a16:creationId xmlns:a16="http://schemas.microsoft.com/office/drawing/2014/main" id="{C3AF65B6-924E-4FFB-9CF5-D7C7DF7D3B93}"/>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1</a:t>
            </a:r>
          </a:p>
        </p:txBody>
      </p:sp>
      <p:sp>
        <p:nvSpPr>
          <p:cNvPr id="10" name="TextBox 9">
            <a:extLst>
              <a:ext uri="{FF2B5EF4-FFF2-40B4-BE49-F238E27FC236}">
                <a16:creationId xmlns:a16="http://schemas.microsoft.com/office/drawing/2014/main" id="{C15741EE-B87B-468E-ACAF-FE92CF3CA4CA}"/>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2</a:t>
            </a:r>
          </a:p>
        </p:txBody>
      </p:sp>
      <p:sp>
        <p:nvSpPr>
          <p:cNvPr id="11" name="TextBox 10">
            <a:extLst>
              <a:ext uri="{FF2B5EF4-FFF2-40B4-BE49-F238E27FC236}">
                <a16:creationId xmlns:a16="http://schemas.microsoft.com/office/drawing/2014/main" id="{3CCB85F3-506A-4988-B9B5-1E08B953BE78}"/>
              </a:ext>
            </a:extLst>
          </p:cNvPr>
          <p:cNvSpPr txBox="1"/>
          <p:nvPr/>
        </p:nvSpPr>
        <p:spPr>
          <a:xfrm>
            <a:off x="1816853" y="3755851"/>
            <a:ext cx="466794" cy="707886"/>
          </a:xfrm>
          <a:prstGeom prst="rect">
            <a:avLst/>
          </a:prstGeom>
          <a:noFill/>
        </p:spPr>
        <p:txBody>
          <a:bodyPr wrap="none" rtlCol="0">
            <a:spAutoFit/>
          </a:bodyPr>
          <a:lstStyle/>
          <a:p>
            <a:r>
              <a:rPr lang="en-US" sz="4000" b="1" dirty="0">
                <a:latin typeface="Consolas" panose="020B0609020204030204" pitchFamily="49" charset="0"/>
              </a:rPr>
              <a:t>2</a:t>
            </a:r>
          </a:p>
        </p:txBody>
      </p:sp>
    </p:spTree>
    <p:extLst>
      <p:ext uri="{BB962C8B-B14F-4D97-AF65-F5344CB8AC3E}">
        <p14:creationId xmlns:p14="http://schemas.microsoft.com/office/powerpoint/2010/main" val="19182423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1" nodeType="clickEffect">
                                  <p:stCondLst>
                                    <p:cond delay="0"/>
                                  </p:stCondLst>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6"/>
                                        </p:tgtEl>
                                      </p:cBhvr>
                                    </p:animEffect>
                                    <p:animScale>
                                      <p:cBhvr>
                                        <p:cTn id="10" dur="250" autoRev="1" fill="hold"/>
                                        <p:tgtEl>
                                          <p:spTgt spid="6"/>
                                        </p:tgtEl>
                                      </p:cBhvr>
                                      <p:by x="105000" y="105000"/>
                                    </p:animScale>
                                  </p:childTnLst>
                                </p:cTn>
                              </p:par>
                            </p:childTnLst>
                          </p:cTn>
                        </p:par>
                        <p:par>
                          <p:cTn id="11" fill="hold">
                            <p:stCondLst>
                              <p:cond delay="500"/>
                            </p:stCondLst>
                            <p:childTnLst>
                              <p:par>
                                <p:cTn id="12" presetID="26" presetClass="emph" presetSubtype="0" fill="hold" grpId="2" nodeType="afterEffect">
                                  <p:stCondLst>
                                    <p:cond delay="0"/>
                                  </p:stCondLst>
                                  <p:childTnLst>
                                    <p:animEffect transition="out" filter="fade">
                                      <p:cBhvr>
                                        <p:cTn id="13" dur="500" tmFilter="0, 0; .2, .5; .8, .5; 1, 0"/>
                                        <p:tgtEl>
                                          <p:spTgt spid="9"/>
                                        </p:tgtEl>
                                      </p:cBhvr>
                                    </p:animEffect>
                                    <p:animScale>
                                      <p:cBhvr>
                                        <p:cTn id="14" dur="250" autoRev="1" fill="hold"/>
                                        <p:tgtEl>
                                          <p:spTgt spid="9"/>
                                        </p:tgtEl>
                                      </p:cBhvr>
                                      <p:by x="105000" y="105000"/>
                                    </p:animScale>
                                  </p:childTnLst>
                                </p:cTn>
                              </p:par>
                              <p:par>
                                <p:cTn id="15" presetID="26" presetClass="emph" presetSubtype="0" fill="hold" grpId="1" nodeType="withEffect">
                                  <p:stCondLst>
                                    <p:cond delay="0"/>
                                  </p:stCondLst>
                                  <p:childTnLst>
                                    <p:animEffect transition="out" filter="fade">
                                      <p:cBhvr>
                                        <p:cTn id="16" dur="500" tmFilter="0, 0; .2, .5; .8, .5; 1, 0"/>
                                        <p:tgtEl>
                                          <p:spTgt spid="6"/>
                                        </p:tgtEl>
                                      </p:cBhvr>
                                    </p:animEffect>
                                    <p:animScale>
                                      <p:cBhvr>
                                        <p:cTn id="17" dur="250" autoRev="1" fill="hold"/>
                                        <p:tgtEl>
                                          <p:spTgt spid="6"/>
                                        </p:tgtEl>
                                      </p:cBhvr>
                                      <p:by x="105000" y="105000"/>
                                    </p:animScale>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xit" presetSubtype="0" fill="hold" grpId="0" nodeType="withEffect">
                                  <p:stCondLst>
                                    <p:cond delay="0"/>
                                  </p:stCondLst>
                                  <p:childTnLst>
                                    <p:animEffect transition="out" filter="fade">
                                      <p:cBhvr>
                                        <p:cTn id="23" dur="500"/>
                                        <p:tgtEl>
                                          <p:spTgt spid="9"/>
                                        </p:tgtEl>
                                      </p:cBhvr>
                                    </p:animEffect>
                                    <p:set>
                                      <p:cBhvr>
                                        <p:cTn id="24"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9" grpId="0"/>
      <p:bldP spid="9" grpId="1"/>
      <p:bldP spid="9" grpId="2"/>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1" dirty="0" err="1">
                <a:solidFill>
                  <a:srgbClr val="4D5EFF"/>
                </a:solidFill>
                <a:effectLst/>
                <a:latin typeface="Consolas" panose="020B0609020204030204" pitchFamily="49" charset="0"/>
              </a:rPr>
              <a:t>i</a:t>
            </a:r>
            <a:r>
              <a:rPr lang="en-US" sz="3600" b="1" dirty="0">
                <a:solidFill>
                  <a:srgbClr val="3F374B"/>
                </a:solidFill>
                <a:effectLst/>
                <a:latin typeface="Consolas" panose="020B0609020204030204" pitchFamily="49" charset="0"/>
              </a:rPr>
              <a:t> </a:t>
            </a:r>
            <a:r>
              <a:rPr lang="en-US" sz="3600" b="1" dirty="0">
                <a:solidFill>
                  <a:srgbClr val="FF16B0"/>
                </a:solidFill>
                <a:effectLst/>
                <a:latin typeface="Consolas" panose="020B0609020204030204" pitchFamily="49" charset="0"/>
              </a:rPr>
              <a:t>&lt;</a:t>
            </a:r>
            <a:r>
              <a:rPr lang="en-US" sz="3600" b="1" dirty="0">
                <a:solidFill>
                  <a:srgbClr val="3F374B"/>
                </a:solidFill>
                <a:effectLst/>
                <a:latin typeface="Consolas" panose="020B0609020204030204" pitchFamily="49" charset="0"/>
              </a:rPr>
              <a:t> </a:t>
            </a:r>
            <a:r>
              <a:rPr lang="en-US" sz="3600" b="1" dirty="0">
                <a:solidFill>
                  <a:srgbClr val="FF16B0"/>
                </a:solidFill>
                <a:latin typeface="Consolas" panose="020B0609020204030204" pitchFamily="49" charset="0"/>
              </a:rPr>
              <a:t>3</a:t>
            </a:r>
            <a:r>
              <a:rPr lang="en-US" sz="3600" b="1" dirty="0">
                <a:solidFill>
                  <a:srgbClr val="3F374B"/>
                </a:solidFill>
                <a:effectLst/>
                <a:latin typeface="Consolas" panose="020B0609020204030204" pitchFamily="49" charset="0"/>
              </a:rPr>
              <a:t>;</a:t>
            </a:r>
            <a:r>
              <a:rPr lang="en-US" sz="3600" b="0" dirty="0">
                <a:solidFill>
                  <a:schemeClr val="accent5">
                    <a:lumMod val="85000"/>
                  </a:schemeClr>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p>
          <a:p>
            <a:r>
              <a:rPr lang="en-US" sz="3600" b="0" dirty="0">
                <a:solidFill>
                  <a:schemeClr val="accent5">
                    <a:lumMod val="85000"/>
                  </a:schemeClr>
                </a:solidFill>
                <a:effectLst/>
                <a:latin typeface="Consolas" panose="020B0609020204030204" pitchFamily="49" charset="0"/>
              </a:rPr>
              <a:t>  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chemeClr val="accent5">
                    <a:lumMod val="85000"/>
                  </a:schemeClr>
                </a:solidFill>
                <a:effectLst/>
                <a:latin typeface="Consolas" panose="020B0609020204030204" pitchFamily="49" charset="0"/>
              </a:rPr>
              <a:t>  alert(`Now: ${current}`);</a:t>
            </a:r>
          </a:p>
          <a:p>
            <a:r>
              <a:rPr lang="en-US" sz="3600" b="0" dirty="0">
                <a:solidFill>
                  <a:schemeClr val="accent5">
                    <a:lumMod val="85000"/>
                  </a:schemeClr>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2322"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9" name="TextBox 8">
            <a:extLst>
              <a:ext uri="{FF2B5EF4-FFF2-40B4-BE49-F238E27FC236}">
                <a16:creationId xmlns:a16="http://schemas.microsoft.com/office/drawing/2014/main" id="{C3AF65B6-924E-4FFB-9CF5-D7C7DF7D3B93}"/>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2</a:t>
            </a:r>
          </a:p>
        </p:txBody>
      </p:sp>
      <p:sp>
        <p:nvSpPr>
          <p:cNvPr id="10" name="TextBox 9">
            <a:extLst>
              <a:ext uri="{FF2B5EF4-FFF2-40B4-BE49-F238E27FC236}">
                <a16:creationId xmlns:a16="http://schemas.microsoft.com/office/drawing/2014/main" id="{C15741EE-B87B-468E-ACAF-FE92CF3CA4CA}"/>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2</a:t>
            </a:r>
          </a:p>
        </p:txBody>
      </p:sp>
      <p:sp>
        <p:nvSpPr>
          <p:cNvPr id="11" name="Rectangle 10">
            <a:extLst>
              <a:ext uri="{FF2B5EF4-FFF2-40B4-BE49-F238E27FC236}">
                <a16:creationId xmlns:a16="http://schemas.microsoft.com/office/drawing/2014/main" id="{6B3137A3-8E4E-41BE-9EBD-EC186F3F5BF6}"/>
              </a:ext>
            </a:extLst>
          </p:cNvPr>
          <p:cNvSpPr/>
          <p:nvPr/>
        </p:nvSpPr>
        <p:spPr>
          <a:xfrm>
            <a:off x="5562348"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err="1">
                <a:solidFill>
                  <a:schemeClr val="tx1"/>
                </a:solidFill>
                <a:latin typeface="Consolas" panose="020B0609020204030204" pitchFamily="49" charset="0"/>
                <a:cs typeface="Miriam Libre" panose="00000500000000000000" pitchFamily="2" charset="-79"/>
              </a:rPr>
              <a:t>i</a:t>
            </a:r>
            <a:r>
              <a:rPr lang="en-US" sz="4000" dirty="0">
                <a:solidFill>
                  <a:schemeClr val="tx1"/>
                </a:solidFill>
                <a:latin typeface="Consolas" panose="020B0609020204030204" pitchFamily="49" charset="0"/>
                <a:cs typeface="Miriam Libre" panose="00000500000000000000" pitchFamily="2" charset="-79"/>
              </a:rPr>
              <a:t>&lt;3: </a:t>
            </a:r>
            <a:r>
              <a:rPr lang="en-US" sz="4000" b="1" dirty="0">
                <a:solidFill>
                  <a:srgbClr val="0070C0"/>
                </a:solidFill>
                <a:latin typeface="Consolas" panose="020B0609020204030204" pitchFamily="49" charset="0"/>
                <a:cs typeface="Miriam Libre" panose="00000500000000000000" pitchFamily="2" charset="-79"/>
              </a:rPr>
              <a:t>true</a:t>
            </a:r>
            <a:r>
              <a:rPr lang="en-US" sz="4000" dirty="0">
                <a:solidFill>
                  <a:schemeClr val="tx1"/>
                </a:solidFill>
                <a:latin typeface="Consolas" panose="020B0609020204030204" pitchFamily="49" charset="0"/>
                <a:cs typeface="Miriam Libre" panose="00000500000000000000" pitchFamily="2" charset="-79"/>
              </a:rPr>
              <a:t> </a:t>
            </a:r>
          </a:p>
        </p:txBody>
      </p:sp>
    </p:spTree>
    <p:extLst>
      <p:ext uri="{BB962C8B-B14F-4D97-AF65-F5344CB8AC3E}">
        <p14:creationId xmlns:p14="http://schemas.microsoft.com/office/powerpoint/2010/main" val="26293792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&lt; </a:t>
            </a:r>
            <a:r>
              <a:rPr lang="en-US" sz="3600" b="0" dirty="0">
                <a:solidFill>
                  <a:schemeClr val="accent5">
                    <a:lumMod val="85000"/>
                  </a:schemeClr>
                </a:solidFill>
                <a:latin typeface="Consolas" panose="020B0609020204030204" pitchFamily="49" charset="0"/>
              </a:rPr>
              <a:t>3</a:t>
            </a:r>
            <a:r>
              <a:rPr lang="en-US" sz="3600" b="0" dirty="0">
                <a:solidFill>
                  <a:schemeClr val="accent5">
                    <a:lumMod val="85000"/>
                  </a:schemeClr>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r>
              <a:rPr lang="en-US" sz="3600" b="1" dirty="0">
                <a:solidFill>
                  <a:srgbClr val="3F374B"/>
                </a:solidFill>
                <a:effectLst/>
                <a:latin typeface="Consolas" panose="020B0609020204030204" pitchFamily="49" charset="0"/>
              </a:rPr>
              <a:t>{</a:t>
            </a:r>
            <a:endParaRPr lang="en-US" sz="3600" b="1"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  </a:t>
            </a:r>
            <a:r>
              <a:rPr lang="en-US" sz="3600" b="1" dirty="0">
                <a:solidFill>
                  <a:srgbClr val="FF16B0"/>
                </a:solidFill>
                <a:effectLst/>
                <a:latin typeface="Consolas" panose="020B0609020204030204" pitchFamily="49" charset="0"/>
              </a:rPr>
              <a:t>let</a:t>
            </a:r>
            <a:r>
              <a:rPr lang="en-US" sz="3600" b="1" dirty="0">
                <a:solidFill>
                  <a:srgbClr val="3F374B"/>
                </a:solidFill>
                <a:effectLst/>
                <a:latin typeface="Consolas" panose="020B0609020204030204" pitchFamily="49" charset="0"/>
              </a:rPr>
              <a:t> </a:t>
            </a:r>
            <a:r>
              <a:rPr lang="en-US" sz="3600" b="1" dirty="0">
                <a:solidFill>
                  <a:srgbClr val="4D5EFF"/>
                </a:solidFill>
                <a:effectLst/>
                <a:latin typeface="Consolas" panose="020B0609020204030204" pitchFamily="49" charset="0"/>
              </a:rPr>
              <a:t>current</a:t>
            </a:r>
            <a:r>
              <a:rPr lang="en-US" sz="3600" b="1" dirty="0">
                <a:solidFill>
                  <a:srgbClr val="3F374B"/>
                </a:solidFill>
                <a:effectLst/>
                <a:latin typeface="Consolas" panose="020B0609020204030204" pitchFamily="49" charset="0"/>
              </a:rPr>
              <a:t> </a:t>
            </a:r>
            <a:r>
              <a:rPr lang="en-US" sz="3600" b="1" dirty="0">
                <a:solidFill>
                  <a:srgbClr val="FF16B0"/>
                </a:solidFill>
                <a:effectLst/>
                <a:latin typeface="Consolas" panose="020B0609020204030204" pitchFamily="49" charset="0"/>
              </a:rPr>
              <a:t>=</a:t>
            </a:r>
            <a:r>
              <a:rPr lang="en-US" sz="3600" b="1" dirty="0">
                <a:solidFill>
                  <a:srgbClr val="3F374B"/>
                </a:solidFill>
                <a:effectLst/>
                <a:latin typeface="Consolas" panose="020B0609020204030204" pitchFamily="49" charset="0"/>
              </a:rPr>
              <a:t> </a:t>
            </a:r>
            <a:r>
              <a:rPr lang="en-US" sz="3600" b="1" dirty="0" err="1">
                <a:solidFill>
                  <a:srgbClr val="4D5EFF"/>
                </a:solidFill>
                <a:effectLst/>
                <a:latin typeface="Consolas" panose="020B0609020204030204" pitchFamily="49" charset="0"/>
              </a:rPr>
              <a:t>i</a:t>
            </a:r>
            <a:r>
              <a:rPr lang="en-US" sz="3600" b="1" dirty="0">
                <a:solidFill>
                  <a:srgbClr val="4D5EFF"/>
                </a:solidFill>
                <a:effectLst/>
                <a:latin typeface="Consolas" panose="020B0609020204030204" pitchFamily="49" charset="0"/>
              </a:rPr>
              <a:t> </a:t>
            </a:r>
            <a:r>
              <a:rPr lang="en-US" sz="3600" b="1" dirty="0">
                <a:solidFill>
                  <a:srgbClr val="FF16B0"/>
                </a:solidFill>
                <a:effectLst/>
                <a:latin typeface="Consolas" panose="020B0609020204030204" pitchFamily="49" charset="0"/>
              </a:rPr>
              <a:t>+ 1</a:t>
            </a:r>
            <a:r>
              <a:rPr lang="en-US" sz="3600" b="1" dirty="0">
                <a:solidFill>
                  <a:srgbClr val="3F374B"/>
                </a:solidFill>
                <a:effectLst/>
                <a:latin typeface="Consolas" panose="020B0609020204030204" pitchFamily="49" charset="0"/>
              </a:rPr>
              <a:t>;</a:t>
            </a:r>
            <a:endParaRPr lang="en-US" sz="3600" b="1"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  </a:t>
            </a:r>
            <a:r>
              <a:rPr lang="en-US" sz="3600" b="0" dirty="0">
                <a:solidFill>
                  <a:schemeClr val="accent5">
                    <a:lumMod val="85000"/>
                  </a:schemeClr>
                </a:solidFill>
                <a:effectLst/>
                <a:latin typeface="Consolas" panose="020B0609020204030204" pitchFamily="49" charset="0"/>
              </a:rPr>
              <a:t>alert(`Now: ${current}`);</a:t>
            </a:r>
          </a:p>
          <a:p>
            <a:r>
              <a:rPr lang="en-US" sz="3600" b="1" dirty="0">
                <a:solidFill>
                  <a:srgbClr val="3F374B"/>
                </a:solidFill>
                <a:effectLst/>
                <a:latin typeface="Consolas" panose="020B0609020204030204" pitchFamily="49" charset="0"/>
              </a:rPr>
              <a:t>}</a:t>
            </a:r>
            <a:endParaRPr lang="en-US" sz="3600" b="1" dirty="0">
              <a:solidFill>
                <a:srgbClr val="19152C"/>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2322"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9" name="TextBox 8">
            <a:extLst>
              <a:ext uri="{FF2B5EF4-FFF2-40B4-BE49-F238E27FC236}">
                <a16:creationId xmlns:a16="http://schemas.microsoft.com/office/drawing/2014/main" id="{C3AF65B6-924E-4FFB-9CF5-D7C7DF7D3B93}"/>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2</a:t>
            </a:r>
          </a:p>
        </p:txBody>
      </p:sp>
      <p:sp>
        <p:nvSpPr>
          <p:cNvPr id="10" name="TextBox 9">
            <a:extLst>
              <a:ext uri="{FF2B5EF4-FFF2-40B4-BE49-F238E27FC236}">
                <a16:creationId xmlns:a16="http://schemas.microsoft.com/office/drawing/2014/main" id="{C15741EE-B87B-468E-ACAF-FE92CF3CA4CA}"/>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2</a:t>
            </a:r>
          </a:p>
        </p:txBody>
      </p:sp>
      <p:sp>
        <p:nvSpPr>
          <p:cNvPr id="11" name="TextBox 10">
            <a:extLst>
              <a:ext uri="{FF2B5EF4-FFF2-40B4-BE49-F238E27FC236}">
                <a16:creationId xmlns:a16="http://schemas.microsoft.com/office/drawing/2014/main" id="{FB9DD665-C818-4C62-B968-4C3ED12F37E6}"/>
              </a:ext>
            </a:extLst>
          </p:cNvPr>
          <p:cNvSpPr txBox="1"/>
          <p:nvPr/>
        </p:nvSpPr>
        <p:spPr>
          <a:xfrm>
            <a:off x="4923791" y="3760274"/>
            <a:ext cx="466794" cy="707886"/>
          </a:xfrm>
          <a:prstGeom prst="rect">
            <a:avLst/>
          </a:prstGeom>
          <a:noFill/>
        </p:spPr>
        <p:txBody>
          <a:bodyPr wrap="none" rtlCol="0">
            <a:spAutoFit/>
          </a:bodyPr>
          <a:lstStyle/>
          <a:p>
            <a:r>
              <a:rPr lang="en-US" sz="4000" b="1" dirty="0">
                <a:latin typeface="Consolas" panose="020B0609020204030204" pitchFamily="49" charset="0"/>
              </a:rPr>
              <a:t>3</a:t>
            </a:r>
          </a:p>
        </p:txBody>
      </p:sp>
    </p:spTree>
    <p:extLst>
      <p:ext uri="{BB962C8B-B14F-4D97-AF65-F5344CB8AC3E}">
        <p14:creationId xmlns:p14="http://schemas.microsoft.com/office/powerpoint/2010/main" val="8891327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7"/>
                                        </p:tgtEl>
                                      </p:cBhvr>
                                    </p:animEffect>
                                    <p:animScale>
                                      <p:cBhvr>
                                        <p:cTn id="10" dur="250" autoRev="1" fill="hold"/>
                                        <p:tgtEl>
                                          <p:spTgt spid="7"/>
                                        </p:tgtEl>
                                      </p:cBhvr>
                                      <p:by x="105000" y="105000"/>
                                    </p:animScale>
                                  </p:childTnLst>
                                </p:cTn>
                              </p:par>
                            </p:childTnLst>
                          </p:cTn>
                        </p:par>
                        <p:par>
                          <p:cTn id="11" fill="hold">
                            <p:stCondLst>
                              <p:cond delay="500"/>
                            </p:stCondLst>
                            <p:childTnLst>
                              <p:par>
                                <p:cTn id="12" presetID="26" presetClass="emph" presetSubtype="0" fill="hold" grpId="1" nodeType="afterEffect">
                                  <p:stCondLst>
                                    <p:cond delay="0"/>
                                  </p:stCondLst>
                                  <p:childTnLst>
                                    <p:animEffect transition="out" filter="fade">
                                      <p:cBhvr>
                                        <p:cTn id="13" dur="500" tmFilter="0, 0; .2, .5; .8, .5; 1, 0"/>
                                        <p:tgtEl>
                                          <p:spTgt spid="10"/>
                                        </p:tgtEl>
                                      </p:cBhvr>
                                    </p:animEffect>
                                    <p:animScale>
                                      <p:cBhvr>
                                        <p:cTn id="14" dur="250" autoRev="1" fill="hold"/>
                                        <p:tgtEl>
                                          <p:spTgt spid="10"/>
                                        </p:tgtEl>
                                      </p:cBhvr>
                                      <p:by x="105000" y="105000"/>
                                    </p:animScale>
                                  </p:childTnLst>
                                </p:cTn>
                              </p:par>
                              <p:par>
                                <p:cTn id="15" presetID="26" presetClass="emph" presetSubtype="0" fill="hold" grpId="1" nodeType="withEffect">
                                  <p:stCondLst>
                                    <p:cond delay="0"/>
                                  </p:stCondLst>
                                  <p:childTnLst>
                                    <p:animEffect transition="out" filter="fade">
                                      <p:cBhvr>
                                        <p:cTn id="16" dur="500" tmFilter="0, 0; .2, .5; .8, .5; 1, 0"/>
                                        <p:tgtEl>
                                          <p:spTgt spid="7"/>
                                        </p:tgtEl>
                                      </p:cBhvr>
                                    </p:animEffect>
                                    <p:animScale>
                                      <p:cBhvr>
                                        <p:cTn id="17" dur="250" autoRev="1" fill="hold"/>
                                        <p:tgtEl>
                                          <p:spTgt spid="7"/>
                                        </p:tgtEl>
                                      </p:cBhvr>
                                      <p:by x="105000" y="105000"/>
                                    </p:animScale>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xit" presetSubtype="0" fill="hold" grpId="2" nodeType="withEffect">
                                  <p:stCondLst>
                                    <p:cond delay="0"/>
                                  </p:stCondLst>
                                  <p:childTnLst>
                                    <p:animEffect transition="out" filter="fade">
                                      <p:cBhvr>
                                        <p:cTn id="23" dur="500"/>
                                        <p:tgtEl>
                                          <p:spTgt spid="10"/>
                                        </p:tgtEl>
                                      </p:cBhvr>
                                    </p:animEffect>
                                    <p:set>
                                      <p:cBhvr>
                                        <p:cTn id="24"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0" grpId="0"/>
      <p:bldP spid="10" grpId="1"/>
      <p:bldP spid="10" grpId="2"/>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&lt; </a:t>
            </a:r>
            <a:r>
              <a:rPr lang="en-US" sz="3600" b="0" dirty="0">
                <a:solidFill>
                  <a:schemeClr val="accent5">
                    <a:lumMod val="85000"/>
                  </a:schemeClr>
                </a:solidFill>
                <a:latin typeface="Consolas" panose="020B0609020204030204" pitchFamily="49" charset="0"/>
              </a:rPr>
              <a:t>3</a:t>
            </a:r>
            <a:r>
              <a:rPr lang="en-US" sz="3600" b="0" dirty="0">
                <a:solidFill>
                  <a:schemeClr val="accent5">
                    <a:lumMod val="85000"/>
                  </a:schemeClr>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r>
              <a:rPr lang="en-US" sz="3600" b="1" dirty="0">
                <a:solidFill>
                  <a:srgbClr val="3F374B"/>
                </a:solidFill>
                <a:effectLst/>
                <a:latin typeface="Consolas" panose="020B0609020204030204" pitchFamily="49" charset="0"/>
              </a:rPr>
              <a:t>{</a:t>
            </a:r>
            <a:endParaRPr lang="en-US" sz="3600" b="1"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  </a:t>
            </a:r>
            <a:r>
              <a:rPr lang="en-US" sz="3600" b="0" dirty="0">
                <a:solidFill>
                  <a:schemeClr val="accent5">
                    <a:lumMod val="85000"/>
                  </a:schemeClr>
                </a:solidFill>
                <a:effectLst/>
                <a:latin typeface="Consolas" panose="020B0609020204030204" pitchFamily="49" charset="0"/>
              </a:rPr>
              <a:t>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rgbClr val="3F374B"/>
                </a:solidFill>
                <a:effectLst/>
                <a:latin typeface="Consolas" panose="020B0609020204030204" pitchFamily="49" charset="0"/>
              </a:rPr>
              <a:t>  </a:t>
            </a:r>
            <a:r>
              <a:rPr lang="en-US" sz="3600" b="1" dirty="0">
                <a:solidFill>
                  <a:srgbClr val="251B50"/>
                </a:solidFill>
                <a:effectLst/>
                <a:latin typeface="Consolas" panose="020B0609020204030204" pitchFamily="49" charset="0"/>
              </a:rPr>
              <a:t>alert</a:t>
            </a:r>
            <a:r>
              <a:rPr lang="en-US" sz="3600" b="1" dirty="0">
                <a:solidFill>
                  <a:srgbClr val="3F374B"/>
                </a:solidFill>
                <a:effectLst/>
                <a:latin typeface="Consolas" panose="020B0609020204030204" pitchFamily="49" charset="0"/>
              </a:rPr>
              <a:t>(</a:t>
            </a:r>
            <a:r>
              <a:rPr lang="en-US" sz="3600" b="1" dirty="0">
                <a:solidFill>
                  <a:srgbClr val="C300FF"/>
                </a:solidFill>
                <a:effectLst/>
                <a:latin typeface="Consolas" panose="020B0609020204030204" pitchFamily="49" charset="0"/>
              </a:rPr>
              <a:t>`Now: </a:t>
            </a:r>
            <a:r>
              <a:rPr lang="en-US" sz="3600" b="1" dirty="0">
                <a:solidFill>
                  <a:srgbClr val="FF16B0"/>
                </a:solidFill>
                <a:effectLst/>
                <a:latin typeface="Consolas" panose="020B0609020204030204" pitchFamily="49" charset="0"/>
              </a:rPr>
              <a:t>${</a:t>
            </a:r>
            <a:r>
              <a:rPr lang="en-US" sz="3600" b="1" dirty="0">
                <a:solidFill>
                  <a:srgbClr val="4D5EFF"/>
                </a:solidFill>
                <a:effectLst/>
                <a:latin typeface="Consolas" panose="020B0609020204030204" pitchFamily="49" charset="0"/>
              </a:rPr>
              <a:t>current</a:t>
            </a:r>
            <a:r>
              <a:rPr lang="en-US" sz="3600" b="1" dirty="0">
                <a:solidFill>
                  <a:srgbClr val="FF16B0"/>
                </a:solidFill>
                <a:effectLst/>
                <a:latin typeface="Consolas" panose="020B0609020204030204" pitchFamily="49" charset="0"/>
              </a:rPr>
              <a:t>}</a:t>
            </a:r>
            <a:r>
              <a:rPr lang="en-US" sz="3600" b="1" dirty="0">
                <a:solidFill>
                  <a:srgbClr val="C300FF"/>
                </a:solidFill>
                <a:effectLst/>
                <a:latin typeface="Consolas" panose="020B0609020204030204" pitchFamily="49" charset="0"/>
              </a:rPr>
              <a:t>`</a:t>
            </a:r>
            <a:r>
              <a:rPr lang="en-US" sz="3600" b="1" dirty="0">
                <a:solidFill>
                  <a:srgbClr val="3F374B"/>
                </a:solidFill>
                <a:effectLst/>
                <a:latin typeface="Consolas" panose="020B0609020204030204" pitchFamily="49" charset="0"/>
              </a:rPr>
              <a:t>);</a:t>
            </a:r>
            <a:endParaRPr lang="en-US" sz="3600" b="1" dirty="0">
              <a:solidFill>
                <a:srgbClr val="19152C"/>
              </a:solidFill>
              <a:effectLst/>
              <a:latin typeface="Consolas" panose="020B0609020204030204" pitchFamily="49" charset="0"/>
            </a:endParaRPr>
          </a:p>
          <a:p>
            <a:r>
              <a:rPr lang="en-US" sz="3600" b="1" dirty="0">
                <a:solidFill>
                  <a:srgbClr val="3F374B"/>
                </a:solidFill>
                <a:effectLst/>
                <a:latin typeface="Consolas" panose="020B0609020204030204" pitchFamily="49" charset="0"/>
              </a:rPr>
              <a:t>}</a:t>
            </a:r>
            <a:endParaRPr lang="en-US" sz="3600" b="1" dirty="0">
              <a:solidFill>
                <a:srgbClr val="19152C"/>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2322"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8" name="Rectangle 7">
            <a:extLst>
              <a:ext uri="{FF2B5EF4-FFF2-40B4-BE49-F238E27FC236}">
                <a16:creationId xmlns:a16="http://schemas.microsoft.com/office/drawing/2014/main" id="{EDF20F8A-B7DB-4690-9B1F-F7FD824C38C1}"/>
              </a:ext>
            </a:extLst>
          </p:cNvPr>
          <p:cNvSpPr/>
          <p:nvPr/>
        </p:nvSpPr>
        <p:spPr>
          <a:xfrm>
            <a:off x="5993393" y="3548804"/>
            <a:ext cx="2213325" cy="102218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Miriam Libre" panose="00000500000000000000" pitchFamily="2" charset="-79"/>
                <a:cs typeface="Miriam Libre" panose="00000500000000000000" pitchFamily="2" charset="-79"/>
              </a:rPr>
              <a:t>Now: 3</a:t>
            </a:r>
          </a:p>
        </p:txBody>
      </p:sp>
      <p:sp>
        <p:nvSpPr>
          <p:cNvPr id="9" name="TextBox 8">
            <a:extLst>
              <a:ext uri="{FF2B5EF4-FFF2-40B4-BE49-F238E27FC236}">
                <a16:creationId xmlns:a16="http://schemas.microsoft.com/office/drawing/2014/main" id="{C3AF65B6-924E-4FFB-9CF5-D7C7DF7D3B93}"/>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2</a:t>
            </a:r>
          </a:p>
        </p:txBody>
      </p:sp>
      <p:sp>
        <p:nvSpPr>
          <p:cNvPr id="10" name="TextBox 9">
            <a:extLst>
              <a:ext uri="{FF2B5EF4-FFF2-40B4-BE49-F238E27FC236}">
                <a16:creationId xmlns:a16="http://schemas.microsoft.com/office/drawing/2014/main" id="{C15741EE-B87B-468E-ACAF-FE92CF3CA4CA}"/>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3</a:t>
            </a:r>
          </a:p>
        </p:txBody>
      </p:sp>
    </p:spTree>
    <p:extLst>
      <p:ext uri="{BB962C8B-B14F-4D97-AF65-F5344CB8AC3E}">
        <p14:creationId xmlns:p14="http://schemas.microsoft.com/office/powerpoint/2010/main" val="33056424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&lt; </a:t>
            </a:r>
            <a:r>
              <a:rPr lang="en-US" sz="3600" b="0" dirty="0">
                <a:solidFill>
                  <a:schemeClr val="accent5">
                    <a:lumMod val="85000"/>
                  </a:schemeClr>
                </a:solidFill>
                <a:latin typeface="Consolas" panose="020B0609020204030204" pitchFamily="49" charset="0"/>
              </a:rPr>
              <a:t>3</a:t>
            </a:r>
            <a:r>
              <a:rPr lang="en-US" sz="3600" b="0" dirty="0">
                <a:solidFill>
                  <a:schemeClr val="accent5">
                    <a:lumMod val="85000"/>
                  </a:schemeClr>
                </a:solidFill>
                <a:effectLst/>
                <a:latin typeface="Consolas" panose="020B0609020204030204" pitchFamily="49" charset="0"/>
              </a:rPr>
              <a:t>; </a:t>
            </a:r>
            <a:r>
              <a:rPr lang="en-US" sz="3600" b="1" dirty="0" err="1">
                <a:solidFill>
                  <a:srgbClr val="4D5EFF"/>
                </a:solidFill>
                <a:effectLst/>
                <a:latin typeface="Consolas" panose="020B0609020204030204" pitchFamily="49" charset="0"/>
              </a:rPr>
              <a:t>i</a:t>
            </a:r>
            <a:r>
              <a:rPr lang="en-US" sz="3600" b="1" dirty="0">
                <a:solidFill>
                  <a:srgbClr val="FF16B0"/>
                </a:solidFill>
                <a:effectLst/>
                <a:latin typeface="Consolas" panose="020B0609020204030204" pitchFamily="49" charset="0"/>
              </a:rPr>
              <a:t>++</a:t>
            </a:r>
            <a:r>
              <a:rPr lang="en-US" sz="3600" b="0" dirty="0">
                <a:solidFill>
                  <a:schemeClr val="accent5">
                    <a:lumMod val="85000"/>
                  </a:schemeClr>
                </a:solidFill>
                <a:effectLst/>
                <a:latin typeface="Consolas" panose="020B0609020204030204" pitchFamily="49" charset="0"/>
              </a:rPr>
              <a:t>) {</a:t>
            </a:r>
          </a:p>
          <a:p>
            <a:r>
              <a:rPr lang="en-US" sz="3600" b="0" dirty="0">
                <a:solidFill>
                  <a:schemeClr val="accent5">
                    <a:lumMod val="85000"/>
                  </a:schemeClr>
                </a:solidFill>
                <a:effectLst/>
                <a:latin typeface="Consolas" panose="020B0609020204030204" pitchFamily="49" charset="0"/>
              </a:rPr>
              <a:t>  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chemeClr val="accent5">
                    <a:lumMod val="85000"/>
                  </a:schemeClr>
                </a:solidFill>
                <a:effectLst/>
                <a:latin typeface="Consolas" panose="020B0609020204030204" pitchFamily="49" charset="0"/>
              </a:rPr>
              <a:t>  alert(`Now: ${current}`);</a:t>
            </a:r>
          </a:p>
          <a:p>
            <a:r>
              <a:rPr lang="en-US" sz="3600" b="0" dirty="0">
                <a:solidFill>
                  <a:schemeClr val="accent5">
                    <a:lumMod val="85000"/>
                  </a:schemeClr>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2322"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9" name="TextBox 8">
            <a:extLst>
              <a:ext uri="{FF2B5EF4-FFF2-40B4-BE49-F238E27FC236}">
                <a16:creationId xmlns:a16="http://schemas.microsoft.com/office/drawing/2014/main" id="{C3AF65B6-924E-4FFB-9CF5-D7C7DF7D3B93}"/>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2</a:t>
            </a:r>
          </a:p>
        </p:txBody>
      </p:sp>
      <p:sp>
        <p:nvSpPr>
          <p:cNvPr id="10" name="TextBox 9">
            <a:extLst>
              <a:ext uri="{FF2B5EF4-FFF2-40B4-BE49-F238E27FC236}">
                <a16:creationId xmlns:a16="http://schemas.microsoft.com/office/drawing/2014/main" id="{C15741EE-B87B-468E-ACAF-FE92CF3CA4CA}"/>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3</a:t>
            </a:r>
          </a:p>
        </p:txBody>
      </p:sp>
      <p:sp>
        <p:nvSpPr>
          <p:cNvPr id="11" name="TextBox 10">
            <a:extLst>
              <a:ext uri="{FF2B5EF4-FFF2-40B4-BE49-F238E27FC236}">
                <a16:creationId xmlns:a16="http://schemas.microsoft.com/office/drawing/2014/main" id="{D7DDB91C-E56E-4B2E-8CE9-DAC101D50AD2}"/>
              </a:ext>
            </a:extLst>
          </p:cNvPr>
          <p:cNvSpPr txBox="1"/>
          <p:nvPr/>
        </p:nvSpPr>
        <p:spPr>
          <a:xfrm>
            <a:off x="1816853" y="3754824"/>
            <a:ext cx="466794" cy="707886"/>
          </a:xfrm>
          <a:prstGeom prst="rect">
            <a:avLst/>
          </a:prstGeom>
          <a:noFill/>
        </p:spPr>
        <p:txBody>
          <a:bodyPr wrap="none" rtlCol="0">
            <a:spAutoFit/>
          </a:bodyPr>
          <a:lstStyle/>
          <a:p>
            <a:r>
              <a:rPr lang="en-US" sz="4000" b="1" dirty="0">
                <a:latin typeface="Consolas" panose="020B0609020204030204" pitchFamily="49" charset="0"/>
              </a:rPr>
              <a:t>3</a:t>
            </a:r>
          </a:p>
        </p:txBody>
      </p:sp>
    </p:spTree>
    <p:extLst>
      <p:ext uri="{BB962C8B-B14F-4D97-AF65-F5344CB8AC3E}">
        <p14:creationId xmlns:p14="http://schemas.microsoft.com/office/powerpoint/2010/main" val="15062190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9"/>
                                        </p:tgtEl>
                                      </p:cBhvr>
                                    </p:animEffect>
                                    <p:animScale>
                                      <p:cBhvr>
                                        <p:cTn id="10" dur="250" autoRev="1" fill="hold"/>
                                        <p:tgtEl>
                                          <p:spTgt spid="9"/>
                                        </p:tgtEl>
                                      </p:cBhvr>
                                      <p:by x="105000" y="105000"/>
                                    </p:animScale>
                                  </p:childTnLst>
                                </p:cTn>
                              </p:par>
                            </p:childTnLst>
                          </p:cTn>
                        </p:par>
                        <p:par>
                          <p:cTn id="11" fill="hold">
                            <p:stCondLst>
                              <p:cond delay="500"/>
                            </p:stCondLst>
                            <p:childTnLst>
                              <p:par>
                                <p:cTn id="12" presetID="26" presetClass="emph" presetSubtype="0" fill="hold" grpId="1" nodeType="afterEffect">
                                  <p:stCondLst>
                                    <p:cond delay="0"/>
                                  </p:stCondLst>
                                  <p:childTnLst>
                                    <p:animEffect transition="out" filter="fade">
                                      <p:cBhvr>
                                        <p:cTn id="13" dur="500" tmFilter="0, 0; .2, .5; .8, .5; 1, 0"/>
                                        <p:tgtEl>
                                          <p:spTgt spid="6"/>
                                        </p:tgtEl>
                                      </p:cBhvr>
                                    </p:animEffect>
                                    <p:animScale>
                                      <p:cBhvr>
                                        <p:cTn id="14" dur="250" autoRev="1" fill="hold"/>
                                        <p:tgtEl>
                                          <p:spTgt spid="6"/>
                                        </p:tgtEl>
                                      </p:cBhvr>
                                      <p:by x="105000" y="105000"/>
                                    </p:animScale>
                                  </p:childTnLst>
                                </p:cTn>
                              </p:par>
                              <p:par>
                                <p:cTn id="15" presetID="26" presetClass="emph" presetSubtype="0" fill="hold" grpId="1" nodeType="withEffect">
                                  <p:stCondLst>
                                    <p:cond delay="0"/>
                                  </p:stCondLst>
                                  <p:childTnLst>
                                    <p:animEffect transition="out" filter="fade">
                                      <p:cBhvr>
                                        <p:cTn id="16" dur="500" tmFilter="0, 0; .2, .5; .8, .5; 1, 0"/>
                                        <p:tgtEl>
                                          <p:spTgt spid="9"/>
                                        </p:tgtEl>
                                      </p:cBhvr>
                                    </p:animEffect>
                                    <p:animScale>
                                      <p:cBhvr>
                                        <p:cTn id="17" dur="250" autoRev="1" fill="hold"/>
                                        <p:tgtEl>
                                          <p:spTgt spid="9"/>
                                        </p:tgtEl>
                                      </p:cBhvr>
                                      <p:by x="105000" y="105000"/>
                                    </p:animScale>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xit" presetSubtype="0" fill="hold" grpId="2" nodeType="withEffect">
                                  <p:stCondLst>
                                    <p:cond delay="0"/>
                                  </p:stCondLst>
                                  <p:childTnLst>
                                    <p:animEffect transition="out" filter="fade">
                                      <p:cBhvr>
                                        <p:cTn id="23" dur="500"/>
                                        <p:tgtEl>
                                          <p:spTgt spid="9"/>
                                        </p:tgtEl>
                                      </p:cBhvr>
                                    </p:animEffect>
                                    <p:set>
                                      <p:cBhvr>
                                        <p:cTn id="24"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9" grpId="0"/>
      <p:bldP spid="9" grpId="1"/>
      <p:bldP spid="9" grpId="2"/>
      <p:bldP spid="1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chemeClr val="accent5">
                    <a:lumMod val="85000"/>
                  </a:schemeClr>
                </a:solidFill>
                <a:effectLst/>
                <a:latin typeface="Consolas" panose="020B0609020204030204" pitchFamily="49" charset="0"/>
              </a:rPr>
              <a:t>for (let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0; </a:t>
            </a:r>
            <a:r>
              <a:rPr lang="en-US" sz="3600" b="1" dirty="0" err="1">
                <a:solidFill>
                  <a:srgbClr val="4D5EFF"/>
                </a:solidFill>
                <a:effectLst/>
                <a:latin typeface="Consolas" panose="020B0609020204030204" pitchFamily="49" charset="0"/>
              </a:rPr>
              <a:t>i</a:t>
            </a:r>
            <a:r>
              <a:rPr lang="en-US" sz="3600" b="1" dirty="0">
                <a:solidFill>
                  <a:srgbClr val="3F374B"/>
                </a:solidFill>
                <a:effectLst/>
                <a:latin typeface="Consolas" panose="020B0609020204030204" pitchFamily="49" charset="0"/>
              </a:rPr>
              <a:t> </a:t>
            </a:r>
            <a:r>
              <a:rPr lang="en-US" sz="3600" b="1" dirty="0">
                <a:solidFill>
                  <a:srgbClr val="FF16B0"/>
                </a:solidFill>
                <a:effectLst/>
                <a:latin typeface="Consolas" panose="020B0609020204030204" pitchFamily="49" charset="0"/>
              </a:rPr>
              <a:t>&lt;</a:t>
            </a:r>
            <a:r>
              <a:rPr lang="en-US" sz="3600" b="1" dirty="0">
                <a:solidFill>
                  <a:srgbClr val="3F374B"/>
                </a:solidFill>
                <a:effectLst/>
                <a:latin typeface="Consolas" panose="020B0609020204030204" pitchFamily="49" charset="0"/>
              </a:rPr>
              <a:t> </a:t>
            </a:r>
            <a:r>
              <a:rPr lang="en-US" sz="3600" b="1" dirty="0">
                <a:solidFill>
                  <a:srgbClr val="FF16B0"/>
                </a:solidFill>
                <a:latin typeface="Consolas" panose="020B0609020204030204" pitchFamily="49" charset="0"/>
              </a:rPr>
              <a:t>3</a:t>
            </a:r>
            <a:r>
              <a:rPr lang="en-US" sz="3600" b="0" dirty="0">
                <a:solidFill>
                  <a:srgbClr val="3F374B"/>
                </a:solidFill>
                <a:effectLst/>
                <a:latin typeface="Consolas" panose="020B0609020204030204" pitchFamily="49" charset="0"/>
              </a:rPr>
              <a:t>;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a:t>
            </a:r>
          </a:p>
          <a:p>
            <a:r>
              <a:rPr lang="en-US" sz="3600" b="0" dirty="0">
                <a:solidFill>
                  <a:schemeClr val="accent5">
                    <a:lumMod val="85000"/>
                  </a:schemeClr>
                </a:solidFill>
                <a:effectLst/>
                <a:latin typeface="Consolas" panose="020B0609020204030204" pitchFamily="49" charset="0"/>
              </a:rPr>
              <a:t>  let current = </a:t>
            </a:r>
            <a:r>
              <a:rPr lang="en-US" sz="3600" b="0" dirty="0" err="1">
                <a:solidFill>
                  <a:schemeClr val="accent5">
                    <a:lumMod val="85000"/>
                  </a:schemeClr>
                </a:solidFill>
                <a:effectLst/>
                <a:latin typeface="Consolas" panose="020B0609020204030204" pitchFamily="49" charset="0"/>
              </a:rPr>
              <a:t>i</a:t>
            </a:r>
            <a:r>
              <a:rPr lang="en-US" sz="3600" b="0" dirty="0">
                <a:solidFill>
                  <a:schemeClr val="accent5">
                    <a:lumMod val="85000"/>
                  </a:schemeClr>
                </a:solidFill>
                <a:effectLst/>
                <a:latin typeface="Consolas" panose="020B0609020204030204" pitchFamily="49" charset="0"/>
              </a:rPr>
              <a:t> + 1;</a:t>
            </a:r>
          </a:p>
          <a:p>
            <a:r>
              <a:rPr lang="en-US" sz="3600" b="0" dirty="0">
                <a:solidFill>
                  <a:schemeClr val="accent5">
                    <a:lumMod val="85000"/>
                  </a:schemeClr>
                </a:solidFill>
                <a:effectLst/>
                <a:latin typeface="Consolas" panose="020B0609020204030204" pitchFamily="49" charset="0"/>
              </a:rPr>
              <a:t>  alert(`Now: ${current}`);</a:t>
            </a:r>
          </a:p>
          <a:p>
            <a:r>
              <a:rPr lang="en-US" sz="3600" b="0" dirty="0">
                <a:solidFill>
                  <a:schemeClr val="accent5">
                    <a:lumMod val="85000"/>
                  </a:schemeClr>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F21F5FC-D912-4662-8F15-3C5AD9B35971}"/>
              </a:ext>
            </a:extLst>
          </p:cNvPr>
          <p:cNvSpPr/>
          <p:nvPr/>
        </p:nvSpPr>
        <p:spPr>
          <a:xfrm>
            <a:off x="1226992" y="3729926"/>
            <a:ext cx="1179722" cy="759737"/>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i: </a:t>
            </a:r>
          </a:p>
        </p:txBody>
      </p:sp>
      <p:sp>
        <p:nvSpPr>
          <p:cNvPr id="7" name="Rectangle 6">
            <a:extLst>
              <a:ext uri="{FF2B5EF4-FFF2-40B4-BE49-F238E27FC236}">
                <a16:creationId xmlns:a16="http://schemas.microsoft.com/office/drawing/2014/main" id="{7715F209-E767-4587-A571-88ECC29C3B80}"/>
              </a:ext>
            </a:extLst>
          </p:cNvPr>
          <p:cNvSpPr/>
          <p:nvPr/>
        </p:nvSpPr>
        <p:spPr>
          <a:xfrm>
            <a:off x="2552322"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latin typeface="Consolas" panose="020B0609020204030204" pitchFamily="49" charset="0"/>
                <a:cs typeface="Miriam Libre" panose="00000500000000000000" pitchFamily="2" charset="-79"/>
              </a:rPr>
              <a:t>current: </a:t>
            </a:r>
          </a:p>
        </p:txBody>
      </p:sp>
      <p:sp>
        <p:nvSpPr>
          <p:cNvPr id="9" name="TextBox 8">
            <a:extLst>
              <a:ext uri="{FF2B5EF4-FFF2-40B4-BE49-F238E27FC236}">
                <a16:creationId xmlns:a16="http://schemas.microsoft.com/office/drawing/2014/main" id="{C3AF65B6-924E-4FFB-9CF5-D7C7DF7D3B93}"/>
              </a:ext>
            </a:extLst>
          </p:cNvPr>
          <p:cNvSpPr txBox="1"/>
          <p:nvPr/>
        </p:nvSpPr>
        <p:spPr>
          <a:xfrm>
            <a:off x="1816853" y="3746798"/>
            <a:ext cx="466794" cy="707886"/>
          </a:xfrm>
          <a:prstGeom prst="rect">
            <a:avLst/>
          </a:prstGeom>
          <a:noFill/>
        </p:spPr>
        <p:txBody>
          <a:bodyPr wrap="none" rtlCol="0">
            <a:spAutoFit/>
          </a:bodyPr>
          <a:lstStyle/>
          <a:p>
            <a:r>
              <a:rPr lang="en-US" sz="4000" b="1" dirty="0">
                <a:latin typeface="Consolas" panose="020B0609020204030204" pitchFamily="49" charset="0"/>
              </a:rPr>
              <a:t>3</a:t>
            </a:r>
          </a:p>
        </p:txBody>
      </p:sp>
      <p:sp>
        <p:nvSpPr>
          <p:cNvPr id="10" name="TextBox 9">
            <a:extLst>
              <a:ext uri="{FF2B5EF4-FFF2-40B4-BE49-F238E27FC236}">
                <a16:creationId xmlns:a16="http://schemas.microsoft.com/office/drawing/2014/main" id="{C15741EE-B87B-468E-ACAF-FE92CF3CA4CA}"/>
              </a:ext>
            </a:extLst>
          </p:cNvPr>
          <p:cNvSpPr txBox="1"/>
          <p:nvPr/>
        </p:nvSpPr>
        <p:spPr>
          <a:xfrm>
            <a:off x="4900403" y="3760274"/>
            <a:ext cx="466794" cy="707886"/>
          </a:xfrm>
          <a:prstGeom prst="rect">
            <a:avLst/>
          </a:prstGeom>
          <a:noFill/>
        </p:spPr>
        <p:txBody>
          <a:bodyPr wrap="none" rtlCol="0">
            <a:spAutoFit/>
          </a:bodyPr>
          <a:lstStyle/>
          <a:p>
            <a:r>
              <a:rPr lang="en-US" sz="4000" b="1" dirty="0">
                <a:latin typeface="Consolas" panose="020B0609020204030204" pitchFamily="49" charset="0"/>
              </a:rPr>
              <a:t>3</a:t>
            </a:r>
          </a:p>
        </p:txBody>
      </p:sp>
      <p:sp>
        <p:nvSpPr>
          <p:cNvPr id="11" name="Rectangle 10">
            <a:extLst>
              <a:ext uri="{FF2B5EF4-FFF2-40B4-BE49-F238E27FC236}">
                <a16:creationId xmlns:a16="http://schemas.microsoft.com/office/drawing/2014/main" id="{2E65AD42-E226-4F73-AE57-2767EE6CE440}"/>
              </a:ext>
            </a:extLst>
          </p:cNvPr>
          <p:cNvSpPr/>
          <p:nvPr/>
        </p:nvSpPr>
        <p:spPr>
          <a:xfrm>
            <a:off x="5562348" y="3738772"/>
            <a:ext cx="2861650" cy="750891"/>
          </a:xfrm>
          <a:prstGeom prst="rect">
            <a:avLst/>
          </a:prstGeom>
          <a:solidFill>
            <a:srgbClr val="A9B1FF">
              <a:alpha val="20000"/>
            </a:srgbClr>
          </a:solidFill>
          <a:ln>
            <a:solidFill>
              <a:srgbClr val="A9B1F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000" dirty="0" err="1">
                <a:solidFill>
                  <a:schemeClr val="tx1"/>
                </a:solidFill>
                <a:latin typeface="Consolas" panose="020B0609020204030204" pitchFamily="49" charset="0"/>
                <a:cs typeface="Miriam Libre" panose="00000500000000000000" pitchFamily="2" charset="-79"/>
              </a:rPr>
              <a:t>i</a:t>
            </a:r>
            <a:r>
              <a:rPr lang="en-US" sz="4000" dirty="0">
                <a:solidFill>
                  <a:schemeClr val="tx1"/>
                </a:solidFill>
                <a:latin typeface="Consolas" panose="020B0609020204030204" pitchFamily="49" charset="0"/>
                <a:cs typeface="Miriam Libre" panose="00000500000000000000" pitchFamily="2" charset="-79"/>
              </a:rPr>
              <a:t>&lt;3:</a:t>
            </a:r>
            <a:r>
              <a:rPr lang="en-US" sz="2000" dirty="0">
                <a:solidFill>
                  <a:schemeClr val="tx1"/>
                </a:solidFill>
                <a:latin typeface="Consolas" panose="020B0609020204030204" pitchFamily="49" charset="0"/>
                <a:cs typeface="Miriam Libre" panose="00000500000000000000" pitchFamily="2" charset="-79"/>
              </a:rPr>
              <a:t> </a:t>
            </a:r>
            <a:r>
              <a:rPr lang="en-US" sz="4000" b="1" dirty="0">
                <a:solidFill>
                  <a:srgbClr val="0070C0"/>
                </a:solidFill>
                <a:latin typeface="Consolas" panose="020B0609020204030204" pitchFamily="49" charset="0"/>
                <a:cs typeface="Miriam Libre" panose="00000500000000000000" pitchFamily="2" charset="-79"/>
              </a:rPr>
              <a:t>false</a:t>
            </a:r>
            <a:r>
              <a:rPr lang="en-US" sz="4000" dirty="0">
                <a:solidFill>
                  <a:schemeClr val="tx1"/>
                </a:solidFill>
                <a:latin typeface="Consolas" panose="020B0609020204030204" pitchFamily="49" charset="0"/>
                <a:cs typeface="Miriam Libre" panose="00000500000000000000" pitchFamily="2" charset="-79"/>
              </a:rPr>
              <a:t> </a:t>
            </a:r>
          </a:p>
        </p:txBody>
      </p:sp>
      <p:sp>
        <p:nvSpPr>
          <p:cNvPr id="12" name="Rectangle 11">
            <a:extLst>
              <a:ext uri="{FF2B5EF4-FFF2-40B4-BE49-F238E27FC236}">
                <a16:creationId xmlns:a16="http://schemas.microsoft.com/office/drawing/2014/main" id="{3C2C696E-5357-4E8D-B38B-808E0CBD25A3}"/>
              </a:ext>
            </a:extLst>
          </p:cNvPr>
          <p:cNvSpPr/>
          <p:nvPr/>
        </p:nvSpPr>
        <p:spPr>
          <a:xfrm>
            <a:off x="2283647" y="2107095"/>
            <a:ext cx="4405388" cy="1218953"/>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2"/>
                </a:solidFill>
                <a:latin typeface="Miriam Libre" panose="00000500000000000000" pitchFamily="2" charset="-79"/>
                <a:cs typeface="Miriam Libre" panose="00000500000000000000" pitchFamily="2" charset="-79"/>
              </a:rPr>
              <a:t>We’re Done!</a:t>
            </a:r>
          </a:p>
        </p:txBody>
      </p:sp>
    </p:spTree>
    <p:extLst>
      <p:ext uri="{BB962C8B-B14F-4D97-AF65-F5344CB8AC3E}">
        <p14:creationId xmlns:p14="http://schemas.microsoft.com/office/powerpoint/2010/main" val="19454728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A37B-B758-4935-99DE-2C3378F1D6BF}"/>
              </a:ext>
            </a:extLst>
          </p:cNvPr>
          <p:cNvSpPr>
            <a:spLocks noGrp="1"/>
          </p:cNvSpPr>
          <p:nvPr>
            <p:ph type="title"/>
          </p:nvPr>
        </p:nvSpPr>
        <p:spPr/>
        <p:txBody>
          <a:bodyPr/>
          <a:lstStyle/>
          <a:p>
            <a:r>
              <a:rPr lang="en-US" dirty="0"/>
              <a:t>Step by Step Example</a:t>
            </a:r>
          </a:p>
        </p:txBody>
      </p:sp>
      <p:sp>
        <p:nvSpPr>
          <p:cNvPr id="4" name="TextBox 3">
            <a:extLst>
              <a:ext uri="{FF2B5EF4-FFF2-40B4-BE49-F238E27FC236}">
                <a16:creationId xmlns:a16="http://schemas.microsoft.com/office/drawing/2014/main" id="{CD1DCDC1-8DF9-4359-8C83-F5CFEFE47AB0}"/>
              </a:ext>
            </a:extLst>
          </p:cNvPr>
          <p:cNvSpPr txBox="1"/>
          <p:nvPr/>
        </p:nvSpPr>
        <p:spPr>
          <a:xfrm>
            <a:off x="719999" y="1430448"/>
            <a:ext cx="7703999" cy="2308324"/>
          </a:xfrm>
          <a:prstGeom prst="rect">
            <a:avLst/>
          </a:prstGeom>
          <a:noFill/>
        </p:spPr>
        <p:txBody>
          <a:bodyPr wrap="square">
            <a:spAutoFit/>
          </a:bodyPr>
          <a:lstStyle/>
          <a:p>
            <a:r>
              <a:rPr lang="en-US" sz="3600" b="0" dirty="0">
                <a:solidFill>
                  <a:srgbClr val="FF16B0"/>
                </a:solidFill>
                <a:effectLst/>
                <a:latin typeface="Consolas" panose="020B0609020204030204" pitchFamily="49" charset="0"/>
              </a:rPr>
              <a:t>for</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let</a:t>
            </a:r>
            <a:r>
              <a:rPr lang="en-US" sz="3600" b="0" dirty="0">
                <a:solidFill>
                  <a:srgbClr val="3F374B"/>
                </a:solidFill>
                <a:effectLst/>
                <a:latin typeface="Consolas" panose="020B0609020204030204" pitchFamily="49" charset="0"/>
              </a:rPr>
              <a:t> </a:t>
            </a:r>
            <a:r>
              <a:rPr lang="en-US" sz="3600" b="0" dirty="0" err="1">
                <a:solidFill>
                  <a:srgbClr val="4D5EFF"/>
                </a:solidFill>
                <a:effectLst/>
                <a:latin typeface="Consolas" panose="020B0609020204030204" pitchFamily="49" charset="0"/>
              </a:rPr>
              <a:t>i</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0</a:t>
            </a:r>
            <a:r>
              <a:rPr lang="en-US" sz="3600" b="0" dirty="0">
                <a:solidFill>
                  <a:srgbClr val="3F374B"/>
                </a:solidFill>
                <a:effectLst/>
                <a:latin typeface="Consolas" panose="020B0609020204030204" pitchFamily="49" charset="0"/>
              </a:rPr>
              <a:t>; </a:t>
            </a:r>
            <a:r>
              <a:rPr lang="en-US" sz="3600" b="0" dirty="0" err="1">
                <a:solidFill>
                  <a:srgbClr val="4D5EFF"/>
                </a:solidFill>
                <a:effectLst/>
                <a:latin typeface="Consolas" panose="020B0609020204030204" pitchFamily="49" charset="0"/>
              </a:rPr>
              <a:t>i</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&lt;</a:t>
            </a:r>
            <a:r>
              <a:rPr lang="en-US" sz="3600" b="0" dirty="0">
                <a:solidFill>
                  <a:srgbClr val="3F374B"/>
                </a:solidFill>
                <a:effectLst/>
                <a:latin typeface="Consolas" panose="020B0609020204030204" pitchFamily="49" charset="0"/>
              </a:rPr>
              <a:t> </a:t>
            </a:r>
            <a:r>
              <a:rPr lang="en-US" sz="3600" b="0" dirty="0">
                <a:solidFill>
                  <a:srgbClr val="FF16B0"/>
                </a:solidFill>
                <a:latin typeface="Consolas" panose="020B0609020204030204" pitchFamily="49" charset="0"/>
              </a:rPr>
              <a:t>3</a:t>
            </a:r>
            <a:r>
              <a:rPr lang="en-US" sz="3600" b="0" dirty="0">
                <a:solidFill>
                  <a:srgbClr val="3F374B"/>
                </a:solidFill>
                <a:effectLst/>
                <a:latin typeface="Consolas" panose="020B0609020204030204" pitchFamily="49" charset="0"/>
              </a:rPr>
              <a:t>; </a:t>
            </a:r>
            <a:r>
              <a:rPr lang="en-US" sz="3600" b="0" dirty="0" err="1">
                <a:solidFill>
                  <a:srgbClr val="4D5EFF"/>
                </a:solidFill>
                <a:effectLst/>
                <a:latin typeface="Consolas" panose="020B0609020204030204" pitchFamily="49" charset="0"/>
              </a:rPr>
              <a:t>i</a:t>
            </a:r>
            <a:r>
              <a:rPr lang="en-US" sz="3600" b="0" dirty="0">
                <a:solidFill>
                  <a:srgbClr val="FF16B0"/>
                </a:solidFill>
                <a:effectLst/>
                <a:latin typeface="Consolas" panose="020B0609020204030204" pitchFamily="49" charset="0"/>
              </a:rPr>
              <a:t>++</a:t>
            </a:r>
            <a:r>
              <a:rPr lang="en-US" sz="3600" b="0" dirty="0">
                <a:solidFill>
                  <a:srgbClr val="3F374B"/>
                </a:solidFill>
                <a:effectLst/>
                <a:latin typeface="Consolas" panose="020B0609020204030204" pitchFamily="49" charset="0"/>
              </a:rPr>
              <a:t>) {</a:t>
            </a:r>
            <a:endParaRPr lang="en-US" sz="3600" b="0"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let</a:t>
            </a:r>
            <a:r>
              <a:rPr lang="en-US" sz="3600" b="0" dirty="0">
                <a:solidFill>
                  <a:srgbClr val="3F374B"/>
                </a:solidFill>
                <a:effectLst/>
                <a:latin typeface="Consolas" panose="020B0609020204030204" pitchFamily="49" charset="0"/>
              </a:rPr>
              <a:t> </a:t>
            </a:r>
            <a:r>
              <a:rPr lang="en-US" sz="3600" b="0" dirty="0">
                <a:solidFill>
                  <a:srgbClr val="4D5EFF"/>
                </a:solidFill>
                <a:effectLst/>
                <a:latin typeface="Consolas" panose="020B0609020204030204" pitchFamily="49" charset="0"/>
              </a:rPr>
              <a:t>current</a:t>
            </a:r>
            <a:r>
              <a:rPr lang="en-US" sz="3600" b="0" dirty="0">
                <a:solidFill>
                  <a:srgbClr val="3F374B"/>
                </a:solidFill>
                <a:effectLst/>
                <a:latin typeface="Consolas" panose="020B0609020204030204" pitchFamily="49" charset="0"/>
              </a:rPr>
              <a:t> </a:t>
            </a:r>
            <a:r>
              <a:rPr lang="en-US" sz="3600" b="0" dirty="0">
                <a:solidFill>
                  <a:srgbClr val="FF16B0"/>
                </a:solidFill>
                <a:effectLst/>
                <a:latin typeface="Consolas" panose="020B0609020204030204" pitchFamily="49" charset="0"/>
              </a:rPr>
              <a:t>=</a:t>
            </a:r>
            <a:r>
              <a:rPr lang="en-US" sz="3600" b="0" dirty="0">
                <a:solidFill>
                  <a:srgbClr val="3F374B"/>
                </a:solidFill>
                <a:effectLst/>
                <a:latin typeface="Consolas" panose="020B0609020204030204" pitchFamily="49" charset="0"/>
              </a:rPr>
              <a:t> </a:t>
            </a:r>
            <a:r>
              <a:rPr lang="en-US" sz="3600" b="0" dirty="0" err="1">
                <a:solidFill>
                  <a:srgbClr val="4D5EFF"/>
                </a:solidFill>
                <a:effectLst/>
                <a:latin typeface="Consolas" panose="020B0609020204030204" pitchFamily="49" charset="0"/>
              </a:rPr>
              <a:t>i</a:t>
            </a:r>
            <a:r>
              <a:rPr lang="en-US" sz="3600" b="0" dirty="0">
                <a:solidFill>
                  <a:srgbClr val="4D5EFF"/>
                </a:solidFill>
                <a:effectLst/>
                <a:latin typeface="Consolas" panose="020B0609020204030204" pitchFamily="49" charset="0"/>
              </a:rPr>
              <a:t> </a:t>
            </a:r>
            <a:r>
              <a:rPr lang="en-US" sz="3600" b="0" dirty="0">
                <a:solidFill>
                  <a:srgbClr val="FF16B0"/>
                </a:solidFill>
                <a:effectLst/>
                <a:latin typeface="Consolas" panose="020B0609020204030204" pitchFamily="49" charset="0"/>
              </a:rPr>
              <a:t>+ 1</a:t>
            </a:r>
            <a:r>
              <a:rPr lang="en-US" sz="3600" b="0" dirty="0">
                <a:solidFill>
                  <a:srgbClr val="3F374B"/>
                </a:solidFill>
                <a:effectLst/>
                <a:latin typeface="Consolas" panose="020B0609020204030204" pitchFamily="49" charset="0"/>
              </a:rPr>
              <a:t>;</a:t>
            </a:r>
            <a:endParaRPr lang="en-US" sz="3600" b="0"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  </a:t>
            </a:r>
            <a:r>
              <a:rPr lang="en-US" sz="3600" b="0" dirty="0">
                <a:solidFill>
                  <a:srgbClr val="251B50"/>
                </a:solidFill>
                <a:effectLst/>
                <a:latin typeface="Consolas" panose="020B0609020204030204" pitchFamily="49" charset="0"/>
              </a:rPr>
              <a:t>alert</a:t>
            </a:r>
            <a:r>
              <a:rPr lang="en-US" sz="3600" b="0" dirty="0">
                <a:solidFill>
                  <a:srgbClr val="3F374B"/>
                </a:solidFill>
                <a:effectLst/>
                <a:latin typeface="Consolas" panose="020B0609020204030204" pitchFamily="49" charset="0"/>
              </a:rPr>
              <a:t>(</a:t>
            </a:r>
            <a:r>
              <a:rPr lang="en-US" sz="3600" b="0" dirty="0">
                <a:solidFill>
                  <a:srgbClr val="C300FF"/>
                </a:solidFill>
                <a:effectLst/>
                <a:latin typeface="Consolas" panose="020B0609020204030204" pitchFamily="49" charset="0"/>
              </a:rPr>
              <a:t>`Now: </a:t>
            </a:r>
            <a:r>
              <a:rPr lang="en-US" sz="3600" b="0" dirty="0">
                <a:solidFill>
                  <a:srgbClr val="FF16B0"/>
                </a:solidFill>
                <a:effectLst/>
                <a:latin typeface="Consolas" panose="020B0609020204030204" pitchFamily="49" charset="0"/>
              </a:rPr>
              <a:t>${</a:t>
            </a:r>
            <a:r>
              <a:rPr lang="en-US" sz="3600" b="0" dirty="0">
                <a:solidFill>
                  <a:srgbClr val="4D5EFF"/>
                </a:solidFill>
                <a:effectLst/>
                <a:latin typeface="Consolas" panose="020B0609020204030204" pitchFamily="49" charset="0"/>
              </a:rPr>
              <a:t>current</a:t>
            </a:r>
            <a:r>
              <a:rPr lang="en-US" sz="3600" b="0" dirty="0">
                <a:solidFill>
                  <a:srgbClr val="FF16B0"/>
                </a:solidFill>
                <a:effectLst/>
                <a:latin typeface="Consolas" panose="020B0609020204030204" pitchFamily="49" charset="0"/>
              </a:rPr>
              <a:t>}</a:t>
            </a:r>
            <a:r>
              <a:rPr lang="en-US" sz="3600" b="0" dirty="0">
                <a:solidFill>
                  <a:srgbClr val="C300FF"/>
                </a:solidFill>
                <a:effectLst/>
                <a:latin typeface="Consolas" panose="020B0609020204030204" pitchFamily="49" charset="0"/>
              </a:rPr>
              <a:t>`</a:t>
            </a:r>
            <a:r>
              <a:rPr lang="en-US" sz="3600" b="0" dirty="0">
                <a:solidFill>
                  <a:srgbClr val="3F374B"/>
                </a:solidFill>
                <a:effectLst/>
                <a:latin typeface="Consolas" panose="020B0609020204030204" pitchFamily="49" charset="0"/>
              </a:rPr>
              <a:t>);</a:t>
            </a:r>
            <a:endParaRPr lang="en-US" sz="3600" b="0" dirty="0">
              <a:solidFill>
                <a:srgbClr val="19152C"/>
              </a:solidFill>
              <a:effectLst/>
              <a:latin typeface="Consolas" panose="020B0609020204030204" pitchFamily="49" charset="0"/>
            </a:endParaRPr>
          </a:p>
          <a:p>
            <a:r>
              <a:rPr lang="en-US" sz="3600" b="0" dirty="0">
                <a:solidFill>
                  <a:srgbClr val="3F374B"/>
                </a:solidFill>
                <a:effectLst/>
                <a:latin typeface="Consolas" panose="020B0609020204030204" pitchFamily="49" charset="0"/>
              </a:rPr>
              <a:t>}</a:t>
            </a:r>
            <a:endParaRPr lang="en-US" sz="3600" b="0" dirty="0">
              <a:solidFill>
                <a:srgbClr val="19152C"/>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E12B7303-9B8D-4B57-B9FB-AFA46CD54018}"/>
              </a:ext>
            </a:extLst>
          </p:cNvPr>
          <p:cNvSpPr/>
          <p:nvPr/>
        </p:nvSpPr>
        <p:spPr>
          <a:xfrm>
            <a:off x="1846324" y="3359425"/>
            <a:ext cx="6134797" cy="1560445"/>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2"/>
                </a:solidFill>
                <a:latin typeface="Miriam Libre" panose="00000500000000000000" pitchFamily="2" charset="-79"/>
                <a:cs typeface="Miriam Libre" panose="00000500000000000000" pitchFamily="2" charset="-79"/>
              </a:rPr>
              <a:t>We’re Done!</a:t>
            </a:r>
          </a:p>
        </p:txBody>
      </p:sp>
    </p:spTree>
    <p:extLst>
      <p:ext uri="{BB962C8B-B14F-4D97-AF65-F5344CB8AC3E}">
        <p14:creationId xmlns:p14="http://schemas.microsoft.com/office/powerpoint/2010/main" val="23033169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BD1404E2-1EDB-4AC1-B56A-57CF7998B6B5}"/>
              </a:ext>
            </a:extLst>
          </p:cNvPr>
          <p:cNvSpPr/>
          <p:nvPr/>
        </p:nvSpPr>
        <p:spPr>
          <a:xfrm>
            <a:off x="4279329" y="3856904"/>
            <a:ext cx="4187687" cy="5565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7C18CF-6FE9-417F-82DF-BBC8F3FBE82C}"/>
              </a:ext>
            </a:extLst>
          </p:cNvPr>
          <p:cNvSpPr>
            <a:spLocks noGrp="1"/>
          </p:cNvSpPr>
          <p:nvPr>
            <p:ph type="title"/>
          </p:nvPr>
        </p:nvSpPr>
        <p:spPr/>
        <p:txBody>
          <a:bodyPr/>
          <a:lstStyle/>
          <a:p>
            <a:r>
              <a:rPr lang="en-US" dirty="0"/>
              <a:t>For Loop Steps Recap</a:t>
            </a:r>
          </a:p>
        </p:txBody>
      </p:sp>
      <p:sp>
        <p:nvSpPr>
          <p:cNvPr id="3" name="Rectangle 2">
            <a:extLst>
              <a:ext uri="{FF2B5EF4-FFF2-40B4-BE49-F238E27FC236}">
                <a16:creationId xmlns:a16="http://schemas.microsoft.com/office/drawing/2014/main" id="{20E225DE-B6BA-4848-A32B-2CA16698974D}"/>
              </a:ext>
            </a:extLst>
          </p:cNvPr>
          <p:cNvSpPr/>
          <p:nvPr/>
        </p:nvSpPr>
        <p:spPr>
          <a:xfrm>
            <a:off x="719999" y="1430448"/>
            <a:ext cx="7790257" cy="30962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914400" indent="-914400">
              <a:buFont typeface="+mj-lt"/>
              <a:buAutoNum type="arabicPeriod"/>
            </a:pPr>
            <a:r>
              <a:rPr lang="en-US" sz="4800" dirty="0">
                <a:solidFill>
                  <a:schemeClr val="tx1"/>
                </a:solidFill>
                <a:latin typeface="Miriam Libre" panose="00000500000000000000" pitchFamily="2" charset="-79"/>
                <a:cs typeface="Miriam Libre" panose="00000500000000000000" pitchFamily="2" charset="-79"/>
              </a:rPr>
              <a:t>Initialization </a:t>
            </a:r>
            <a:r>
              <a:rPr lang="en-US" sz="3200" b="1" dirty="0">
                <a:solidFill>
                  <a:srgbClr val="FF16B0"/>
                </a:solidFill>
                <a:effectLst/>
                <a:latin typeface="Consolas" panose="020B0609020204030204" pitchFamily="49" charset="0"/>
              </a:rPr>
              <a:t>let</a:t>
            </a:r>
            <a:r>
              <a:rPr lang="en-US" sz="3200" b="1" dirty="0">
                <a:solidFill>
                  <a:srgbClr val="3F374B"/>
                </a:solidFill>
                <a:effectLst/>
                <a:latin typeface="Consolas" panose="020B0609020204030204" pitchFamily="49" charset="0"/>
              </a:rPr>
              <a:t> </a:t>
            </a:r>
            <a:r>
              <a:rPr lang="en-US" sz="3200" b="1" dirty="0" err="1">
                <a:solidFill>
                  <a:srgbClr val="4D5EFF"/>
                </a:solidFill>
                <a:effectLst/>
                <a:latin typeface="Consolas" panose="020B0609020204030204" pitchFamily="49" charset="0"/>
              </a:rPr>
              <a:t>i</a:t>
            </a:r>
            <a:r>
              <a:rPr lang="en-US" sz="3200" b="1" dirty="0">
                <a:solidFill>
                  <a:srgbClr val="3F374B"/>
                </a:solidFill>
                <a:effectLst/>
                <a:latin typeface="Consolas" panose="020B0609020204030204" pitchFamily="49" charset="0"/>
              </a:rPr>
              <a:t> </a:t>
            </a:r>
            <a:r>
              <a:rPr lang="en-US" sz="3200" b="1" dirty="0">
                <a:solidFill>
                  <a:srgbClr val="FF16B0"/>
                </a:solidFill>
                <a:effectLst/>
                <a:latin typeface="Consolas" panose="020B0609020204030204" pitchFamily="49" charset="0"/>
              </a:rPr>
              <a:t>=</a:t>
            </a:r>
            <a:r>
              <a:rPr lang="en-US" sz="3200" b="1" dirty="0">
                <a:solidFill>
                  <a:srgbClr val="3F374B"/>
                </a:solidFill>
                <a:effectLst/>
                <a:latin typeface="Consolas" panose="020B0609020204030204" pitchFamily="49" charset="0"/>
              </a:rPr>
              <a:t> </a:t>
            </a:r>
            <a:r>
              <a:rPr lang="en-US" sz="3200" b="1" dirty="0">
                <a:solidFill>
                  <a:srgbClr val="FF16B0"/>
                </a:solidFill>
                <a:effectLst/>
                <a:latin typeface="Consolas" panose="020B0609020204030204" pitchFamily="49" charset="0"/>
              </a:rPr>
              <a:t>0</a:t>
            </a:r>
            <a:r>
              <a:rPr lang="en-US" sz="3200" b="1" dirty="0">
                <a:solidFill>
                  <a:srgbClr val="3F374B"/>
                </a:solidFill>
                <a:effectLst/>
                <a:latin typeface="Consolas" panose="020B0609020204030204" pitchFamily="49" charset="0"/>
              </a:rPr>
              <a:t>;</a:t>
            </a:r>
            <a:endParaRPr lang="en-US" sz="3200" b="1" dirty="0">
              <a:solidFill>
                <a:schemeClr val="tx1"/>
              </a:solidFill>
              <a:latin typeface="Consolas" panose="020B0609020204030204" pitchFamily="49" charset="0"/>
              <a:cs typeface="Miriam Libre" panose="00000500000000000000" pitchFamily="2" charset="-79"/>
            </a:endParaRPr>
          </a:p>
          <a:p>
            <a:pPr marL="914400" indent="-914400">
              <a:buFont typeface="+mj-lt"/>
              <a:buAutoNum type="arabicPeriod"/>
            </a:pPr>
            <a:r>
              <a:rPr lang="en-US" sz="4800" dirty="0">
                <a:solidFill>
                  <a:schemeClr val="tx1"/>
                </a:solidFill>
                <a:latin typeface="Miriam Libre" panose="00000500000000000000" pitchFamily="2" charset="-79"/>
                <a:cs typeface="Miriam Libre" panose="00000500000000000000" pitchFamily="2" charset="-79"/>
              </a:rPr>
              <a:t>Condition </a:t>
            </a:r>
            <a:r>
              <a:rPr lang="en-US" sz="3200" b="1" dirty="0" err="1">
                <a:solidFill>
                  <a:srgbClr val="4D5EFF"/>
                </a:solidFill>
                <a:effectLst/>
                <a:latin typeface="Consolas" panose="020B0609020204030204" pitchFamily="49" charset="0"/>
              </a:rPr>
              <a:t>i</a:t>
            </a:r>
            <a:r>
              <a:rPr lang="en-US" sz="3200" b="1" dirty="0">
                <a:solidFill>
                  <a:srgbClr val="3F374B"/>
                </a:solidFill>
                <a:effectLst/>
                <a:latin typeface="Consolas" panose="020B0609020204030204" pitchFamily="49" charset="0"/>
              </a:rPr>
              <a:t> </a:t>
            </a:r>
            <a:r>
              <a:rPr lang="en-US" sz="3200" b="1" dirty="0">
                <a:solidFill>
                  <a:srgbClr val="FF16B0"/>
                </a:solidFill>
                <a:effectLst/>
                <a:latin typeface="Consolas" panose="020B0609020204030204" pitchFamily="49" charset="0"/>
              </a:rPr>
              <a:t>&lt;</a:t>
            </a:r>
            <a:r>
              <a:rPr lang="en-US" sz="3200" b="1" dirty="0">
                <a:solidFill>
                  <a:srgbClr val="3F374B"/>
                </a:solidFill>
                <a:effectLst/>
                <a:latin typeface="Consolas" panose="020B0609020204030204" pitchFamily="49" charset="0"/>
              </a:rPr>
              <a:t> </a:t>
            </a:r>
            <a:r>
              <a:rPr lang="en-US" sz="3200" b="1" dirty="0">
                <a:solidFill>
                  <a:srgbClr val="FF16B0"/>
                </a:solidFill>
                <a:latin typeface="Consolas" panose="020B0609020204030204" pitchFamily="49" charset="0"/>
              </a:rPr>
              <a:t>3</a:t>
            </a:r>
            <a:r>
              <a:rPr lang="en-US" sz="3200" b="1" dirty="0">
                <a:solidFill>
                  <a:srgbClr val="3F374B"/>
                </a:solidFill>
                <a:effectLst/>
                <a:latin typeface="Consolas" panose="020B0609020204030204" pitchFamily="49" charset="0"/>
              </a:rPr>
              <a:t>;</a:t>
            </a:r>
            <a:endParaRPr lang="en-US" sz="3200" b="1" dirty="0">
              <a:solidFill>
                <a:schemeClr val="accent5">
                  <a:lumMod val="85000"/>
                </a:schemeClr>
              </a:solidFill>
              <a:latin typeface="Consolas" panose="020B0609020204030204" pitchFamily="49" charset="0"/>
            </a:endParaRPr>
          </a:p>
          <a:p>
            <a:pPr marL="914400" indent="-914400">
              <a:buFont typeface="+mj-lt"/>
              <a:buAutoNum type="arabicPeriod"/>
            </a:pPr>
            <a:r>
              <a:rPr lang="en-US" sz="4800" dirty="0">
                <a:solidFill>
                  <a:schemeClr val="tx1"/>
                </a:solidFill>
                <a:latin typeface="Miriam Libre" panose="00000500000000000000" pitchFamily="2" charset="-79"/>
                <a:cs typeface="Miriam Libre" panose="00000500000000000000" pitchFamily="2" charset="-79"/>
              </a:rPr>
              <a:t>Body </a:t>
            </a:r>
            <a:r>
              <a:rPr lang="en-US" sz="3200" b="1" dirty="0">
                <a:solidFill>
                  <a:schemeClr val="tx1"/>
                </a:solidFill>
                <a:latin typeface="Consolas" panose="020B0609020204030204" pitchFamily="49" charset="0"/>
                <a:cs typeface="Miriam Libre" panose="00000500000000000000" pitchFamily="2" charset="-79"/>
              </a:rPr>
              <a:t>{ }</a:t>
            </a:r>
          </a:p>
          <a:p>
            <a:pPr marL="914400" indent="-914400">
              <a:buFont typeface="+mj-lt"/>
              <a:buAutoNum type="arabicPeriod"/>
            </a:pPr>
            <a:r>
              <a:rPr lang="en-US" sz="4800" dirty="0">
                <a:solidFill>
                  <a:schemeClr val="tx1"/>
                </a:solidFill>
                <a:latin typeface="Miriam Libre" panose="00000500000000000000" pitchFamily="2" charset="-79"/>
                <a:cs typeface="Miriam Libre" panose="00000500000000000000" pitchFamily="2" charset="-79"/>
              </a:rPr>
              <a:t>Increment </a:t>
            </a:r>
            <a:r>
              <a:rPr lang="en-US" sz="3200" b="1" dirty="0" err="1">
                <a:solidFill>
                  <a:srgbClr val="4D5EFF"/>
                </a:solidFill>
                <a:effectLst/>
                <a:latin typeface="Consolas" panose="020B0609020204030204" pitchFamily="49" charset="0"/>
              </a:rPr>
              <a:t>i</a:t>
            </a:r>
            <a:r>
              <a:rPr lang="en-US" sz="3200" b="1" dirty="0">
                <a:solidFill>
                  <a:srgbClr val="FF16B0"/>
                </a:solidFill>
                <a:effectLst/>
                <a:latin typeface="Consolas" panose="020B0609020204030204" pitchFamily="49" charset="0"/>
              </a:rPr>
              <a:t>++</a:t>
            </a:r>
            <a:endParaRPr lang="en-US" sz="3200" dirty="0">
              <a:solidFill>
                <a:schemeClr val="tx1"/>
              </a:solidFill>
              <a:latin typeface="Consolas" panose="020B0609020204030204" pitchFamily="49" charset="0"/>
              <a:cs typeface="Miriam Libre" panose="00000500000000000000" pitchFamily="2" charset="-79"/>
            </a:endParaRPr>
          </a:p>
        </p:txBody>
      </p:sp>
      <p:cxnSp>
        <p:nvCxnSpPr>
          <p:cNvPr id="9" name="Straight Connector 8">
            <a:extLst>
              <a:ext uri="{FF2B5EF4-FFF2-40B4-BE49-F238E27FC236}">
                <a16:creationId xmlns:a16="http://schemas.microsoft.com/office/drawing/2014/main" id="{48B7BCB0-B1E1-4DA2-8FFF-AA70347CFEB1}"/>
              </a:ext>
            </a:extLst>
          </p:cNvPr>
          <p:cNvCxnSpPr>
            <a:cxnSpLocks/>
          </p:cNvCxnSpPr>
          <p:nvPr/>
        </p:nvCxnSpPr>
        <p:spPr>
          <a:xfrm flipH="1">
            <a:off x="1411357" y="4015409"/>
            <a:ext cx="298173" cy="0"/>
          </a:xfrm>
          <a:prstGeom prst="line">
            <a:avLst/>
          </a:prstGeom>
          <a:ln w="50800" cap="rnd">
            <a:solidFill>
              <a:srgbClr val="4D5EF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831E8BF-7FAE-480F-8264-17DD2B8AD0EC}"/>
              </a:ext>
            </a:extLst>
          </p:cNvPr>
          <p:cNvCxnSpPr>
            <a:cxnSpLocks/>
          </p:cNvCxnSpPr>
          <p:nvPr/>
        </p:nvCxnSpPr>
        <p:spPr>
          <a:xfrm flipV="1">
            <a:off x="1411357" y="2571750"/>
            <a:ext cx="0" cy="1443660"/>
          </a:xfrm>
          <a:prstGeom prst="line">
            <a:avLst/>
          </a:prstGeom>
          <a:ln w="50800" cap="rnd">
            <a:solidFill>
              <a:srgbClr val="4D5E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D98BBF3-D8CE-410E-A4CC-AC28ED7391AD}"/>
              </a:ext>
            </a:extLst>
          </p:cNvPr>
          <p:cNvCxnSpPr>
            <a:cxnSpLocks/>
          </p:cNvCxnSpPr>
          <p:nvPr/>
        </p:nvCxnSpPr>
        <p:spPr>
          <a:xfrm>
            <a:off x="1411357" y="2571750"/>
            <a:ext cx="298173" cy="1"/>
          </a:xfrm>
          <a:prstGeom prst="line">
            <a:avLst/>
          </a:prstGeom>
          <a:ln w="50800" cap="rnd">
            <a:solidFill>
              <a:srgbClr val="4D5EFF"/>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2052" name="Picture 4" descr="Sonic Mania GIFs - Get the best GIF on GIPHY">
            <a:extLst>
              <a:ext uri="{FF2B5EF4-FFF2-40B4-BE49-F238E27FC236}">
                <a16:creationId xmlns:a16="http://schemas.microsoft.com/office/drawing/2014/main" id="{B7B1CBC3-5860-436E-B6B6-DFBE86EA6586}"/>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274088" y="2397534"/>
            <a:ext cx="2541922" cy="25419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23268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52"/>
                                        </p:tgtEl>
                                        <p:attrNameLst>
                                          <p:attrName>style.visibility</p:attrName>
                                        </p:attrNameLst>
                                      </p:cBhvr>
                                      <p:to>
                                        <p:strVal val="visible"/>
                                      </p:to>
                                    </p:set>
                                    <p:animEffect transition="in" filter="fade">
                                      <p:cBhvr>
                                        <p:cTn id="27" dur="500"/>
                                        <p:tgtEl>
                                          <p:spTgt spid="2052"/>
                                        </p:tgtEl>
                                      </p:cBhvr>
                                    </p:animEffect>
                                  </p:childTnLst>
                                </p:cTn>
                              </p:par>
                              <p:par>
                                <p:cTn id="28" presetID="22" presetClass="entr" presetSubtype="2"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right)">
                                      <p:cBhvr>
                                        <p:cTn id="30" dur="100"/>
                                        <p:tgtEl>
                                          <p:spTgt spid="9"/>
                                        </p:tgtEl>
                                      </p:cBhvr>
                                    </p:animEffect>
                                  </p:childTnLst>
                                </p:cTn>
                              </p:par>
                            </p:childTnLst>
                          </p:cTn>
                        </p:par>
                        <p:par>
                          <p:cTn id="31" fill="hold">
                            <p:stCondLst>
                              <p:cond delay="500"/>
                            </p:stCondLst>
                            <p:childTnLst>
                              <p:par>
                                <p:cTn id="32" presetID="22" presetClass="entr" presetSubtype="4"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down)">
                                      <p:cBhvr>
                                        <p:cTn id="34" dur="500"/>
                                        <p:tgtEl>
                                          <p:spTgt spid="16"/>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left)">
                                      <p:cBhvr>
                                        <p:cTn id="38" dur="1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84E5A6-1128-4DCC-86FF-9C6418D2E560}"/>
              </a:ext>
            </a:extLst>
          </p:cNvPr>
          <p:cNvSpPr/>
          <p:nvPr/>
        </p:nvSpPr>
        <p:spPr>
          <a:xfrm>
            <a:off x="4279329" y="3856904"/>
            <a:ext cx="4187687" cy="5565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64AE00-D688-47A2-9EC4-27032CAA4196}"/>
              </a:ext>
            </a:extLst>
          </p:cNvPr>
          <p:cNvSpPr>
            <a:spLocks noGrp="1"/>
          </p:cNvSpPr>
          <p:nvPr>
            <p:ph type="title"/>
          </p:nvPr>
        </p:nvSpPr>
        <p:spPr/>
        <p:txBody>
          <a:bodyPr/>
          <a:lstStyle/>
          <a:p>
            <a:r>
              <a:rPr lang="en-US" dirty="0"/>
              <a:t>The Count Revisited</a:t>
            </a:r>
          </a:p>
        </p:txBody>
      </p:sp>
      <p:sp>
        <p:nvSpPr>
          <p:cNvPr id="6" name="Rectangle 5">
            <a:extLst>
              <a:ext uri="{FF2B5EF4-FFF2-40B4-BE49-F238E27FC236}">
                <a16:creationId xmlns:a16="http://schemas.microsoft.com/office/drawing/2014/main" id="{753493BE-DD05-483F-BC81-B5F6273BC737}"/>
              </a:ext>
            </a:extLst>
          </p:cNvPr>
          <p:cNvSpPr/>
          <p:nvPr/>
        </p:nvSpPr>
        <p:spPr>
          <a:xfrm>
            <a:off x="720000" y="1430448"/>
            <a:ext cx="7704000" cy="3096285"/>
          </a:xfrm>
          <a:prstGeom prst="rect">
            <a:avLst/>
          </a:prstGeom>
          <a:solidFill>
            <a:srgbClr val="00B1F0"/>
          </a:solidFill>
          <a:ln>
            <a:solidFill>
              <a:srgbClr val="008E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accent2">
                    <a:lumMod val="40000"/>
                    <a:lumOff val="60000"/>
                  </a:schemeClr>
                </a:solidFill>
                <a:latin typeface="Miriam Libre" panose="00000500000000000000" pitchFamily="2" charset="-79"/>
                <a:cs typeface="Miriam Libre" panose="00000500000000000000" pitchFamily="2" charset="-79"/>
                <a:hlinkClick r:id="rId3">
                  <a:extLst>
                    <a:ext uri="{A12FA001-AC4F-418D-AE19-62706E023703}">
                      <ahyp:hlinkClr xmlns:ahyp="http://schemas.microsoft.com/office/drawing/2018/hyperlinkcolor" val="tx"/>
                    </a:ext>
                  </a:extLst>
                </a:hlinkClick>
              </a:rPr>
              <a:t>https://jsfiddle.net/wt5ycfp2/</a:t>
            </a:r>
            <a:endParaRPr lang="en-US" sz="5400" dirty="0">
              <a:solidFill>
                <a:schemeClr val="accent2">
                  <a:lumMod val="40000"/>
                  <a:lumOff val="60000"/>
                </a:schemeClr>
              </a:solidFill>
              <a:latin typeface="Miriam Libre" panose="00000500000000000000" pitchFamily="2" charset="-79"/>
              <a:cs typeface="Miriam Libre" panose="00000500000000000000" pitchFamily="2" charset="-79"/>
            </a:endParaRPr>
          </a:p>
        </p:txBody>
      </p:sp>
    </p:spTree>
    <p:extLst>
      <p:ext uri="{BB962C8B-B14F-4D97-AF65-F5344CB8AC3E}">
        <p14:creationId xmlns:p14="http://schemas.microsoft.com/office/powerpoint/2010/main" val="18339926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5DCB255-C73A-49F8-8EFA-CF89DFF7D4B2}"/>
              </a:ext>
            </a:extLst>
          </p:cNvPr>
          <p:cNvSpPr/>
          <p:nvPr/>
        </p:nvSpPr>
        <p:spPr>
          <a:xfrm>
            <a:off x="4279329" y="3856904"/>
            <a:ext cx="4187687" cy="5565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7E8EBA-4DA2-4B5E-8446-16D152185A04}"/>
              </a:ext>
            </a:extLst>
          </p:cNvPr>
          <p:cNvSpPr>
            <a:spLocks noGrp="1"/>
          </p:cNvSpPr>
          <p:nvPr>
            <p:ph type="title"/>
          </p:nvPr>
        </p:nvSpPr>
        <p:spPr/>
        <p:txBody>
          <a:bodyPr/>
          <a:lstStyle/>
          <a:p>
            <a:r>
              <a:rPr lang="en-US" dirty="0"/>
              <a:t>Conclusion</a:t>
            </a:r>
          </a:p>
        </p:txBody>
      </p:sp>
      <p:sp>
        <p:nvSpPr>
          <p:cNvPr id="4" name="TextBox 3">
            <a:extLst>
              <a:ext uri="{FF2B5EF4-FFF2-40B4-BE49-F238E27FC236}">
                <a16:creationId xmlns:a16="http://schemas.microsoft.com/office/drawing/2014/main" id="{F961C137-FDD2-46C9-981F-6D72F59390FD}"/>
              </a:ext>
            </a:extLst>
          </p:cNvPr>
          <p:cNvSpPr txBox="1"/>
          <p:nvPr/>
        </p:nvSpPr>
        <p:spPr>
          <a:xfrm>
            <a:off x="720000" y="1480930"/>
            <a:ext cx="7704000" cy="2123658"/>
          </a:xfrm>
          <a:prstGeom prst="rect">
            <a:avLst/>
          </a:prstGeom>
          <a:noFill/>
        </p:spPr>
        <p:txBody>
          <a:bodyPr wrap="square">
            <a:spAutoFit/>
          </a:bodyPr>
          <a:lstStyle/>
          <a:p>
            <a:r>
              <a:rPr lang="en-US" sz="4400" b="0" dirty="0">
                <a:solidFill>
                  <a:srgbClr val="FF16B0"/>
                </a:solidFill>
                <a:effectLst/>
                <a:latin typeface="Consolas" panose="020B0609020204030204" pitchFamily="49" charset="0"/>
              </a:rPr>
              <a:t>for</a:t>
            </a:r>
            <a:r>
              <a:rPr lang="en-US" sz="4400" b="0" dirty="0">
                <a:solidFill>
                  <a:srgbClr val="3F374B"/>
                </a:solidFill>
                <a:effectLst/>
                <a:latin typeface="Consolas" panose="020B0609020204030204" pitchFamily="49" charset="0"/>
              </a:rPr>
              <a:t> (</a:t>
            </a:r>
            <a:r>
              <a:rPr lang="en-US" sz="4400" i="1" dirty="0" err="1">
                <a:solidFill>
                  <a:schemeClr val="bg2"/>
                </a:solidFill>
                <a:latin typeface="Consolas" panose="020B0609020204030204" pitchFamily="49" charset="0"/>
              </a:rPr>
              <a:t>init</a:t>
            </a:r>
            <a:r>
              <a:rPr lang="en-US" sz="4400" b="0" dirty="0">
                <a:solidFill>
                  <a:srgbClr val="3F374B"/>
                </a:solidFill>
                <a:effectLst/>
                <a:latin typeface="Consolas" panose="020B0609020204030204" pitchFamily="49" charset="0"/>
              </a:rPr>
              <a:t>; </a:t>
            </a:r>
            <a:r>
              <a:rPr lang="en-US" sz="4400" b="0" i="1" dirty="0" err="1">
                <a:solidFill>
                  <a:schemeClr val="accent1"/>
                </a:solidFill>
                <a:effectLst/>
                <a:latin typeface="Consolas" panose="020B0609020204030204" pitchFamily="49" charset="0"/>
              </a:rPr>
              <a:t>cond</a:t>
            </a:r>
            <a:r>
              <a:rPr lang="en-US" sz="4400" b="0" dirty="0">
                <a:solidFill>
                  <a:srgbClr val="3F374B"/>
                </a:solidFill>
                <a:effectLst/>
                <a:latin typeface="Consolas" panose="020B0609020204030204" pitchFamily="49" charset="0"/>
              </a:rPr>
              <a:t>; </a:t>
            </a:r>
            <a:r>
              <a:rPr lang="en-US" sz="4400" i="1" dirty="0" err="1">
                <a:solidFill>
                  <a:schemeClr val="accent2">
                    <a:lumMod val="75000"/>
                  </a:schemeClr>
                </a:solidFill>
                <a:latin typeface="Consolas" panose="020B0609020204030204" pitchFamily="49" charset="0"/>
              </a:rPr>
              <a:t>inc</a:t>
            </a:r>
            <a:r>
              <a:rPr lang="en-US" sz="4400" b="0" dirty="0">
                <a:solidFill>
                  <a:srgbClr val="3F374B"/>
                </a:solidFill>
                <a:effectLst/>
                <a:latin typeface="Consolas" panose="020B0609020204030204" pitchFamily="49" charset="0"/>
              </a:rPr>
              <a:t>) {</a:t>
            </a:r>
            <a:endParaRPr lang="en-US" sz="4400" b="0" dirty="0">
              <a:solidFill>
                <a:srgbClr val="19152C"/>
              </a:solidFill>
              <a:effectLst/>
              <a:latin typeface="Consolas" panose="020B0609020204030204" pitchFamily="49" charset="0"/>
            </a:endParaRPr>
          </a:p>
          <a:p>
            <a:r>
              <a:rPr lang="en-US" sz="4400" b="0" dirty="0">
                <a:solidFill>
                  <a:srgbClr val="3F374B"/>
                </a:solidFill>
                <a:effectLst/>
                <a:latin typeface="Consolas" panose="020B0609020204030204" pitchFamily="49" charset="0"/>
              </a:rPr>
              <a:t>  </a:t>
            </a:r>
            <a:r>
              <a:rPr lang="en-US" sz="4400" b="0" i="1" dirty="0">
                <a:solidFill>
                  <a:schemeClr val="accent4"/>
                </a:solidFill>
                <a:effectLst/>
                <a:latin typeface="Consolas" panose="020B0609020204030204" pitchFamily="49" charset="0"/>
              </a:rPr>
              <a:t>body</a:t>
            </a:r>
          </a:p>
          <a:p>
            <a:r>
              <a:rPr lang="en-US" sz="4400" b="0" dirty="0">
                <a:solidFill>
                  <a:srgbClr val="3F374B"/>
                </a:solidFill>
                <a:effectLst/>
                <a:latin typeface="Consolas" panose="020B0609020204030204" pitchFamily="49" charset="0"/>
              </a:rPr>
              <a:t>}</a:t>
            </a:r>
            <a:endParaRPr lang="en-US" sz="4400" b="0" dirty="0">
              <a:solidFill>
                <a:srgbClr val="19152C"/>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8B1161AD-28C2-41BD-B27C-1EF1E309BCDA}"/>
              </a:ext>
            </a:extLst>
          </p:cNvPr>
          <p:cNvSpPr/>
          <p:nvPr/>
        </p:nvSpPr>
        <p:spPr>
          <a:xfrm>
            <a:off x="720001" y="3922245"/>
            <a:ext cx="7703999" cy="6584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3">
                    <a:lumMod val="50000"/>
                  </a:schemeClr>
                </a:solidFill>
                <a:latin typeface="Miriam Libre" panose="00000500000000000000" pitchFamily="2" charset="-79"/>
                <a:cs typeface="Miriam Libre" panose="00000500000000000000" pitchFamily="2" charset="-79"/>
              </a:rPr>
              <a:t>Use loops to avoid repeated code</a:t>
            </a:r>
          </a:p>
        </p:txBody>
      </p:sp>
      <p:sp>
        <p:nvSpPr>
          <p:cNvPr id="6" name="Rectangle 5">
            <a:extLst>
              <a:ext uri="{FF2B5EF4-FFF2-40B4-BE49-F238E27FC236}">
                <a16:creationId xmlns:a16="http://schemas.microsoft.com/office/drawing/2014/main" id="{E835AF28-F99E-4622-B6FE-9668CD4AD9FB}"/>
              </a:ext>
            </a:extLst>
          </p:cNvPr>
          <p:cNvSpPr/>
          <p:nvPr/>
        </p:nvSpPr>
        <p:spPr>
          <a:xfrm>
            <a:off x="2835966" y="2571750"/>
            <a:ext cx="5588034" cy="50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accent3">
                    <a:lumMod val="50000"/>
                  </a:schemeClr>
                </a:solidFill>
                <a:latin typeface="Miriam Libre" panose="00000500000000000000" pitchFamily="2" charset="-79"/>
                <a:cs typeface="Miriam Libre" panose="00000500000000000000" pitchFamily="2" charset="-79"/>
              </a:rPr>
              <a:t>Memorize the boiler-plate:</a:t>
            </a:r>
            <a:endParaRPr lang="en-US" sz="2800" b="1" dirty="0">
              <a:solidFill>
                <a:schemeClr val="tx1"/>
              </a:solidFill>
              <a:latin typeface="Consolas" panose="020B0609020204030204" pitchFamily="49" charset="0"/>
              <a:cs typeface="Miriam Libre" panose="00000500000000000000" pitchFamily="2" charset="-79"/>
            </a:endParaRPr>
          </a:p>
        </p:txBody>
      </p:sp>
      <p:sp>
        <p:nvSpPr>
          <p:cNvPr id="10" name="TextBox 9">
            <a:extLst>
              <a:ext uri="{FF2B5EF4-FFF2-40B4-BE49-F238E27FC236}">
                <a16:creationId xmlns:a16="http://schemas.microsoft.com/office/drawing/2014/main" id="{949BD665-2095-41A7-BDCF-519A94FBB9A2}"/>
              </a:ext>
            </a:extLst>
          </p:cNvPr>
          <p:cNvSpPr txBox="1"/>
          <p:nvPr/>
        </p:nvSpPr>
        <p:spPr>
          <a:xfrm>
            <a:off x="2146852" y="3055531"/>
            <a:ext cx="6104868" cy="707886"/>
          </a:xfrm>
          <a:prstGeom prst="rect">
            <a:avLst/>
          </a:prstGeom>
          <a:solidFill>
            <a:schemeClr val="accent3">
              <a:alpha val="42000"/>
            </a:schemeClr>
          </a:solidFill>
          <a:ln w="25400">
            <a:solidFill>
              <a:schemeClr val="accent3">
                <a:lumMod val="50000"/>
              </a:schemeClr>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000" b="1" i="0" u="none" strike="noStrike" kern="0" cap="none" spc="0" normalizeH="0" baseline="0" noProof="0" dirty="0">
                <a:ln>
                  <a:noFill/>
                </a:ln>
                <a:solidFill>
                  <a:srgbClr val="24069D">
                    <a:lumMod val="60000"/>
                    <a:lumOff val="40000"/>
                  </a:srgbClr>
                </a:solidFill>
                <a:effectLst/>
                <a:uLnTx/>
                <a:uFillTx/>
                <a:latin typeface="Consolas" panose="020B0609020204030204" pitchFamily="49" charset="0"/>
                <a:ea typeface="+mn-ea"/>
                <a:cs typeface="Miriam Libre" panose="00000500000000000000" pitchFamily="2" charset="-79"/>
                <a:sym typeface="Arial"/>
              </a:rPr>
              <a:t>let</a:t>
            </a:r>
            <a:r>
              <a:rPr kumimoji="0" lang="en-US" sz="4000" b="1" i="0" u="none" strike="noStrike" kern="0" cap="none" spc="0" normalizeH="0" baseline="0" noProof="0" dirty="0">
                <a:ln>
                  <a:noFill/>
                </a:ln>
                <a:solidFill>
                  <a:srgbClr val="000000"/>
                </a:solidFill>
                <a:effectLst/>
                <a:uLnTx/>
                <a:uFillTx/>
                <a:latin typeface="Consolas" panose="020B0609020204030204" pitchFamily="49" charset="0"/>
                <a:ea typeface="+mn-ea"/>
                <a:cs typeface="Miriam Libre" panose="00000500000000000000" pitchFamily="2" charset="-79"/>
                <a:sym typeface="Arial"/>
              </a:rPr>
              <a:t> </a:t>
            </a:r>
            <a:r>
              <a:rPr kumimoji="0" lang="en-US" sz="4000" b="1" i="0" u="none" strike="noStrike" kern="0" cap="none" spc="0" normalizeH="0" baseline="0" noProof="0" dirty="0" err="1">
                <a:ln>
                  <a:noFill/>
                </a:ln>
                <a:solidFill>
                  <a:srgbClr val="FFA27A">
                    <a:lumMod val="75000"/>
                  </a:srgbClr>
                </a:solidFill>
                <a:effectLst/>
                <a:uLnTx/>
                <a:uFillTx/>
                <a:latin typeface="Consolas" panose="020B0609020204030204" pitchFamily="49" charset="0"/>
                <a:ea typeface="+mn-ea"/>
                <a:cs typeface="Miriam Libre" panose="00000500000000000000" pitchFamily="2" charset="-79"/>
                <a:sym typeface="Arial"/>
              </a:rPr>
              <a:t>i</a:t>
            </a:r>
            <a:r>
              <a:rPr kumimoji="0" lang="en-US" sz="4000" b="1" i="0" u="none" strike="noStrike" kern="0" cap="none" spc="0" normalizeH="0" baseline="0" noProof="0" dirty="0">
                <a:ln>
                  <a:noFill/>
                </a:ln>
                <a:solidFill>
                  <a:srgbClr val="000000"/>
                </a:solidFill>
                <a:effectLst/>
                <a:uLnTx/>
                <a:uFillTx/>
                <a:latin typeface="Consolas" panose="020B0609020204030204" pitchFamily="49" charset="0"/>
                <a:ea typeface="+mn-ea"/>
                <a:cs typeface="Miriam Libre" panose="00000500000000000000" pitchFamily="2" charset="-79"/>
                <a:sym typeface="Arial"/>
              </a:rPr>
              <a:t> = </a:t>
            </a:r>
            <a:r>
              <a:rPr kumimoji="0" lang="en-US" sz="4000" b="1" i="0" u="none" strike="noStrike" kern="0" cap="none" spc="0" normalizeH="0" baseline="0" noProof="0" dirty="0">
                <a:ln>
                  <a:noFill/>
                </a:ln>
                <a:solidFill>
                  <a:srgbClr val="FF7ACD">
                    <a:lumMod val="75000"/>
                  </a:srgbClr>
                </a:solidFill>
                <a:effectLst/>
                <a:uLnTx/>
                <a:uFillTx/>
                <a:latin typeface="Consolas" panose="020B0609020204030204" pitchFamily="49" charset="0"/>
                <a:ea typeface="+mn-ea"/>
                <a:cs typeface="Miriam Libre" panose="00000500000000000000" pitchFamily="2" charset="-79"/>
                <a:sym typeface="Arial"/>
              </a:rPr>
              <a:t>0</a:t>
            </a:r>
            <a:r>
              <a:rPr kumimoji="0" lang="en-US" sz="4000" b="1" i="0" u="none" strike="noStrike" kern="0" cap="none" spc="0" normalizeH="0" baseline="0" noProof="0" dirty="0">
                <a:ln>
                  <a:noFill/>
                </a:ln>
                <a:solidFill>
                  <a:srgbClr val="000000"/>
                </a:solidFill>
                <a:effectLst/>
                <a:uLnTx/>
                <a:uFillTx/>
                <a:latin typeface="Consolas" panose="020B0609020204030204" pitchFamily="49" charset="0"/>
                <a:ea typeface="+mn-ea"/>
                <a:cs typeface="Miriam Libre" panose="00000500000000000000" pitchFamily="2" charset="-79"/>
                <a:sym typeface="Arial"/>
              </a:rPr>
              <a:t>; </a:t>
            </a:r>
            <a:r>
              <a:rPr kumimoji="0" lang="en-US" sz="4000" b="1" i="0" u="none" strike="noStrike" kern="0" cap="none" spc="0" normalizeH="0" baseline="0" noProof="0" dirty="0" err="1">
                <a:ln>
                  <a:noFill/>
                </a:ln>
                <a:solidFill>
                  <a:srgbClr val="FFA27A">
                    <a:lumMod val="75000"/>
                  </a:srgbClr>
                </a:solidFill>
                <a:effectLst/>
                <a:uLnTx/>
                <a:uFillTx/>
                <a:latin typeface="Consolas" panose="020B0609020204030204" pitchFamily="49" charset="0"/>
                <a:ea typeface="+mn-ea"/>
                <a:cs typeface="Miriam Libre" panose="00000500000000000000" pitchFamily="2" charset="-79"/>
                <a:sym typeface="Arial"/>
              </a:rPr>
              <a:t>i</a:t>
            </a:r>
            <a:r>
              <a:rPr kumimoji="0" lang="en-US" sz="4000" b="1" i="0" u="none" strike="noStrike" kern="0" cap="none" spc="0" normalizeH="0" baseline="0" noProof="0" dirty="0">
                <a:ln>
                  <a:noFill/>
                </a:ln>
                <a:solidFill>
                  <a:srgbClr val="000000"/>
                </a:solidFill>
                <a:effectLst/>
                <a:uLnTx/>
                <a:uFillTx/>
                <a:latin typeface="Consolas" panose="020B0609020204030204" pitchFamily="49" charset="0"/>
                <a:ea typeface="+mn-ea"/>
                <a:cs typeface="Miriam Libre" panose="00000500000000000000" pitchFamily="2" charset="-79"/>
                <a:sym typeface="Arial"/>
              </a:rPr>
              <a:t> &lt; </a:t>
            </a:r>
            <a:r>
              <a:rPr kumimoji="0" lang="en-US" sz="4000" b="1" i="0" u="none" strike="noStrike" kern="0" cap="none" spc="0" normalizeH="0" baseline="0" noProof="0" dirty="0">
                <a:ln>
                  <a:noFill/>
                </a:ln>
                <a:solidFill>
                  <a:srgbClr val="FF7ACD">
                    <a:lumMod val="75000"/>
                  </a:srgbClr>
                </a:solidFill>
                <a:effectLst/>
                <a:uLnTx/>
                <a:uFillTx/>
                <a:latin typeface="Consolas" panose="020B0609020204030204" pitchFamily="49" charset="0"/>
                <a:ea typeface="+mn-ea"/>
                <a:cs typeface="Miriam Libre" panose="00000500000000000000" pitchFamily="2" charset="-79"/>
                <a:sym typeface="Arial"/>
              </a:rPr>
              <a:t>1</a:t>
            </a:r>
            <a:r>
              <a:rPr kumimoji="0" lang="en-US" sz="4000" b="1" i="0" u="none" strike="noStrike" kern="0" cap="none" spc="0" normalizeH="0" baseline="0" noProof="0" dirty="0">
                <a:ln>
                  <a:noFill/>
                </a:ln>
                <a:solidFill>
                  <a:srgbClr val="000000"/>
                </a:solidFill>
                <a:effectLst/>
                <a:uLnTx/>
                <a:uFillTx/>
                <a:latin typeface="Consolas" panose="020B0609020204030204" pitchFamily="49" charset="0"/>
                <a:ea typeface="+mn-ea"/>
                <a:cs typeface="Miriam Libre" panose="00000500000000000000" pitchFamily="2" charset="-79"/>
                <a:sym typeface="Arial"/>
              </a:rPr>
              <a:t>; </a:t>
            </a:r>
            <a:r>
              <a:rPr kumimoji="0" lang="en-US" sz="4000" b="1" i="0" u="none" strike="noStrike" kern="0" cap="none" spc="0" normalizeH="0" baseline="0" noProof="0" dirty="0" err="1">
                <a:ln>
                  <a:noFill/>
                </a:ln>
                <a:solidFill>
                  <a:srgbClr val="FFA27A">
                    <a:lumMod val="75000"/>
                  </a:srgbClr>
                </a:solidFill>
                <a:effectLst/>
                <a:uLnTx/>
                <a:uFillTx/>
                <a:latin typeface="Consolas" panose="020B0609020204030204" pitchFamily="49" charset="0"/>
                <a:ea typeface="+mn-ea"/>
                <a:cs typeface="Miriam Libre" panose="00000500000000000000" pitchFamily="2" charset="-79"/>
                <a:sym typeface="Arial"/>
              </a:rPr>
              <a:t>i</a:t>
            </a:r>
            <a:r>
              <a:rPr kumimoji="0" lang="en-US" sz="4000" b="1" i="0" u="none" strike="noStrike" kern="0" cap="none" spc="0" normalizeH="0" baseline="0" noProof="0" dirty="0">
                <a:ln>
                  <a:noFill/>
                </a:ln>
                <a:solidFill>
                  <a:srgbClr val="000000"/>
                </a:solidFill>
                <a:effectLst/>
                <a:uLnTx/>
                <a:uFillTx/>
                <a:latin typeface="Consolas" panose="020B0609020204030204" pitchFamily="49" charset="0"/>
                <a:ea typeface="+mn-ea"/>
                <a:cs typeface="Miriam Libre" panose="00000500000000000000" pitchFamily="2" charset="-79"/>
                <a:sym typeface="Arial"/>
              </a:rPr>
              <a:t>++ </a:t>
            </a:r>
          </a:p>
        </p:txBody>
      </p:sp>
      <p:sp>
        <p:nvSpPr>
          <p:cNvPr id="11" name="Rectangle 10">
            <a:extLst>
              <a:ext uri="{FF2B5EF4-FFF2-40B4-BE49-F238E27FC236}">
                <a16:creationId xmlns:a16="http://schemas.microsoft.com/office/drawing/2014/main" id="{1B2FB95B-E31F-4E38-82D8-AD45F0A34E9C}"/>
              </a:ext>
            </a:extLst>
          </p:cNvPr>
          <p:cNvSpPr/>
          <p:nvPr/>
        </p:nvSpPr>
        <p:spPr>
          <a:xfrm>
            <a:off x="4373217" y="139247"/>
            <a:ext cx="3558209" cy="1262269"/>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2"/>
                </a:solidFill>
                <a:latin typeface="Miriam Libre" panose="00000500000000000000" pitchFamily="2" charset="-79"/>
                <a:cs typeface="Miriam Libre" panose="00000500000000000000" pitchFamily="2" charset="-79"/>
              </a:rPr>
              <a:t>Practice!</a:t>
            </a:r>
          </a:p>
        </p:txBody>
      </p:sp>
    </p:spTree>
    <p:extLst>
      <p:ext uri="{BB962C8B-B14F-4D97-AF65-F5344CB8AC3E}">
        <p14:creationId xmlns:p14="http://schemas.microsoft.com/office/powerpoint/2010/main" val="37626554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1000" fill="hold"/>
                                        <p:tgtEl>
                                          <p:spTgt spid="11"/>
                                        </p:tgtEl>
                                        <p:attrNameLst>
                                          <p:attrName>ppt_w</p:attrName>
                                        </p:attrNameLst>
                                      </p:cBhvr>
                                      <p:tavLst>
                                        <p:tav tm="0">
                                          <p:val>
                                            <p:fltVal val="0"/>
                                          </p:val>
                                        </p:tav>
                                        <p:tav tm="100000">
                                          <p:val>
                                            <p:strVal val="#ppt_w"/>
                                          </p:val>
                                        </p:tav>
                                      </p:tavLst>
                                    </p:anim>
                                    <p:anim calcmode="lin" valueType="num">
                                      <p:cBhvr>
                                        <p:cTn id="23" dur="1000" fill="hold"/>
                                        <p:tgtEl>
                                          <p:spTgt spid="11"/>
                                        </p:tgtEl>
                                        <p:attrNameLst>
                                          <p:attrName>ppt_h</p:attrName>
                                        </p:attrNameLst>
                                      </p:cBhvr>
                                      <p:tavLst>
                                        <p:tav tm="0">
                                          <p:val>
                                            <p:fltVal val="0"/>
                                          </p:val>
                                        </p:tav>
                                        <p:tav tm="100000">
                                          <p:val>
                                            <p:strVal val="#ppt_h"/>
                                          </p:val>
                                        </p:tav>
                                      </p:tavLst>
                                    </p:anim>
                                    <p:animEffect transition="in" filter="fade">
                                      <p:cBhvr>
                                        <p:cTn id="2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0"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02"/>
        <p:cNvGrpSpPr/>
        <p:nvPr/>
      </p:nvGrpSpPr>
      <p:grpSpPr>
        <a:xfrm>
          <a:off x="0" y="0"/>
          <a:ext cx="0" cy="0"/>
          <a:chOff x="0" y="0"/>
          <a:chExt cx="0" cy="0"/>
        </a:xfrm>
      </p:grpSpPr>
      <p:sp>
        <p:nvSpPr>
          <p:cNvPr id="1503" name="Google Shape;1503;p54"/>
          <p:cNvSpPr txBox="1">
            <a:spLocks noGrp="1"/>
          </p:cNvSpPr>
          <p:nvPr>
            <p:ph type="subTitle" idx="1"/>
          </p:nvPr>
        </p:nvSpPr>
        <p:spPr>
          <a:xfrm>
            <a:off x="693494" y="2122164"/>
            <a:ext cx="7171671" cy="41829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WHAT QUESTIONS DO YOU HAVE?</a:t>
            </a:r>
            <a:endParaRPr sz="2400" dirty="0"/>
          </a:p>
        </p:txBody>
      </p:sp>
      <p:sp>
        <p:nvSpPr>
          <p:cNvPr id="1504" name="Google Shape;1504;p54"/>
          <p:cNvSpPr txBox="1">
            <a:spLocks noGrp="1"/>
          </p:cNvSpPr>
          <p:nvPr>
            <p:ph type="ctrTitle"/>
          </p:nvPr>
        </p:nvSpPr>
        <p:spPr>
          <a:xfrm>
            <a:off x="693494" y="1305339"/>
            <a:ext cx="6601723" cy="85681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800" dirty="0"/>
              <a:t>THANK YOU!</a:t>
            </a:r>
            <a:endParaRPr sz="4800" dirty="0"/>
          </a:p>
        </p:txBody>
      </p:sp>
      <p:sp>
        <p:nvSpPr>
          <p:cNvPr id="1542" name="Google Shape;1542;p54"/>
          <p:cNvSpPr/>
          <p:nvPr/>
        </p:nvSpPr>
        <p:spPr>
          <a:xfrm>
            <a:off x="570050"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4"/>
          <p:cNvSpPr/>
          <p:nvPr/>
        </p:nvSpPr>
        <p:spPr>
          <a:xfrm>
            <a:off x="490150" y="3665400"/>
            <a:ext cx="939600" cy="939600"/>
          </a:xfrm>
          <a:prstGeom prst="snip1Rect">
            <a:avLst>
              <a:gd name="adj" fmla="val 1132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54"/>
          <p:cNvSpPr/>
          <p:nvPr/>
        </p:nvSpPr>
        <p:spPr>
          <a:xfrm>
            <a:off x="1708675"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54"/>
          <p:cNvSpPr/>
          <p:nvPr/>
        </p:nvSpPr>
        <p:spPr>
          <a:xfrm>
            <a:off x="1628775" y="3665400"/>
            <a:ext cx="939600" cy="939600"/>
          </a:xfrm>
          <a:prstGeom prst="snip1Rect">
            <a:avLst>
              <a:gd name="adj" fmla="val 1132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4"/>
          <p:cNvSpPr/>
          <p:nvPr/>
        </p:nvSpPr>
        <p:spPr>
          <a:xfrm>
            <a:off x="2847300"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54"/>
          <p:cNvSpPr/>
          <p:nvPr/>
        </p:nvSpPr>
        <p:spPr>
          <a:xfrm>
            <a:off x="2767400" y="3665400"/>
            <a:ext cx="939600" cy="939600"/>
          </a:xfrm>
          <a:prstGeom prst="snip1Rect">
            <a:avLst>
              <a:gd name="adj" fmla="val 11329"/>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4279329" y="3856904"/>
            <a:ext cx="4187687" cy="5565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Blue Grid Interface &amp; Sticky Notes Company Profile by Slidesgo">
  <a:themeElements>
    <a:clrScheme name="Simple Light">
      <a:dk1>
        <a:srgbClr val="000000"/>
      </a:dk1>
      <a:lt1>
        <a:srgbClr val="FFFFFF"/>
      </a:lt1>
      <a:dk2>
        <a:srgbClr val="AA2FE6"/>
      </a:dk2>
      <a:lt2>
        <a:srgbClr val="FF7ACD"/>
      </a:lt2>
      <a:accent1>
        <a:srgbClr val="FFA27A"/>
      </a:accent1>
      <a:accent2>
        <a:srgbClr val="FFDF6D"/>
      </a:accent2>
      <a:accent3>
        <a:srgbClr val="8FFFC1"/>
      </a:accent3>
      <a:accent4>
        <a:srgbClr val="24069D"/>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20846</TotalTime>
  <Words>3310</Words>
  <Application>Microsoft Office PowerPoint</Application>
  <PresentationFormat>On-screen Show (16:9)</PresentationFormat>
  <Paragraphs>354</Paragraphs>
  <Slides>35</Slides>
  <Notes>35</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Miriam Libre</vt:lpstr>
      <vt:lpstr>Consolas</vt:lpstr>
      <vt:lpstr>Arial</vt:lpstr>
      <vt:lpstr>Nitti</vt:lpstr>
      <vt:lpstr>Krona One</vt:lpstr>
      <vt:lpstr>Blue Grid Interface &amp; Sticky Notes Company Profile by Slidesgo</vt:lpstr>
      <vt:lpstr>For Loops</vt:lpstr>
      <vt:lpstr>Repetition is a beautiful thing…</vt:lpstr>
      <vt:lpstr>Repeating code…</vt:lpstr>
      <vt:lpstr>Introducing Loops</vt:lpstr>
      <vt:lpstr>For Loop Example: A Mantra</vt:lpstr>
      <vt:lpstr>For Loop Example: A Mantra</vt:lpstr>
      <vt:lpstr>For Loop Example: A Mantra</vt:lpstr>
      <vt:lpstr>For Loop Example: A Mantra</vt:lpstr>
      <vt:lpstr>For Loop Example: A Mantra</vt:lpstr>
      <vt:lpstr>For Loop Example: A Mantra</vt:lpstr>
      <vt:lpstr>Breaking Down the Boiler-Plate</vt:lpstr>
      <vt:lpstr>Step by Step Example</vt:lpstr>
      <vt:lpstr>Step by Step Example</vt:lpstr>
      <vt:lpstr>Step by Step Example</vt:lpstr>
      <vt:lpstr>Step by Step Example</vt:lpstr>
      <vt:lpstr>Step by Step Example</vt:lpstr>
      <vt:lpstr>Step by Step Example</vt:lpstr>
      <vt:lpstr>Step by Step Example</vt:lpstr>
      <vt:lpstr>Step by Step Example</vt:lpstr>
      <vt:lpstr>Step by Step Example</vt:lpstr>
      <vt:lpstr>Step by Step Example</vt:lpstr>
      <vt:lpstr>Step by Step Example</vt:lpstr>
      <vt:lpstr>Step by Step Example</vt:lpstr>
      <vt:lpstr>Step by Step Example</vt:lpstr>
      <vt:lpstr>Step by Step Example</vt:lpstr>
      <vt:lpstr>Step by Step Example</vt:lpstr>
      <vt:lpstr>Step by Step Example</vt:lpstr>
      <vt:lpstr>Step by Step Example</vt:lpstr>
      <vt:lpstr>Step by Step Example</vt:lpstr>
      <vt:lpstr>Step by Step Example</vt:lpstr>
      <vt:lpstr>Step by Step Example</vt:lpstr>
      <vt:lpstr>For Loop Steps Recap</vt:lpstr>
      <vt:lpstr>The Count Revisited</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  HTML &amp; CSS!</dc:title>
  <dc:creator>Marissa Dilisio</dc:creator>
  <cp:lastModifiedBy>Joseph Maxwell</cp:lastModifiedBy>
  <cp:revision>109</cp:revision>
  <dcterms:modified xsi:type="dcterms:W3CDTF">2026-06-08T18:34:15Z</dcterms:modified>
</cp:coreProperties>
</file>