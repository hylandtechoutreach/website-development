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7"/>
  </p:notesMasterIdLst>
  <p:sldIdLst>
    <p:sldId id="319" r:id="rId2"/>
    <p:sldId id="256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Krona One" panose="020B0604020202020204" charset="0"/>
      <p:regular r:id="rId23"/>
    </p:embeddedFont>
    <p:embeddedFont>
      <p:font typeface="Miriam Libre" panose="00000500000000000000" pitchFamily="2" charset="-79"/>
      <p:regular r:id="rId24"/>
      <p:bold r:id="rId25"/>
    </p:embeddedFont>
    <p:embeddedFont>
      <p:font typeface="Roboto Condensed Light" panose="02000000000000000000" pitchFamily="2" charset="0"/>
      <p:regular r:id="rId26"/>
      <p: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4A8121-69E1-4132-A0E2-CE15BAFBFB63}">
  <a:tblStyle styleId="{864A8121-69E1-4132-A0E2-CE15BAFBF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rgbClr val="5F7D9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614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857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351850"/>
            <a:ext cx="7704000" cy="32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/>
          <p:nvPr/>
        </p:nvSpPr>
        <p:spPr>
          <a:xfrm>
            <a:off x="561425" y="1356600"/>
            <a:ext cx="47154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485700" y="1273975"/>
            <a:ext cx="47154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485700" y="1273350"/>
            <a:ext cx="4715400" cy="2754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5493300" y="1356600"/>
            <a:ext cx="3240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5417575" y="1273975"/>
            <a:ext cx="3240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5417575" y="1273350"/>
            <a:ext cx="3240600" cy="2754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5651875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5837800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6023725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_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5614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4857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8"/>
          <p:cNvSpPr/>
          <p:nvPr/>
        </p:nvSpPr>
        <p:spPr>
          <a:xfrm>
            <a:off x="4857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48265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47508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47508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49851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51710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53569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5751" y="857251"/>
            <a:ext cx="2743200" cy="39433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0400" y="857251"/>
            <a:ext cx="2743200" cy="394330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15050" y="857251"/>
            <a:ext cx="2743200" cy="394330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285750" y="771525"/>
            <a:ext cx="85725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439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 bwMode="auto">
          <a:xfrm>
            <a:off x="7143750" y="0"/>
            <a:ext cx="2000250" cy="5143500"/>
          </a:xfrm>
          <a:prstGeom prst="rect">
            <a:avLst/>
          </a:prstGeom>
          <a:solidFill>
            <a:srgbClr val="EFEFF0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750" y="171450"/>
            <a:ext cx="5928691" cy="2057400"/>
          </a:xfrm>
        </p:spPr>
        <p:txBody>
          <a:bodyPr anchor="b">
            <a:normAutofit/>
          </a:bodyPr>
          <a:lstStyle>
            <a:lvl1pPr algn="l">
              <a:defRPr sz="36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750" y="2548667"/>
            <a:ext cx="5562100" cy="461665"/>
          </a:xfrm>
          <a:solidFill>
            <a:schemeClr val="accent3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1800" b="1" cap="all" spc="225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5749" y="4457700"/>
            <a:ext cx="2743200" cy="184577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750" y="4886326"/>
            <a:ext cx="5829300" cy="857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29550" y="4886326"/>
            <a:ext cx="1028700" cy="85724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7475220" y="3257550"/>
            <a:ext cx="1371600" cy="13716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25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285750" y="3244423"/>
            <a:ext cx="4286250" cy="9561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450"/>
              </a:spcAft>
              <a:buNone/>
              <a:defRPr sz="18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211088811"/>
      </p:ext>
    </p:extLst>
  </p:cSld>
  <p:clrMapOvr>
    <a:masterClrMapping/>
  </p:clrMapOvr>
  <p:transition>
    <p:fade/>
  </p:transition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2" r:id="rId4"/>
    <p:sldLayoutId id="2147483673" r:id="rId5"/>
    <p:sldLayoutId id="2147483674" r:id="rId6"/>
    <p:sldLayoutId id="2147483680" r:id="rId7"/>
    <p:sldLayoutId id="214748368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replit.com/join/clfsjzajqs-hylandoutreach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6356"/>
            <a:ext cx="9144000" cy="573088"/>
          </a:xfrm>
        </p:spPr>
        <p:txBody>
          <a:bodyPr/>
          <a:lstStyle/>
          <a:p>
            <a:pPr algn="ctr"/>
            <a:r>
              <a:rPr lang="en-US" dirty="0"/>
              <a:t>Review Activity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131614" y="857250"/>
            <a:ext cx="2881749" cy="3943350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/>
          <a:lstStyle/>
          <a:p>
            <a:pPr marL="42863" indent="0" algn="ctr">
              <a:buNone/>
            </a:pPr>
            <a:r>
              <a:rPr lang="en-US" sz="2400" b="1" u="sng" dirty="0"/>
              <a:t>Team 1</a:t>
            </a:r>
          </a:p>
          <a:p>
            <a:pPr marL="42863" indent="0" algn="ctr">
              <a:buNone/>
            </a:pPr>
            <a:endParaRPr lang="en-US" b="1" u="sng" dirty="0"/>
          </a:p>
          <a:p>
            <a:pPr marL="127000" indent="0">
              <a:buNone/>
            </a:pPr>
            <a:r>
              <a:rPr lang="en-US" sz="3200" dirty="0"/>
              <a:t>Person A</a:t>
            </a:r>
          </a:p>
          <a:p>
            <a:pPr marL="127000" indent="0">
              <a:buNone/>
            </a:pPr>
            <a:r>
              <a:rPr lang="en-US" sz="3200" dirty="0"/>
              <a:t>Person B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6130637" y="857250"/>
            <a:ext cx="2881750" cy="3943350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txBody>
          <a:bodyPr/>
          <a:lstStyle/>
          <a:p>
            <a:pPr marL="42863" indent="0" algn="ctr">
              <a:buNone/>
            </a:pPr>
            <a:r>
              <a:rPr lang="en-US" sz="2400" b="1" u="sng" dirty="0"/>
              <a:t>Team 3</a:t>
            </a:r>
          </a:p>
          <a:p>
            <a:pPr marL="42863" indent="0" algn="ctr">
              <a:buNone/>
            </a:pPr>
            <a:endParaRPr lang="en-US" sz="2100" dirty="0">
              <a:hlinkClick r:id="rId2"/>
            </a:endParaRPr>
          </a:p>
          <a:p>
            <a:pPr marL="127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iriam Libre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riam Libre"/>
                <a:cs typeface="Miriam Libre"/>
                <a:sym typeface="Miriam Libre"/>
              </a:rPr>
              <a:t>Person E</a:t>
            </a:r>
          </a:p>
          <a:p>
            <a:pPr marL="127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iriam Libre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riam Libre"/>
                <a:cs typeface="Miriam Libre"/>
                <a:sym typeface="Miriam Libre"/>
              </a:rPr>
              <a:t>Person F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riam Libre"/>
              <a:cs typeface="Miriam Libre"/>
              <a:sym typeface="Miriam Libre"/>
            </a:endParaRPr>
          </a:p>
          <a:p>
            <a:pPr marL="42863" indent="0" algn="ctr">
              <a:buNone/>
            </a:pPr>
            <a:endParaRPr lang="en-US" sz="2100" dirty="0">
              <a:hlinkClick r:id="rId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3169226" y="848591"/>
            <a:ext cx="2805547" cy="3943350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/>
          <a:lstStyle/>
          <a:p>
            <a:pPr marL="42863" indent="0" algn="ctr">
              <a:buNone/>
            </a:pPr>
            <a:r>
              <a:rPr lang="en-US" sz="2400" b="1" u="sng" dirty="0"/>
              <a:t>Team 2</a:t>
            </a:r>
          </a:p>
          <a:p>
            <a:pPr marL="127000" indent="0">
              <a:buNone/>
            </a:pPr>
            <a:endParaRPr lang="en-US" dirty="0"/>
          </a:p>
          <a:p>
            <a:pPr marL="127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iriam Libre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riam Libre"/>
                <a:cs typeface="Miriam Libre"/>
                <a:sym typeface="Miriam Libre"/>
              </a:rPr>
              <a:t>Person C</a:t>
            </a:r>
          </a:p>
          <a:p>
            <a:pPr marL="127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iriam Libre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riam Libre"/>
                <a:cs typeface="Miriam Libre"/>
                <a:sym typeface="Miriam Libre"/>
              </a:rPr>
              <a:t>Person D</a:t>
            </a:r>
          </a:p>
          <a:p>
            <a:pPr marL="1270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097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/>
          <p:nvPr/>
        </p:nvSpPr>
        <p:spPr>
          <a:xfrm>
            <a:off x="55171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HTML &amp; CSS</a:t>
            </a:r>
            <a:r>
              <a:rPr lang="en" sz="5400" dirty="0"/>
              <a:t> </a:t>
            </a:r>
            <a:r>
              <a:rPr lang="en" sz="7200" dirty="0">
                <a:highlight>
                  <a:schemeClr val="accent3"/>
                </a:highlight>
              </a:rPr>
              <a:t>Review</a:t>
            </a:r>
            <a:endParaRPr sz="5400" dirty="0"/>
          </a:p>
        </p:txBody>
      </p:sp>
      <p:sp>
        <p:nvSpPr>
          <p:cNvPr id="445" name="Google Shape;445;p31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HTO: Website Development</a:t>
            </a:r>
            <a:endParaRPr lang="en-US" dirty="0"/>
          </a:p>
        </p:txBody>
      </p:sp>
      <p:sp>
        <p:nvSpPr>
          <p:cNvPr id="446" name="Google Shape;446;p31"/>
          <p:cNvSpPr/>
          <p:nvPr/>
        </p:nvSpPr>
        <p:spPr>
          <a:xfrm>
            <a:off x="54372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66558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65759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1"/>
          <p:cNvSpPr/>
          <p:nvPr/>
        </p:nvSpPr>
        <p:spPr>
          <a:xfrm>
            <a:off x="779442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771452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dirty="0"/>
              <a:t>1. Which tags wrap an entire html document?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pl-PL" sz="6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6600" dirty="0">
                <a:solidFill>
                  <a:srgbClr val="800000"/>
                </a:solidFill>
                <a:latin typeface="Consolas" panose="020B0609020204030204" pitchFamily="49" charset="0"/>
              </a:rPr>
              <a:t>html&gt;&lt;/html&gt;</a:t>
            </a:r>
            <a:endParaRPr lang="en-US" sz="6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36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dirty="0"/>
              <a:t>2. Which header element is the largest?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pl-PL" sz="6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6600" dirty="0">
                <a:solidFill>
                  <a:srgbClr val="800000"/>
                </a:solidFill>
                <a:latin typeface="Consolas" panose="020B0609020204030204" pitchFamily="49" charset="0"/>
              </a:rPr>
              <a:t>h1&gt;&lt;/h1&gt;</a:t>
            </a:r>
            <a:endParaRPr lang="en-US" sz="6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82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1600" dirty="0"/>
              <a:t>3. Create a hyperlink that says “w3” and goes to w3.org when clicked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pl-PL" sz="4400" dirty="0">
                <a:solidFill>
                  <a:srgbClr val="800000"/>
                </a:solidFill>
                <a:latin typeface="Consolas" panose="020B0609020204030204" pitchFamily="49" charset="0"/>
              </a:rPr>
              <a:t>&lt;a</a:t>
            </a:r>
            <a:r>
              <a:rPr lang="pl-PL" sz="4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pl-PL" sz="4400" dirty="0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pl-PL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4400" dirty="0">
                <a:solidFill>
                  <a:srgbClr val="0000FF"/>
                </a:solidFill>
                <a:latin typeface="Consolas" panose="020B0609020204030204" pitchFamily="49" charset="0"/>
              </a:rPr>
              <a:t>"w3.org"</a:t>
            </a:r>
            <a:r>
              <a:rPr lang="pl-PL" sz="4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pl-PL" sz="4400" dirty="0">
                <a:solidFill>
                  <a:srgbClr val="000000"/>
                </a:solidFill>
                <a:latin typeface="Consolas" panose="020B0609020204030204" pitchFamily="49" charset="0"/>
              </a:rPr>
              <a:t>W3</a:t>
            </a:r>
            <a:r>
              <a:rPr lang="pl-PL" sz="4400" dirty="0">
                <a:solidFill>
                  <a:srgbClr val="800000"/>
                </a:solidFill>
                <a:latin typeface="Consolas" panose="020B0609020204030204" pitchFamily="49" charset="0"/>
              </a:rPr>
              <a:t>&lt;/a&gt;</a:t>
            </a:r>
            <a:endParaRPr lang="pl-PL" sz="4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99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dirty="0"/>
              <a:t>4. List the four elements needed for 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t">
            <a:normAutofit/>
          </a:bodyPr>
          <a:lstStyle/>
          <a:p>
            <a:pPr marL="152400" indent="0">
              <a:buNone/>
            </a:pP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table</a:t>
            </a:r>
          </a:p>
          <a:p>
            <a:pPr marL="152400" indent="0">
              <a:buNone/>
            </a:pPr>
            <a:r>
              <a:rPr 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th</a:t>
            </a: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52400" indent="0">
              <a:buNone/>
            </a:pPr>
            <a:r>
              <a:rPr 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tr</a:t>
            </a: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52400" indent="0">
              <a:buNone/>
            </a:pP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td</a:t>
            </a:r>
            <a:endParaRPr lang="pl-PL" sz="3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95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dirty="0"/>
              <a:t>5. Create a numbered list of three movies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 fontScale="92500" lnSpcReduction="20000"/>
          </a:bodyPr>
          <a:lstStyle/>
          <a:p>
            <a:pPr marL="42863" indent="0">
              <a:buNone/>
            </a:pPr>
            <a:r>
              <a:rPr lang="it-IT" sz="4950" dirty="0">
                <a:solidFill>
                  <a:srgbClr val="800000"/>
                </a:solidFill>
                <a:latin typeface="Consolas" panose="020B0609020204030204" pitchFamily="49" charset="0"/>
              </a:rPr>
              <a:t>&lt;ol&gt;</a:t>
            </a:r>
            <a:endParaRPr lang="it-IT" sz="4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it-IT" sz="495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it-IT" sz="4950" dirty="0">
                <a:solidFill>
                  <a:srgbClr val="800000"/>
                </a:solidFill>
                <a:latin typeface="Consolas" panose="020B0609020204030204" pitchFamily="49" charset="0"/>
              </a:rPr>
              <a:t>&lt;li&gt;</a:t>
            </a:r>
            <a:r>
              <a:rPr lang="it-IT" sz="4950" dirty="0">
                <a:solidFill>
                  <a:srgbClr val="000000"/>
                </a:solidFill>
                <a:latin typeface="Consolas" panose="020B0609020204030204" pitchFamily="49" charset="0"/>
              </a:rPr>
              <a:t>Bambi</a:t>
            </a:r>
            <a:r>
              <a:rPr lang="it-IT" sz="495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  <a:endParaRPr lang="it-IT" sz="4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it-IT" sz="495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it-IT" sz="4950" dirty="0">
                <a:solidFill>
                  <a:srgbClr val="800000"/>
                </a:solidFill>
                <a:latin typeface="Consolas" panose="020B0609020204030204" pitchFamily="49" charset="0"/>
              </a:rPr>
              <a:t>&lt;li&gt;</a:t>
            </a:r>
            <a:r>
              <a:rPr lang="it-IT" sz="4950" dirty="0">
                <a:solidFill>
                  <a:srgbClr val="000000"/>
                </a:solidFill>
                <a:latin typeface="Consolas" panose="020B0609020204030204" pitchFamily="49" charset="0"/>
              </a:rPr>
              <a:t>Snow White</a:t>
            </a:r>
            <a:r>
              <a:rPr lang="it-IT" sz="495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  <a:endParaRPr lang="it-IT" sz="4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it-IT" sz="495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it-IT" sz="4950" dirty="0">
                <a:solidFill>
                  <a:srgbClr val="800000"/>
                </a:solidFill>
                <a:latin typeface="Consolas" panose="020B0609020204030204" pitchFamily="49" charset="0"/>
              </a:rPr>
              <a:t>&lt;li&gt;</a:t>
            </a:r>
            <a:r>
              <a:rPr lang="it-IT" sz="4950" dirty="0">
                <a:solidFill>
                  <a:srgbClr val="000000"/>
                </a:solidFill>
                <a:latin typeface="Consolas" panose="020B0609020204030204" pitchFamily="49" charset="0"/>
              </a:rPr>
              <a:t>Fantasia</a:t>
            </a:r>
            <a:r>
              <a:rPr lang="it-IT" sz="495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  <a:endParaRPr lang="it-IT" sz="4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it-IT" sz="4950" dirty="0">
                <a:solidFill>
                  <a:srgbClr val="800000"/>
                </a:solidFill>
                <a:latin typeface="Consolas" panose="020B0609020204030204" pitchFamily="49" charset="0"/>
              </a:rPr>
              <a:t>&lt;/ol&gt;</a:t>
            </a:r>
            <a:endParaRPr lang="it-IT" sz="495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45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6. In CSS, what does the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color</a:t>
            </a:r>
            <a:r>
              <a:rPr lang="en-US" sz="2000" dirty="0"/>
              <a:t> property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it-IT" sz="4950" dirty="0">
                <a:latin typeface="+mj-lt"/>
              </a:rPr>
              <a:t>Sets the color of text</a:t>
            </a:r>
          </a:p>
        </p:txBody>
      </p:sp>
    </p:spTree>
    <p:extLst>
      <p:ext uri="{BB962C8B-B14F-4D97-AF65-F5344CB8AC3E}">
        <p14:creationId xmlns:p14="http://schemas.microsoft.com/office/powerpoint/2010/main" val="148047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1800" dirty="0"/>
              <a:t>7. Which HTML element connects a CSS stylesheet to an html page?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pl-PL" sz="6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6600" dirty="0">
                <a:solidFill>
                  <a:srgbClr val="800000"/>
                </a:solidFill>
                <a:latin typeface="Consolas" panose="020B0609020204030204" pitchFamily="49" charset="0"/>
              </a:rPr>
              <a:t>link /&gt;</a:t>
            </a:r>
            <a:endParaRPr lang="en-US" sz="6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88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dirty="0"/>
              <a:t>8. Which CSS property can make text larger?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Consolas" panose="020B0609020204030204" pitchFamily="49" charset="0"/>
              </a:rPr>
              <a:t>font-size</a:t>
            </a:r>
            <a:endParaRPr lang="en-US" sz="6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2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1600" dirty="0"/>
              <a:t>9. What four things are required for a CSS declaration?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>
              <a:buNone/>
            </a:pPr>
            <a:r>
              <a:rPr lang="it-IT" sz="4950" dirty="0">
                <a:latin typeface="+mj-lt"/>
              </a:rPr>
              <a:t>Property name</a:t>
            </a:r>
          </a:p>
          <a:p>
            <a:pPr marL="42863" indent="0">
              <a:buNone/>
            </a:pPr>
            <a:r>
              <a:rPr lang="it-IT" sz="4950" dirty="0">
                <a:latin typeface="+mj-lt"/>
              </a:rPr>
              <a:t>Colon</a:t>
            </a:r>
          </a:p>
          <a:p>
            <a:pPr marL="42863" indent="0">
              <a:buNone/>
            </a:pPr>
            <a:r>
              <a:rPr lang="it-IT" sz="4950" dirty="0">
                <a:latin typeface="+mj-lt"/>
              </a:rPr>
              <a:t>Value</a:t>
            </a:r>
          </a:p>
          <a:p>
            <a:pPr marL="42863" indent="0">
              <a:buNone/>
            </a:pPr>
            <a:r>
              <a:rPr lang="it-IT" sz="4950" dirty="0">
                <a:latin typeface="+mj-lt"/>
              </a:rPr>
              <a:t>Semi-colon</a:t>
            </a:r>
          </a:p>
        </p:txBody>
      </p:sp>
    </p:spTree>
    <p:extLst>
      <p:ext uri="{BB962C8B-B14F-4D97-AF65-F5344CB8AC3E}">
        <p14:creationId xmlns:p14="http://schemas.microsoft.com/office/powerpoint/2010/main" val="178015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1800" dirty="0"/>
              <a:t>10. Create a CSS ruleset that makes all anchor elements appear orange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>
              <a:buNone/>
            </a:pPr>
            <a:r>
              <a:rPr lang="en-US" sz="495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US" sz="495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pPr marL="42863" indent="0">
              <a:buNone/>
            </a:pPr>
            <a:r>
              <a:rPr lang="en-US" sz="495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4950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sz="495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4950" dirty="0">
                <a:solidFill>
                  <a:srgbClr val="0451A5"/>
                </a:solidFill>
                <a:latin typeface="Consolas" panose="020B0609020204030204" pitchFamily="49" charset="0"/>
              </a:rPr>
              <a:t>orange</a:t>
            </a:r>
            <a:r>
              <a:rPr lang="en-US" sz="49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2863" indent="0">
              <a:buNone/>
            </a:pPr>
            <a:r>
              <a:rPr lang="en-US" sz="49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086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dirty="0"/>
              <a:t>11. What does the following ruleset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t">
            <a:normAutofit/>
          </a:bodyPr>
          <a:lstStyle/>
          <a:p>
            <a:pPr marL="42863" indent="0">
              <a:buNone/>
            </a:pP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pPr marL="42863" indent="0">
              <a:buNone/>
            </a:pP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</a:rPr>
              <a:t>font-weight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3600" dirty="0">
                <a:solidFill>
                  <a:srgbClr val="0451A5"/>
                </a:solidFill>
                <a:latin typeface="Consolas" panose="020B0609020204030204" pitchFamily="49" charset="0"/>
              </a:rPr>
              <a:t>bold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2863" indent="0">
              <a:buNone/>
            </a:pP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5948" y="3539076"/>
            <a:ext cx="6616876" cy="637097"/>
          </a:xfrm>
          <a:prstGeom prst="rect">
            <a:avLst/>
          </a:prstGeom>
          <a:noFill/>
        </p:spPr>
        <p:txBody>
          <a:bodyPr wrap="none" lIns="137160" tIns="109728" rIns="137160" bIns="109728" rtlCol="0">
            <a:spAutoFit/>
          </a:bodyPr>
          <a:lstStyle/>
          <a:p>
            <a:pPr>
              <a:lnSpc>
                <a:spcPct val="90000"/>
              </a:lnSpc>
              <a:spcAft>
                <a:spcPts val="450"/>
              </a:spcAft>
            </a:pPr>
            <a:r>
              <a:rPr lang="en-US" sz="3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Makes every paragraph element bold</a:t>
            </a:r>
          </a:p>
        </p:txBody>
      </p:sp>
    </p:spTree>
    <p:extLst>
      <p:ext uri="{BB962C8B-B14F-4D97-AF65-F5344CB8AC3E}">
        <p14:creationId xmlns:p14="http://schemas.microsoft.com/office/powerpoint/2010/main" val="68159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 What is a CSS property?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en-US" sz="4950" dirty="0">
                <a:latin typeface="+mj-lt"/>
              </a:rPr>
              <a:t>An identifier that indicates which stylistic features to change</a:t>
            </a:r>
          </a:p>
        </p:txBody>
      </p:sp>
    </p:spTree>
    <p:extLst>
      <p:ext uri="{BB962C8B-B14F-4D97-AF65-F5344CB8AC3E}">
        <p14:creationId xmlns:p14="http://schemas.microsoft.com/office/powerpoint/2010/main" val="48473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000" dirty="0"/>
              <a:t>Tie-breaker: What does CSS stand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it-IT" sz="4950" b="1" dirty="0">
                <a:latin typeface="+mj-lt"/>
              </a:rPr>
              <a:t>C</a:t>
            </a:r>
            <a:r>
              <a:rPr lang="it-IT" sz="4950" dirty="0">
                <a:latin typeface="+mj-lt"/>
              </a:rPr>
              <a:t>ascading </a:t>
            </a:r>
            <a:r>
              <a:rPr lang="it-IT" sz="4950" b="1" dirty="0">
                <a:latin typeface="+mj-lt"/>
              </a:rPr>
              <a:t>S</a:t>
            </a:r>
            <a:r>
              <a:rPr lang="it-IT" sz="4950" dirty="0">
                <a:latin typeface="+mj-lt"/>
              </a:rPr>
              <a:t>tyle</a:t>
            </a:r>
            <a:r>
              <a:rPr lang="it-IT" sz="4950" b="1" dirty="0">
                <a:latin typeface="+mj-lt"/>
              </a:rPr>
              <a:t>s</a:t>
            </a:r>
            <a:r>
              <a:rPr lang="it-IT" sz="4950" dirty="0">
                <a:latin typeface="+mj-lt"/>
              </a:rPr>
              <a:t>heets</a:t>
            </a:r>
            <a:endParaRPr lang="it-IT" sz="495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109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Blue Grid Interface &amp; Sticky Notes Company Profile by Slidesgo">
  <a:themeElements>
    <a:clrScheme name="Simple Light">
      <a:dk1>
        <a:srgbClr val="000000"/>
      </a:dk1>
      <a:lt1>
        <a:srgbClr val="FFFFFF"/>
      </a:lt1>
      <a:dk2>
        <a:srgbClr val="AA2FE6"/>
      </a:dk2>
      <a:lt2>
        <a:srgbClr val="FF7ACD"/>
      </a:lt2>
      <a:accent1>
        <a:srgbClr val="FFA27A"/>
      </a:accent1>
      <a:accent2>
        <a:srgbClr val="FFDF6D"/>
      </a:accent2>
      <a:accent3>
        <a:srgbClr val="8FFFC1"/>
      </a:accent3>
      <a:accent4>
        <a:srgbClr val="24069D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274</Words>
  <Application>Microsoft Office PowerPoint</Application>
  <PresentationFormat>On-screen Show (16:9)</PresentationFormat>
  <Paragraphs>56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Miriam Libre</vt:lpstr>
      <vt:lpstr>Consolas</vt:lpstr>
      <vt:lpstr>Segoe UI</vt:lpstr>
      <vt:lpstr>Roboto Condensed Light</vt:lpstr>
      <vt:lpstr>Arial</vt:lpstr>
      <vt:lpstr>Arial Black</vt:lpstr>
      <vt:lpstr>Krona One</vt:lpstr>
      <vt:lpstr>Blue Grid Interface &amp; Sticky Notes Company Profile by Slidesgo</vt:lpstr>
      <vt:lpstr>Review Activity Teams</vt:lpstr>
      <vt:lpstr>HTML &amp; CSS Review</vt:lpstr>
      <vt:lpstr>1. Which tags wrap an entire html document?</vt:lpstr>
      <vt:lpstr>2. Which header element is the largest?</vt:lpstr>
      <vt:lpstr>3. Create a hyperlink that says “w3” and goes to w3.org when clicked</vt:lpstr>
      <vt:lpstr>4. List the four elements needed for a table</vt:lpstr>
      <vt:lpstr>5. Create a numbered list of three movies</vt:lpstr>
      <vt:lpstr>6. In CSS, what does the color property do?</vt:lpstr>
      <vt:lpstr>7. Which HTML element connects a CSS stylesheet to an html page?</vt:lpstr>
      <vt:lpstr>8. Which CSS property can make text larger?</vt:lpstr>
      <vt:lpstr>9. What four things are required for a CSS declaration?</vt:lpstr>
      <vt:lpstr>10. Create a CSS ruleset that makes all anchor elements appear orange</vt:lpstr>
      <vt:lpstr>11. What does the following ruleset do?</vt:lpstr>
      <vt:lpstr>12. What is a CSS property?</vt:lpstr>
      <vt:lpstr>Tie-breaker: What does CSS stand for?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HTML!</dc:title>
  <cp:lastModifiedBy>Joseph Maxwell</cp:lastModifiedBy>
  <cp:revision>9</cp:revision>
  <dcterms:modified xsi:type="dcterms:W3CDTF">2026-06-08T18:34:36Z</dcterms:modified>
</cp:coreProperties>
</file>