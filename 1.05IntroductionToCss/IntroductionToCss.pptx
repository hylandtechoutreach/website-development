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3"/>
  </p:notesMasterIdLst>
  <p:sldIdLst>
    <p:sldId id="256" r:id="rId2"/>
    <p:sldId id="319" r:id="rId3"/>
    <p:sldId id="320" r:id="rId4"/>
    <p:sldId id="326" r:id="rId5"/>
    <p:sldId id="321" r:id="rId6"/>
    <p:sldId id="322" r:id="rId7"/>
    <p:sldId id="327" r:id="rId8"/>
    <p:sldId id="323" r:id="rId9"/>
    <p:sldId id="324" r:id="rId10"/>
    <p:sldId id="325" r:id="rId11"/>
    <p:sldId id="279" r:id="rId1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Krona One" panose="020B0604020202020204" charset="0"/>
      <p:regular r:id="rId18"/>
    </p:embeddedFont>
    <p:embeddedFont>
      <p:font typeface="Miriam Libre" panose="00000500000000000000" pitchFamily="2" charset="-79"/>
      <p:regular r:id="rId19"/>
      <p:bold r:id="rId20"/>
    </p:embeddedFont>
    <p:embeddedFont>
      <p:font typeface="Roboto Condensed Light" panose="02000000000000000000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Explain the</a:t>
            </a:r>
            <a:r>
              <a:rPr lang="en-US" baseline="0" dirty="0"/>
              <a:t> purpose of CSS, and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about</a:t>
            </a:r>
            <a:r>
              <a:rPr lang="en-US" baseline="0" dirty="0"/>
              <a:t> the relationships between all these tags.</a:t>
            </a:r>
          </a:p>
          <a:p>
            <a:r>
              <a:rPr lang="en-US" baseline="0" dirty="0"/>
              <a:t>E.g., HTML is parent, head/body are siblings. Style always goes in the head, structure goes in the body.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55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ask the students how to change the text color to blue instead of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01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the idea of separate CSS files. Click the link to show an example of multiple stylesheets applied to one HTML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95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</a:t>
            </a:r>
            <a:r>
              <a:rPr lang="en-US" baseline="0" dirty="0"/>
              <a:t> the idea of separate CSS files. Click the link to show an example of multiple stylesheets applied to one HTML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924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Emphasize that the file has to end in </a:t>
            </a:r>
            <a:r>
              <a:rPr lang="en-US" b="1" dirty="0"/>
              <a:t>.</a:t>
            </a:r>
            <a:r>
              <a:rPr lang="en-US" b="1" dirty="0" err="1"/>
              <a:t>css</a:t>
            </a:r>
            <a:r>
              <a:rPr lang="en-US" b="0" dirty="0"/>
              <a:t> and it has to be in the same folder as the</a:t>
            </a:r>
            <a:r>
              <a:rPr lang="en-US" b="0" baseline="0" dirty="0"/>
              <a:t> HTML file</a:t>
            </a:r>
          </a:p>
          <a:p>
            <a:pPr marL="171450" indent="-171450">
              <a:buFontTx/>
              <a:buChar char="-"/>
            </a:pPr>
            <a:r>
              <a:rPr lang="en-US" b="0" baseline="0" dirty="0"/>
              <a:t>The </a:t>
            </a:r>
            <a:r>
              <a:rPr lang="en-US" b="1" baseline="0" dirty="0"/>
              <a:t>link</a:t>
            </a:r>
            <a:r>
              <a:rPr lang="en-US" b="0" baseline="0" dirty="0"/>
              <a:t> tag is an example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22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link tag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832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link tag in action.</a:t>
            </a:r>
            <a:r>
              <a:rPr lang="en-US" baseline="0" dirty="0"/>
              <a:t> Make sure to note the filename, attributes, and new CSS property.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73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37160"/>
            <a:ext cx="8572500" cy="685800"/>
          </a:xfrm>
          <a:gradFill>
            <a:gsLst>
              <a:gs pos="1000">
                <a:schemeClr val="accent2"/>
              </a:gs>
              <a:gs pos="99000">
                <a:schemeClr val="accent1"/>
              </a:gs>
            </a:gsLst>
            <a:lin ang="2700000" scaled="0"/>
          </a:gradFill>
        </p:spPr>
        <p:txBody>
          <a:bodyPr wrap="square" lIns="91440" tIns="45720" bIns="0">
            <a:noAutofit/>
          </a:bodyPr>
          <a:lstStyle>
            <a:lvl1pPr>
              <a:lnSpc>
                <a:spcPct val="85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0011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sfiddle.net/43rhtc2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intro.as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litch.com/edit/#!/remix/oval-shared-wealth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stackblitz.com/edit/web-platform-bgy6gtls?file=index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Introduction</a:t>
            </a:r>
            <a:br>
              <a:rPr lang="en" sz="6000" dirty="0"/>
            </a:br>
            <a:r>
              <a:rPr lang="en" sz="6000" dirty="0"/>
              <a:t>to </a:t>
            </a:r>
            <a:r>
              <a:rPr lang="en" sz="8000" dirty="0">
                <a:highlight>
                  <a:schemeClr val="accent3"/>
                </a:highlight>
              </a:rPr>
              <a:t>CSS</a:t>
            </a:r>
            <a:endParaRPr sz="54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HTO: Website Development</a:t>
            </a:r>
            <a:endParaRPr lang="en-US"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75564" y="1351850"/>
            <a:ext cx="3048436" cy="3251700"/>
          </a:xfrm>
        </p:spPr>
        <p:txBody>
          <a:bodyPr>
            <a:normAutofit fontScale="92500"/>
          </a:bodyPr>
          <a:lstStyle/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sz="1600" dirty="0"/>
              <a:t>CSS (</a:t>
            </a:r>
            <a:r>
              <a:rPr lang="en-US" sz="1600" b="1" dirty="0"/>
              <a:t>C</a:t>
            </a:r>
            <a:r>
              <a:rPr lang="en-US" sz="1600" dirty="0"/>
              <a:t>ascading </a:t>
            </a:r>
            <a:r>
              <a:rPr lang="en-US" sz="1600" b="1" dirty="0"/>
              <a:t>S</a:t>
            </a:r>
            <a:r>
              <a:rPr lang="en-US" sz="1600" dirty="0"/>
              <a:t>tyle</a:t>
            </a:r>
            <a:r>
              <a:rPr lang="en-US" sz="1600" b="1" dirty="0"/>
              <a:t>s</a:t>
            </a:r>
            <a:r>
              <a:rPr lang="en-US" sz="1600" dirty="0"/>
              <a:t>heets) is a language that allows developers to change </a:t>
            </a:r>
            <a:r>
              <a:rPr lang="en-US" sz="1600" i="1" dirty="0"/>
              <a:t>styles</a:t>
            </a:r>
            <a:r>
              <a:rPr lang="en-US" sz="1600" dirty="0"/>
              <a:t> on a webpage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sz="1600" dirty="0"/>
              <a:t>CSS can change fonts, colors,  backgrounds, positioning, even animations!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sz="1600" dirty="0"/>
              <a:t>If HTML is the </a:t>
            </a:r>
            <a:r>
              <a:rPr lang="en-US" sz="1600" i="1" dirty="0"/>
              <a:t>skeleton</a:t>
            </a:r>
            <a:r>
              <a:rPr lang="en-US" sz="1600" dirty="0"/>
              <a:t> of a page, CSS is the clothing that it wears</a:t>
            </a:r>
          </a:p>
          <a:p>
            <a:endParaRPr lang="en-US" dirty="0"/>
          </a:p>
          <a:p>
            <a:pPr marL="42863" indent="0">
              <a:buNone/>
            </a:pPr>
            <a:endParaRPr lang="en-US" dirty="0"/>
          </a:p>
        </p:txBody>
      </p:sp>
      <p:pic>
        <p:nvPicPr>
          <p:cNvPr id="1026" name="Picture 2" descr="Image result for c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2" y="1628775"/>
            <a:ext cx="4418291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63" y="1628775"/>
            <a:ext cx="4418291" cy="248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48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Webpage with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1351849"/>
            <a:ext cx="7704000" cy="3434896"/>
          </a:xfrm>
        </p:spPr>
        <p:txBody>
          <a:bodyPr>
            <a:normAutofit fontScale="92500" lnSpcReduction="10000"/>
          </a:bodyPr>
          <a:lstStyle/>
          <a:p>
            <a:pPr marL="42863" indent="0">
              <a:buNone/>
            </a:pP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&lt;html&gt;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&lt;head&gt;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&lt;style&gt;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 </a:t>
            </a:r>
            <a:r>
              <a:rPr lang="en-US" sz="20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}</a:t>
            </a: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&lt;/style&gt;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&lt;/head&gt;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&lt;body&gt;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&lt;p&gt;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This paragraph is special...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&lt;/p&gt;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0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59602" y="2218025"/>
            <a:ext cx="2163907" cy="823047"/>
          </a:xfrm>
          <a:prstGeom prst="rect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96903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D9E0-6F6B-33E2-C30A-B0EA2CF94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Webpage with CSS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E01E2-6030-5543-F2AB-6E76E7E39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EA9C6-714C-B63D-5419-6A01C2E03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00" y="1440635"/>
            <a:ext cx="6677957" cy="2876951"/>
          </a:xfrm>
          <a:prstGeom prst="rect">
            <a:avLst/>
          </a:prstGeom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AF5A4CA-2892-2B6F-7E20-7F5A074A5C04}"/>
              </a:ext>
            </a:extLst>
          </p:cNvPr>
          <p:cNvSpPr/>
          <p:nvPr/>
        </p:nvSpPr>
        <p:spPr>
          <a:xfrm>
            <a:off x="3165822" y="2044432"/>
            <a:ext cx="5394192" cy="83467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is selecting the &lt;p&gt; element with text below as the specific thing that will turn red</a:t>
            </a:r>
          </a:p>
        </p:txBody>
      </p:sp>
    </p:spTree>
    <p:extLst>
      <p:ext uri="{BB962C8B-B14F-4D97-AF65-F5344CB8AC3E}">
        <p14:creationId xmlns:p14="http://schemas.microsoft.com/office/powerpoint/2010/main" val="70989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CSS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https://jsfiddle.net/43rhtc20/</a:t>
            </a:r>
            <a:endParaRPr lang="en-US" sz="28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98758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Stylesheets –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26474" y="1351850"/>
            <a:ext cx="8091054" cy="3251700"/>
          </a:xfrm>
        </p:spPr>
        <p:txBody>
          <a:bodyPr/>
          <a:lstStyle/>
          <a:p>
            <a:pPr marL="152400" indent="0">
              <a:buNone/>
            </a:pPr>
            <a:r>
              <a:rPr lang="en-US" sz="2400" dirty="0"/>
              <a:t>While it is possible to put CSS in HTML files, </a:t>
            </a:r>
            <a:r>
              <a:rPr lang="en-US" sz="2400" i="1" dirty="0"/>
              <a:t>external stylesheets</a:t>
            </a:r>
            <a:r>
              <a:rPr lang="en-US" sz="2400" dirty="0"/>
              <a:t> are easier to maintain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152400" indent="0">
              <a:buNone/>
            </a:pPr>
            <a:r>
              <a:rPr lang="en-US" sz="2400" dirty="0"/>
              <a:t>It is easier to swap out styles for HTML pages</a:t>
            </a:r>
          </a:p>
          <a:p>
            <a:pPr marL="15240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5240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152400" indent="0">
              <a:buNone/>
            </a:pP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https://www.w3schools.com/css/css_intro.asp</a:t>
            </a: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10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26474" y="1351850"/>
            <a:ext cx="8091054" cy="3251700"/>
          </a:xfrm>
        </p:spPr>
        <p:txBody>
          <a:bodyPr/>
          <a:lstStyle/>
          <a:p>
            <a:pPr marL="152400" indent="0">
              <a:buNone/>
            </a:pP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AEA9B5-37F3-81C1-19D5-A80D3693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666" y="1152186"/>
            <a:ext cx="3457359" cy="2329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A7A2B8-08AB-186D-B74F-FDB82B478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8" y="1152186"/>
            <a:ext cx="3637648" cy="2453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D3524-755E-541A-A4E6-32DE22FF2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288" y="2889724"/>
            <a:ext cx="3367906" cy="225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018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Stylesheets –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54181" y="1351850"/>
            <a:ext cx="8028709" cy="3251700"/>
          </a:xfrm>
        </p:spPr>
        <p:txBody>
          <a:bodyPr/>
          <a:lstStyle/>
          <a:p>
            <a:pPr marL="152400" indent="0">
              <a:buNone/>
            </a:pPr>
            <a:r>
              <a:rPr lang="en-US" sz="2000" dirty="0"/>
              <a:t>Create a separate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sz="2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css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/>
              <a:t>file, with the CSS code</a:t>
            </a:r>
          </a:p>
          <a:p>
            <a:pPr marL="152400" indent="0">
              <a:buNone/>
            </a:pPr>
            <a:r>
              <a:rPr lang="en-US" sz="2000" dirty="0"/>
              <a:t>	Make sure it’s in the same directory as the HTML file!</a:t>
            </a:r>
          </a:p>
          <a:p>
            <a:pPr marL="42863" indent="0">
              <a:buNone/>
            </a:pPr>
            <a:endParaRPr lang="en-US" sz="2000" dirty="0"/>
          </a:p>
          <a:p>
            <a:pPr marL="42863" indent="0">
              <a:buNone/>
            </a:pPr>
            <a:endParaRPr lang="en-US" sz="2000" dirty="0"/>
          </a:p>
          <a:p>
            <a:pPr marL="152400" indent="0">
              <a:buNone/>
            </a:pPr>
            <a:r>
              <a:rPr lang="en-US" sz="2000" dirty="0"/>
              <a:t>In the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/>
              <a:t>of the HTML file, insert a 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&lt;link&gt;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/>
              <a:t>element: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&lt;link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"stylesheet"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"text/</a:t>
            </a:r>
            <a:r>
              <a:rPr lang="en-US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css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"mystyle.css"</a:t>
            </a:r>
            <a:r>
              <a:rPr lang="en-US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1297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the </a:t>
            </a:r>
            <a:r>
              <a:rPr lang="en-US" cap="none" dirty="0">
                <a:solidFill>
                  <a:schemeClr val="tx2"/>
                </a:solidFill>
                <a:latin typeface="Consolas" panose="020B0609020204030204" pitchFamily="49" charset="0"/>
              </a:rPr>
              <a:t>link</a:t>
            </a:r>
            <a:r>
              <a:rPr lang="en-US" dirty="0"/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1800" dirty="0"/>
              <a:t>Links a variety of external files (CSS, fonts, icons)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52400" indent="0">
              <a:buNone/>
            </a:pPr>
            <a:r>
              <a:rPr lang="en-US" sz="1800" dirty="0"/>
              <a:t>It is a </a:t>
            </a:r>
            <a:r>
              <a:rPr lang="en-US" sz="1800" i="1" dirty="0"/>
              <a:t>self-closing</a:t>
            </a:r>
            <a:r>
              <a:rPr lang="en-US" sz="1800" dirty="0"/>
              <a:t> tag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52400" indent="0">
              <a:buNone/>
            </a:pPr>
            <a:r>
              <a:rPr lang="en-US" sz="1800" dirty="0"/>
              <a:t>It goes within the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&lt;head&gt;&lt;/head&gt;</a:t>
            </a:r>
            <a:r>
              <a:rPr lang="en-US" sz="1800" dirty="0"/>
              <a:t> element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52400" indent="0">
              <a:buNone/>
            </a:pPr>
            <a:endParaRPr lang="en-US" sz="1800" dirty="0"/>
          </a:p>
          <a:p>
            <a:pPr marL="152400" indent="0">
              <a:buNone/>
            </a:pPr>
            <a:r>
              <a:rPr lang="en-US" sz="1800" u="sng" dirty="0"/>
              <a:t>Important attributes: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u="sng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href</a:t>
            </a:r>
            <a:r>
              <a:rPr lang="en-US" sz="1800" dirty="0"/>
              <a:t>: path to the file (either online or local)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u="sng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rel</a:t>
            </a:r>
            <a:r>
              <a:rPr lang="en-US" sz="1800" dirty="0"/>
              <a:t>: determines the relationship type (e.g., “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stylesheet</a:t>
            </a:r>
            <a:r>
              <a:rPr lang="en-US" sz="1800" dirty="0"/>
              <a:t>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sz="1800" dirty="0"/>
              <a:t>: specifies the content type of the file (e.g., “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</a:rPr>
              <a:t>text/</a:t>
            </a:r>
            <a:r>
              <a:rPr lang="en-US" sz="1800" dirty="0" err="1">
                <a:solidFill>
                  <a:schemeClr val="accent1">
                    <a:lumMod val="50000"/>
                  </a:schemeClr>
                </a:solidFill>
              </a:rPr>
              <a:t>css</a:t>
            </a:r>
            <a:r>
              <a:rPr lang="en-US" sz="1800" dirty="0"/>
              <a:t>”)</a:t>
            </a:r>
          </a:p>
          <a:p>
            <a:endParaRPr lang="en-US" dirty="0"/>
          </a:p>
        </p:txBody>
      </p:sp>
      <p:pic>
        <p:nvPicPr>
          <p:cNvPr id="2050" name="Picture 2" descr="Image result for lin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374" y="1186295"/>
            <a:ext cx="2405688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2436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Stylesheet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0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https://glitch.com/edit/#!/remix/oval-shared-wealth</a:t>
            </a:r>
            <a:endParaRPr lang="en-US" sz="2000" b="1" dirty="0">
              <a:solidFill>
                <a:schemeClr val="bg1"/>
              </a:solidFill>
            </a:endParaRPr>
          </a:p>
          <a:p>
            <a:pPr marL="42863" indent="0" algn="ctr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42863" indent="0" algn="ctr">
              <a:buNone/>
            </a:pPr>
            <a:r>
              <a:rPr lang="en-US" sz="2000" b="1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https://stackblitz.com/edit/web-platform-bgy6gtls?file=index.html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493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552</Words>
  <Application>Microsoft Office PowerPoint</Application>
  <PresentationFormat>On-screen Show (16:9)</PresentationFormat>
  <Paragraphs>79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Miriam Libre</vt:lpstr>
      <vt:lpstr>Arial</vt:lpstr>
      <vt:lpstr>Roboto Condensed Light</vt:lpstr>
      <vt:lpstr>Consolas</vt:lpstr>
      <vt:lpstr>Krona One</vt:lpstr>
      <vt:lpstr>Blue Grid Interface &amp; Sticky Notes Company Profile by Slidesgo</vt:lpstr>
      <vt:lpstr>Introduction to CSS</vt:lpstr>
      <vt:lpstr>What is CSS?</vt:lpstr>
      <vt:lpstr>A Webpage with CSS</vt:lpstr>
      <vt:lpstr>A Webpage with CSS</vt:lpstr>
      <vt:lpstr>CSS Example</vt:lpstr>
      <vt:lpstr>External Stylesheets – Why?</vt:lpstr>
      <vt:lpstr>CSS Examples</vt:lpstr>
      <vt:lpstr>External Stylesheets – How?</vt:lpstr>
      <vt:lpstr>More about the link element</vt:lpstr>
      <vt:lpstr>Stylesheet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10</cp:revision>
  <dcterms:modified xsi:type="dcterms:W3CDTF">2026-06-08T18:34:29Z</dcterms:modified>
</cp:coreProperties>
</file>